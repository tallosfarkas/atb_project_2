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lsx" ContentType="application/vnd.openxmlformats-officedocument.spreadsheetml.sheet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ags/tag1.xml" ContentType="application/vnd.openxmlformats-officedocument.presentationml.tags+xml"/>
  <Override PartName="/ppt/notesSlides/notesSlide1.xml" ContentType="application/vnd.openxmlformats-officedocument.presentationml.notesSlide+xml"/>
  <Override PartName="/ppt/tags/tag2.xml" ContentType="application/vnd.openxmlformats-officedocument.presentationml.tags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notesSlides/notesSlide5.xml" ContentType="application/vnd.openxmlformats-officedocument.presentationml.notesSlide+xml"/>
  <Override PartName="/ppt/charts/chart2.xml" ContentType="application/vnd.openxmlformats-officedocument.drawingml.chart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charts/chart3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charts/chart4.xml" ContentType="application/vnd.openxmlformats-officedocument.drawingml.chart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33"/>
  </p:notesMasterIdLst>
  <p:handoutMasterIdLst>
    <p:handoutMasterId r:id="rId34"/>
  </p:handoutMasterIdLst>
  <p:sldIdLst>
    <p:sldId id="3453" r:id="rId5"/>
    <p:sldId id="296" r:id="rId6"/>
    <p:sldId id="3498" r:id="rId7"/>
    <p:sldId id="3679" r:id="rId8"/>
    <p:sldId id="3485" r:id="rId9"/>
    <p:sldId id="3659" r:id="rId10"/>
    <p:sldId id="3617" r:id="rId11"/>
    <p:sldId id="3634" r:id="rId12"/>
    <p:sldId id="3636" r:id="rId13"/>
    <p:sldId id="3508" r:id="rId14"/>
    <p:sldId id="3509" r:id="rId15"/>
    <p:sldId id="3635" r:id="rId16"/>
    <p:sldId id="3680" r:id="rId17"/>
    <p:sldId id="3628" r:id="rId18"/>
    <p:sldId id="3495" r:id="rId19"/>
    <p:sldId id="3507" r:id="rId20"/>
    <p:sldId id="3638" r:id="rId21"/>
    <p:sldId id="3644" r:id="rId22"/>
    <p:sldId id="3645" r:id="rId23"/>
    <p:sldId id="3639" r:id="rId24"/>
    <p:sldId id="3648" r:id="rId25"/>
    <p:sldId id="3649" r:id="rId26"/>
    <p:sldId id="3640" r:id="rId27"/>
    <p:sldId id="3681" r:id="rId28"/>
    <p:sldId id="3641" r:id="rId29"/>
    <p:sldId id="289" r:id="rId30"/>
    <p:sldId id="3682" r:id="rId31"/>
    <p:sldId id="3655" r:id="rId32"/>
  </p:sldIdLst>
  <p:sldSz cx="12192000" cy="6858000"/>
  <p:notesSz cx="6858000" cy="9144000"/>
  <p:defaultTextStyle>
    <a:defPPr>
      <a:defRPr lang="hu-H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247CEB1-A302-9523-ADFF-39FFE3CD20AD}" name="Debs, Zouher" initials="DZ" userId="S::h12318789@s.wu.ac.at::a0a56595-a5d0-47a8-b096-dda49e3e0e70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0A616"/>
    <a:srgbClr val="2C7A2C"/>
    <a:srgbClr val="84AF85"/>
    <a:srgbClr val="0B2B65"/>
    <a:srgbClr val="D9D9D9"/>
    <a:srgbClr val="F8FBFC"/>
    <a:srgbClr val="6B7B99"/>
    <a:srgbClr val="1A5187"/>
    <a:srgbClr val="9BA7C0"/>
    <a:srgbClr val="44546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8621"/>
    <p:restoredTop sz="96271"/>
  </p:normalViewPr>
  <p:slideViewPr>
    <p:cSldViewPr snapToGrid="0">
      <p:cViewPr varScale="1">
        <p:scale>
          <a:sx n="150" d="100"/>
          <a:sy n="150" d="100"/>
        </p:scale>
        <p:origin x="712" y="168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9" Type="http://schemas.microsoft.com/office/2018/10/relationships/authors" Target="authors.xml"/><Relationship Id="rId21" Type="http://schemas.openxmlformats.org/officeDocument/2006/relationships/slide" Target="slides/slide17.xml"/><Relationship Id="rId34" Type="http://schemas.openxmlformats.org/officeDocument/2006/relationships/handoutMaster" Target="handoutMasters/handoutMaster1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notesMaster" Target="notesMasters/notesMaster1.xml"/><Relationship Id="rId38" Type="http://schemas.openxmlformats.org/officeDocument/2006/relationships/tableStyles" Target="tableStyle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slide" Target="slides/slide25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theme" Target="theme/theme1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viewProps" Target="viewProp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slide" Target="slides/slide27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presProps" Target="presProps.xml"/><Relationship Id="rId8" Type="http://schemas.openxmlformats.org/officeDocument/2006/relationships/slide" Target="slides/slide4.xml"/><Relationship Id="rId3" Type="http://schemas.openxmlformats.org/officeDocument/2006/relationships/customXml" Target="../customXml/item3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3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2.xlsx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>
        <c:manualLayout>
          <c:layoutTarget val="inner"/>
          <c:xMode val="edge"/>
          <c:yMode val="edge"/>
          <c:x val="4.4287291191404815E-2"/>
          <c:y val="0.30648628253727844"/>
          <c:w val="0.89592298918242697"/>
          <c:h val="0.53326492089722632"/>
        </c:manualLayout>
      </c:layout>
      <c:barChart>
        <c:barDir val="bar"/>
        <c:grouping val="percentStacked"/>
        <c:varyColors val="0"/>
        <c:ser>
          <c:idx val="0"/>
          <c:order val="0"/>
          <c:tx>
            <c:strRef>
              <c:f>Sheet1!$A$1</c:f>
              <c:strCache>
                <c:ptCount val="1"/>
                <c:pt idx="0">
                  <c:v>Credit Risk SA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val>
            <c:numRef>
              <c:f>Sheet1!$A$2</c:f>
              <c:numCache>
                <c:formatCode>General</c:formatCode>
                <c:ptCount val="1"/>
                <c:pt idx="0">
                  <c:v>12.4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FFE9-A74D-A29E-1245E03822CF}"/>
            </c:ext>
          </c:extLst>
        </c:ser>
        <c:ser>
          <c:idx val="1"/>
          <c:order val="1"/>
          <c:tx>
            <c:strRef>
              <c:f>Sheet1!$B$1</c:f>
              <c:strCache>
                <c:ptCount val="1"/>
                <c:pt idx="0">
                  <c:v>Op. Risk SMA</c:v>
                </c:pt>
              </c:strCache>
            </c:strRef>
          </c:tx>
          <c:spPr>
            <a:solidFill>
              <a:srgbClr val="44546A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val>
            <c:numRef>
              <c:f>Sheet1!$B$2</c:f>
              <c:numCache>
                <c:formatCode>General</c:formatCode>
                <c:ptCount val="1"/>
                <c:pt idx="0">
                  <c:v>4.2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FFE9-A74D-A29E-1245E03822CF}"/>
            </c:ext>
          </c:extLst>
        </c:ser>
        <c:ser>
          <c:idx val="2"/>
          <c:order val="2"/>
          <c:tx>
            <c:strRef>
              <c:f>Sheet1!$C$1</c:f>
              <c:strCache>
                <c:ptCount val="1"/>
                <c:pt idx="0">
                  <c:v>Securitisation</c:v>
                </c:pt>
              </c:strCache>
            </c:strRef>
          </c:tx>
          <c:spPr>
            <a:solidFill>
              <a:srgbClr val="9BA7C0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val>
            <c:numRef>
              <c:f>Sheet1!$C$2</c:f>
              <c:numCache>
                <c:formatCode>General</c:formatCode>
                <c:ptCount val="1"/>
                <c:pt idx="0">
                  <c:v>2.2000000000000002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FFE9-A74D-A29E-1245E03822CF}"/>
            </c:ext>
          </c:extLst>
        </c:ser>
        <c:ser>
          <c:idx val="3"/>
          <c:order val="3"/>
          <c:tx>
            <c:strRef>
              <c:f>Sheet1!$D$1</c:f>
              <c:strCache>
                <c:ptCount val="1"/>
                <c:pt idx="0">
                  <c:v>Credit Slotting</c:v>
                </c:pt>
              </c:strCache>
            </c:strRef>
          </c:tx>
          <c:spPr>
            <a:solidFill>
              <a:srgbClr val="1A5187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val>
            <c:numRef>
              <c:f>Sheet1!$D$2</c:f>
              <c:numCache>
                <c:formatCode>0.0</c:formatCode>
                <c:ptCount val="1"/>
                <c:pt idx="0">
                  <c:v>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5-FFE9-A74D-A29E-1245E03822CF}"/>
            </c:ext>
          </c:extLst>
        </c:ser>
        <c:ser>
          <c:idx val="4"/>
          <c:order val="4"/>
          <c:tx>
            <c:strRef>
              <c:f>Sheet1!$E$1</c:f>
              <c:strCache>
                <c:ptCount val="1"/>
                <c:pt idx="0">
                  <c:v>Credit F-IRB</c:v>
                </c:pt>
              </c:strCache>
            </c:strRef>
          </c:tx>
          <c:spPr>
            <a:solidFill>
              <a:srgbClr val="6B7B99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val>
            <c:numRef>
              <c:f>Sheet1!$E$2</c:f>
              <c:numCache>
                <c:formatCode>General</c:formatCode>
                <c:ptCount val="1"/>
                <c:pt idx="0">
                  <c:v>1.1000000000000001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FFE9-A74D-A29E-1245E03822CF}"/>
            </c:ext>
          </c:extLst>
        </c:ser>
        <c:ser>
          <c:idx val="5"/>
          <c:order val="5"/>
          <c:tx>
            <c:strRef>
              <c:f>Sheet1!$F$1</c:f>
              <c:strCache>
                <c:ptCount val="1"/>
                <c:pt idx="0">
                  <c:v>CCR + CVA</c:v>
                </c:pt>
              </c:strCache>
            </c:strRef>
          </c:tx>
          <c:spPr>
            <a:solidFill>
              <a:srgbClr val="D9D9D9"/>
            </a:solidFill>
            <a:ln>
              <a:noFill/>
            </a:ln>
            <a:effectLst/>
          </c:spPr>
          <c:invertIfNegative val="0"/>
          <c:val>
            <c:numRef>
              <c:f>Sheet1!$F$2</c:f>
              <c:numCache>
                <c:formatCode>General</c:formatCode>
                <c:ptCount val="1"/>
                <c:pt idx="0">
                  <c:v>0.2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7-FFE9-A74D-A29E-1245E03822CF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overlap val="100"/>
        <c:axId val="1526938496"/>
        <c:axId val="1526927744"/>
      </c:barChart>
      <c:catAx>
        <c:axId val="1526938496"/>
        <c:scaling>
          <c:orientation val="minMax"/>
        </c:scaling>
        <c:delete val="1"/>
        <c:axPos val="l"/>
        <c:numFmt formatCode="General" sourceLinked="0"/>
        <c:majorTickMark val="none"/>
        <c:minorTickMark val="none"/>
        <c:tickLblPos val="nextTo"/>
        <c:crossAx val="1526927744"/>
        <c:crosses val="autoZero"/>
        <c:auto val="1"/>
        <c:lblAlgn val="ctr"/>
        <c:lblOffset val="100"/>
        <c:noMultiLvlLbl val="0"/>
      </c:catAx>
      <c:valAx>
        <c:axId val="1526927744"/>
        <c:scaling>
          <c:orientation val="minMax"/>
        </c:scaling>
        <c:delete val="0"/>
        <c:axPos val="b"/>
        <c:numFmt formatCode="0%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526938496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>
        <c:manualLayout>
          <c:layoutTarget val="inner"/>
          <c:xMode val="edge"/>
          <c:yMode val="edge"/>
          <c:x val="0.296996996996997"/>
          <c:y val="9.9999999999999985E-3"/>
          <c:w val="0.57999999999999996"/>
          <c:h val="0.97"/>
        </c:manualLayout>
      </c:layout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Loan Portfolio</c:v>
                </c:pt>
              </c:strCache>
            </c:strRef>
          </c:tx>
          <c:spPr>
            <a:noFill/>
            <a:ln>
              <a:noFill/>
            </a:ln>
          </c:spPr>
          <c:invertIfNegative val="1"/>
          <c:dPt>
            <c:idx val="0"/>
            <c:invertIfNegative val="0"/>
            <c:bubble3D val="0"/>
            <c:spPr>
              <a:solidFill>
                <a:srgbClr val="0B2B65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9-BF19-0D49-A73E-315D5A2F5F99}"/>
              </c:ext>
            </c:extLst>
          </c:dPt>
          <c:dPt>
            <c:idx val="1"/>
            <c:invertIfNegative val="0"/>
            <c:bubble3D val="0"/>
            <c:spPr>
              <a:solidFill>
                <a:srgbClr val="1A5187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7-BF19-0D49-A73E-315D5A2F5F99}"/>
              </c:ext>
            </c:extLst>
          </c:dPt>
          <c:dPt>
            <c:idx val="2"/>
            <c:invertIfNegative val="0"/>
            <c:bubble3D val="0"/>
            <c:spPr>
              <a:solidFill>
                <a:srgbClr val="255C8D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5-BF19-0D49-A73E-315D5A2F5F99}"/>
              </c:ext>
            </c:extLst>
          </c:dPt>
          <c:dPt>
            <c:idx val="3"/>
            <c:invertIfNegative val="0"/>
            <c:bubble3D val="0"/>
            <c:spPr>
              <a:solidFill>
                <a:srgbClr val="4A86B4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3-BF19-0D49-A73E-315D5A2F5F99}"/>
              </c:ext>
            </c:extLst>
          </c:dPt>
          <c:dPt>
            <c:idx val="4"/>
            <c:invertIfNegative val="0"/>
            <c:bubble3D val="0"/>
            <c:spPr>
              <a:solidFill>
                <a:srgbClr val="6BA3C8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1-BF19-0D49-A73E-315D5A2F5F99}"/>
              </c:ext>
            </c:extLst>
          </c:dPt>
          <c:dLbls>
            <c:delete val="1"/>
          </c:dLbls>
          <c:cat>
            <c:strRef>
              <c:f>Sheet1!$A$2:$A$6</c:f>
              <c:strCache>
                <c:ptCount val="5"/>
                <c:pt idx="0">
                  <c:v>Housing Loans</c:v>
                </c:pt>
                <c:pt idx="1">
                  <c:v>Consumer &amp; SME</c:v>
                </c:pt>
                <c:pt idx="2">
                  <c:v>CRE</c:v>
                </c:pt>
                <c:pt idx="3">
                  <c:v>Public Sector</c:v>
                </c:pt>
                <c:pt idx="4">
                  <c:v>Corporates</c:v>
                </c:pt>
              </c:strCache>
            </c:strRef>
          </c:cat>
          <c:val>
            <c:numRef>
              <c:f>Sheet1!$B$2:$B$6</c:f>
              <c:numCache>
                <c:formatCode>0.00</c:formatCode>
                <c:ptCount val="5"/>
                <c:pt idx="0" formatCode="General">
                  <c:v>26.585000000000001</c:v>
                </c:pt>
                <c:pt idx="1">
                  <c:v>12.228</c:v>
                </c:pt>
                <c:pt idx="2">
                  <c:v>5.6870000000000003</c:v>
                </c:pt>
                <c:pt idx="3">
                  <c:v>5.6470000000000002</c:v>
                </c:pt>
                <c:pt idx="4">
                  <c:v>2.71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6836-2B44-B0CA-DB36A9F11C7F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1"/>
        </c:dLbls>
        <c:gapWidth val="70"/>
        <c:axId val="101"/>
        <c:axId val="102"/>
      </c:barChart>
      <c:catAx>
        <c:axId val="101"/>
        <c:scaling>
          <c:orientation val="maxMin"/>
        </c:scaling>
        <c:delete val="0"/>
        <c:axPos val="l"/>
        <c:numFmt formatCode="General" sourceLinked="0"/>
        <c:majorTickMark val="none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lang="en-US" sz="1200" b="0">
                <a:solidFill>
                  <a:srgbClr val="44546A"/>
                </a:solidFill>
              </a:defRPr>
            </a:pPr>
            <a:endParaRPr lang="en-US"/>
          </a:p>
        </c:txPr>
        <c:crossAx val="102"/>
        <c:crosses val="autoZero"/>
        <c:auto val="1"/>
        <c:lblAlgn val="ctr"/>
        <c:lblOffset val="100"/>
        <c:noMultiLvlLbl val="0"/>
      </c:catAx>
      <c:valAx>
        <c:axId val="102"/>
        <c:scaling>
          <c:orientation val="minMax"/>
          <c:max val="30"/>
        </c:scaling>
        <c:delete val="1"/>
        <c:axPos val="t"/>
        <c:numFmt formatCode="General" sourceLinked="1"/>
        <c:majorTickMark val="none"/>
        <c:minorTickMark val="none"/>
        <c:tickLblPos val="none"/>
        <c:crossAx val="101"/>
        <c:crosses val="autoZero"/>
        <c:crossBetween val="between"/>
      </c:valAx>
    </c:plotArea>
    <c:plotVisOnly val="1"/>
    <c:dispBlanksAs val="gap"/>
    <c:showDLblsOverMax val="1"/>
  </c:chart>
  <c:spPr>
    <a:noFill/>
    <a:ln>
      <a:noFill/>
    </a:ln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>
        <c:manualLayout>
          <c:layoutTarget val="inner"/>
          <c:xMode val="edge"/>
          <c:yMode val="edge"/>
          <c:x val="4.4287291191404815E-2"/>
          <c:y val="0.28210941354582753"/>
          <c:w val="0.89592298918242697"/>
          <c:h val="0.48643830734323407"/>
        </c:manualLayout>
      </c:layout>
      <c:barChart>
        <c:barDir val="bar"/>
        <c:grouping val="percentStacked"/>
        <c:varyColors val="0"/>
        <c:ser>
          <c:idx val="0"/>
          <c:order val="0"/>
          <c:tx>
            <c:strRef>
              <c:f>Sheet1!$A$1</c:f>
              <c:strCache>
                <c:ptCount val="1"/>
                <c:pt idx="0">
                  <c:v>Credit Risk SA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val>
            <c:numRef>
              <c:f>Sheet1!$A$2</c:f>
              <c:numCache>
                <c:formatCode>General</c:formatCode>
                <c:ptCount val="1"/>
                <c:pt idx="0">
                  <c:v>12.4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024B-6646-9BF1-C6A3C35ED0CE}"/>
            </c:ext>
          </c:extLst>
        </c:ser>
        <c:ser>
          <c:idx val="1"/>
          <c:order val="1"/>
          <c:tx>
            <c:strRef>
              <c:f>Sheet1!$B$1</c:f>
              <c:strCache>
                <c:ptCount val="1"/>
                <c:pt idx="0">
                  <c:v>Op. Risk SMA</c:v>
                </c:pt>
              </c:strCache>
            </c:strRef>
          </c:tx>
          <c:spPr>
            <a:solidFill>
              <a:srgbClr val="44546A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val>
            <c:numRef>
              <c:f>Sheet1!$B$2</c:f>
              <c:numCache>
                <c:formatCode>General</c:formatCode>
                <c:ptCount val="1"/>
                <c:pt idx="0">
                  <c:v>4.2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024B-6646-9BF1-C6A3C35ED0CE}"/>
            </c:ext>
          </c:extLst>
        </c:ser>
        <c:ser>
          <c:idx val="2"/>
          <c:order val="2"/>
          <c:tx>
            <c:strRef>
              <c:f>Sheet1!$C$1</c:f>
              <c:strCache>
                <c:ptCount val="1"/>
                <c:pt idx="0">
                  <c:v>Securitisation</c:v>
                </c:pt>
              </c:strCache>
            </c:strRef>
          </c:tx>
          <c:spPr>
            <a:solidFill>
              <a:srgbClr val="9BA7C0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val>
            <c:numRef>
              <c:f>Sheet1!$C$2</c:f>
              <c:numCache>
                <c:formatCode>General</c:formatCode>
                <c:ptCount val="1"/>
                <c:pt idx="0">
                  <c:v>2.2000000000000002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024B-6646-9BF1-C6A3C35ED0CE}"/>
            </c:ext>
          </c:extLst>
        </c:ser>
        <c:ser>
          <c:idx val="3"/>
          <c:order val="3"/>
          <c:tx>
            <c:strRef>
              <c:f>Sheet1!$D$1</c:f>
              <c:strCache>
                <c:ptCount val="1"/>
                <c:pt idx="0">
                  <c:v>Credit Slotting</c:v>
                </c:pt>
              </c:strCache>
            </c:strRef>
          </c:tx>
          <c:spPr>
            <a:solidFill>
              <a:srgbClr val="1A5187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val>
            <c:numRef>
              <c:f>Sheet1!$D$2</c:f>
              <c:numCache>
                <c:formatCode>0.0</c:formatCode>
                <c:ptCount val="1"/>
                <c:pt idx="0">
                  <c:v>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024B-6646-9BF1-C6A3C35ED0CE}"/>
            </c:ext>
          </c:extLst>
        </c:ser>
        <c:ser>
          <c:idx val="4"/>
          <c:order val="4"/>
          <c:tx>
            <c:strRef>
              <c:f>Sheet1!$E$1</c:f>
              <c:strCache>
                <c:ptCount val="1"/>
                <c:pt idx="0">
                  <c:v>Credit F-IRB</c:v>
                </c:pt>
              </c:strCache>
            </c:strRef>
          </c:tx>
          <c:spPr>
            <a:solidFill>
              <a:srgbClr val="6B7B99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val>
            <c:numRef>
              <c:f>Sheet1!$E$2</c:f>
              <c:numCache>
                <c:formatCode>General</c:formatCode>
                <c:ptCount val="1"/>
                <c:pt idx="0">
                  <c:v>1.1000000000000001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024B-6646-9BF1-C6A3C35ED0CE}"/>
            </c:ext>
          </c:extLst>
        </c:ser>
        <c:ser>
          <c:idx val="5"/>
          <c:order val="5"/>
          <c:tx>
            <c:strRef>
              <c:f>Sheet1!$F$1</c:f>
              <c:strCache>
                <c:ptCount val="1"/>
                <c:pt idx="0">
                  <c:v>CCR + CVA</c:v>
                </c:pt>
              </c:strCache>
            </c:strRef>
          </c:tx>
          <c:spPr>
            <a:solidFill>
              <a:srgbClr val="D9D9D9"/>
            </a:solidFill>
            <a:ln>
              <a:noFill/>
            </a:ln>
            <a:effectLst/>
          </c:spPr>
          <c:invertIfNegative val="0"/>
          <c:val>
            <c:numRef>
              <c:f>Sheet1!$F$2</c:f>
              <c:numCache>
                <c:formatCode>General</c:formatCode>
                <c:ptCount val="1"/>
                <c:pt idx="0">
                  <c:v>0.2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5-024B-6646-9BF1-C6A3C35ED0CE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overlap val="100"/>
        <c:axId val="1526938496"/>
        <c:axId val="1526927744"/>
      </c:barChart>
      <c:catAx>
        <c:axId val="1526938496"/>
        <c:scaling>
          <c:orientation val="minMax"/>
        </c:scaling>
        <c:delete val="1"/>
        <c:axPos val="l"/>
        <c:numFmt formatCode="General" sourceLinked="0"/>
        <c:majorTickMark val="none"/>
        <c:minorTickMark val="none"/>
        <c:tickLblPos val="nextTo"/>
        <c:crossAx val="1526927744"/>
        <c:crosses val="autoZero"/>
        <c:auto val="1"/>
        <c:lblAlgn val="ctr"/>
        <c:lblOffset val="100"/>
        <c:noMultiLvlLbl val="0"/>
      </c:catAx>
      <c:valAx>
        <c:axId val="1526927744"/>
        <c:scaling>
          <c:orientation val="minMax"/>
        </c:scaling>
        <c:delete val="0"/>
        <c:axPos val="b"/>
        <c:numFmt formatCode="0%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526938496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en-US"/>
  <c:roundedCorners val="0"/>
  <c:style val="2"/>
  <c:chart>
    <c:autoTitleDeleted val="1"/>
    <c:plotArea>
      <c:layout>
        <c:manualLayout>
          <c:layoutTarget val="inner"/>
          <c:xMode val="edge"/>
          <c:yMode val="edge"/>
          <c:x val="0.47268661417322833"/>
          <c:y val="8.3538011695906439E-2"/>
          <c:w val="0.46964671916010498"/>
          <c:h val="0.88429824561403514"/>
        </c:manualLayout>
      </c:layout>
      <c:barChart>
        <c:barDir val="bar"/>
        <c:grouping val="clustered"/>
        <c:varyColors val="0"/>
        <c:ser>
          <c:idx val="0"/>
          <c:order val="0"/>
          <c:invertIfNegative val="0"/>
          <c:dPt>
            <c:idx val="0"/>
            <c:invertIfNegative val="1"/>
            <c:bubble3D val="0"/>
            <c:spPr>
              <a:solidFill>
                <a:srgbClr val="0B2B65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1-A6EA-DA46-B8E8-9C59F73337DF}"/>
              </c:ext>
            </c:extLst>
          </c:dPt>
          <c:dPt>
            <c:idx val="1"/>
            <c:invertIfNegative val="1"/>
            <c:bubble3D val="0"/>
            <c:spPr>
              <a:solidFill>
                <a:srgbClr val="44546A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3-A6EA-DA46-B8E8-9C59F73337DF}"/>
              </c:ext>
            </c:extLst>
          </c:dPt>
          <c:dPt>
            <c:idx val="2"/>
            <c:invertIfNegative val="1"/>
            <c:bubble3D val="0"/>
            <c:spPr>
              <a:solidFill>
                <a:srgbClr val="9BA7C0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5-A6EA-DA46-B8E8-9C59F73337DF}"/>
              </c:ext>
            </c:extLst>
          </c:dPt>
          <c:dPt>
            <c:idx val="3"/>
            <c:invertIfNegative val="1"/>
            <c:bubble3D val="0"/>
            <c:spPr>
              <a:solidFill>
                <a:srgbClr val="1A5187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7-A6EA-DA46-B8E8-9C59F73337DF}"/>
              </c:ext>
            </c:extLst>
          </c:dPt>
          <c:dPt>
            <c:idx val="4"/>
            <c:invertIfNegative val="1"/>
            <c:bubble3D val="0"/>
            <c:spPr>
              <a:solidFill>
                <a:srgbClr val="D9D9D9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9-A6EA-DA46-B8E8-9C59F73337DF}"/>
              </c:ext>
            </c:extLst>
          </c:dPt>
          <c:dLbls>
            <c:numFmt formatCode="0.00&quot;%&quot;" sourceLinked="0"/>
            <c:spPr>
              <a:noFill/>
              <a:ln>
                <a:noFill/>
              </a:ln>
            </c:spPr>
            <c:txPr>
              <a:bodyPr/>
              <a:lstStyle/>
              <a:p>
                <a:pPr>
                  <a:defRPr sz="1000" b="1">
                    <a:solidFill>
                      <a:schemeClr val="tx1"/>
                    </a:solidFill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Lit>
              <c:ptCount val="5"/>
              <c:pt idx="0">
                <c:v>CET1 Ratio: 12.9%_x000d_Reported post-dividend</c:v>
              </c:pt>
              <c:pt idx="1">
                <c:v>Internal Target: 12.5%_x000d_Management floor</c:v>
              </c:pt>
              <c:pt idx="2">
                <c:v>MDA Trigger: 10.23%_x000d_Buffer: +267bps</c:v>
              </c:pt>
              <c:pt idx="3">
                <c:v>Min CET1 + P2R: 7.91%_x000d_Regulatory minimum</c:v>
              </c:pt>
              <c:pt idx="4">
                <c:v>Min CET1 (Pillar 1): 4.50%_x000d_Basel III floor</c:v>
              </c:pt>
            </c:strLit>
          </c:cat>
          <c:val>
            <c:numLit>
              <c:formatCode>General</c:formatCode>
              <c:ptCount val="5"/>
              <c:pt idx="0">
                <c:v>12.9</c:v>
              </c:pt>
              <c:pt idx="1">
                <c:v>12.5</c:v>
              </c:pt>
              <c:pt idx="2">
                <c:v>10.23</c:v>
              </c:pt>
              <c:pt idx="3">
                <c:v>7.91</c:v>
              </c:pt>
              <c:pt idx="4">
                <c:v>4.5</c:v>
              </c:pt>
            </c:numLit>
          </c:val>
          <c:extLst>
            <c:ext xmlns:c16="http://schemas.microsoft.com/office/drawing/2014/chart" uri="{C3380CC4-5D6E-409C-BE32-E72D297353CC}">
              <c16:uniqueId val="{0000000A-A6EA-DA46-B8E8-9C59F73337DF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101"/>
        <c:axId val="102"/>
      </c:barChart>
      <c:catAx>
        <c:axId val="101"/>
        <c:scaling>
          <c:orientation val="maxMin"/>
        </c:scaling>
        <c:delete val="0"/>
        <c:axPos val="l"/>
        <c:numFmt formatCode="General" sourceLinked="0"/>
        <c:majorTickMark val="none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100" b="1">
                <a:solidFill>
                  <a:srgbClr val="0B2B65"/>
                </a:solidFill>
              </a:defRPr>
            </a:pPr>
            <a:endParaRPr lang="en-US"/>
          </a:p>
        </c:txPr>
        <c:crossAx val="102"/>
        <c:crosses val="autoZero"/>
        <c:auto val="1"/>
        <c:lblAlgn val="ctr"/>
        <c:lblOffset val="100"/>
        <c:noMultiLvlLbl val="0"/>
      </c:catAx>
      <c:valAx>
        <c:axId val="102"/>
        <c:scaling>
          <c:orientation val="minMax"/>
          <c:max val="15"/>
          <c:min val="0"/>
        </c:scaling>
        <c:delete val="0"/>
        <c:axPos val="t"/>
        <c:numFmt formatCode="0&quot;%&quot;" sourceLinked="0"/>
        <c:majorTickMark val="none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200">
                <a:solidFill>
                  <a:srgbClr val="44546A"/>
                </a:solidFill>
              </a:defRPr>
            </a:pPr>
            <a:endParaRPr lang="en-US"/>
          </a:p>
        </c:txPr>
        <c:crossAx val="101"/>
        <c:crosses val="autoZero"/>
        <c:crossBetween val="between"/>
        <c:majorUnit val="5"/>
      </c:valAx>
    </c:plotArea>
    <c:plotVisOnly val="1"/>
    <c:dispBlanksAs val="gap"/>
    <c:showDLblsOverMax val="1"/>
  </c:chart>
  <c:spPr>
    <a:noFill/>
    <a:ln>
      <a:noFill/>
    </a:ln>
  </c:spPr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9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9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6A96DC88-90A2-4C9C-9402-4663D4C025A5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hu-HU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1F9EC8A-50EC-45A3-B810-5AE96CB7291B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828AA3E-9629-40AD-8C92-953C091CF8B3}" type="datetimeFigureOut">
              <a:rPr lang="hu-HU" smtClean="0"/>
              <a:t>2026. 04. 22.</a:t>
            </a:fld>
            <a:endParaRPr lang="hu-HU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2F226B3-7CD0-4D50-9EDC-E5E05803FB95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hu-HU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2698AEF-1BC2-4BE3-80F7-CABE69E8AB38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9248504-D590-417E-951D-5AF89501B3D6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1090752428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hu-HU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48D1F3C-C481-4FCB-8E73-2F7BF5DD3209}" type="datetimeFigureOut">
              <a:rPr lang="hu-HU" smtClean="0"/>
              <a:t>2026. 04. 22.</a:t>
            </a:fld>
            <a:endParaRPr lang="hu-HU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hu-HU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hu-H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hu-H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DA3B1D7-79F0-40D6-A314-F8CC7725E1AF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406416554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DA3B1D7-79F0-40D6-A314-F8CC7725E1AF}" type="slidenum">
              <a:rPr lang="hu-HU" smtClean="0"/>
              <a:t>1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345511200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759AF6D-BA0E-4594-94DB-478664329D2A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351098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 dirty="0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DA3B1D7-79F0-40D6-A314-F8CC7725E1AF}" type="slidenum">
              <a:rPr lang="hu-HU" smtClean="0"/>
              <a:t>3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295587287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740BEEB-19BC-459A-7E26-EED64604D7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>
            <a:extLst>
              <a:ext uri="{FF2B5EF4-FFF2-40B4-BE49-F238E27FC236}">
                <a16:creationId xmlns:a16="http://schemas.microsoft.com/office/drawing/2014/main" id="{C8D9EAA4-CAC3-E789-ACC1-F6CB1A4AABA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>
            <a:extLst>
              <a:ext uri="{FF2B5EF4-FFF2-40B4-BE49-F238E27FC236}">
                <a16:creationId xmlns:a16="http://schemas.microsoft.com/office/drawing/2014/main" id="{260E5F08-C47B-A51B-CF3A-CAAAE7AF488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 dirty="0"/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9DF0ED2B-B424-83E3-0512-C3217D1983F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DA3B1D7-79F0-40D6-A314-F8CC7725E1AF}" type="slidenum">
              <a:rPr lang="hu-HU" smtClean="0"/>
              <a:t>4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309513259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FA61BFE-50DF-1BA0-94D1-4BD9A46694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>
            <a:extLst>
              <a:ext uri="{FF2B5EF4-FFF2-40B4-BE49-F238E27FC236}">
                <a16:creationId xmlns:a16="http://schemas.microsoft.com/office/drawing/2014/main" id="{28C63214-4970-DFE8-F84A-015A8227C1C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>
            <a:extLst>
              <a:ext uri="{FF2B5EF4-FFF2-40B4-BE49-F238E27FC236}">
                <a16:creationId xmlns:a16="http://schemas.microsoft.com/office/drawing/2014/main" id="{FADC764F-B1D4-FF37-D774-F468D5BBAD8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 dirty="0"/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8F3C3161-1EE8-D9BC-FF6F-2E0B4E4C788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DA3B1D7-79F0-40D6-A314-F8CC7725E1AF}" type="slidenum">
              <a:rPr lang="hu-HU" smtClean="0"/>
              <a:t>6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97041091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4943785-F92A-B32B-813F-01AE3B0DC3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>
            <a:extLst>
              <a:ext uri="{FF2B5EF4-FFF2-40B4-BE49-F238E27FC236}">
                <a16:creationId xmlns:a16="http://schemas.microsoft.com/office/drawing/2014/main" id="{D0E6AC95-AD65-AB38-4451-162D5AC4CFD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>
            <a:extLst>
              <a:ext uri="{FF2B5EF4-FFF2-40B4-BE49-F238E27FC236}">
                <a16:creationId xmlns:a16="http://schemas.microsoft.com/office/drawing/2014/main" id="{757A1A50-B88A-9740-2D10-D155BEB0169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 dirty="0"/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8BBB57D4-D68A-CA37-9E15-8DAA9131970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DA3B1D7-79F0-40D6-A314-F8CC7725E1AF}" type="slidenum">
              <a:rPr lang="hu-HU" smtClean="0"/>
              <a:t>7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267565929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50A85BB-2CA7-FFE2-FB4A-7F57B75F1D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>
            <a:extLst>
              <a:ext uri="{FF2B5EF4-FFF2-40B4-BE49-F238E27FC236}">
                <a16:creationId xmlns:a16="http://schemas.microsoft.com/office/drawing/2014/main" id="{860A37A6-B846-36EE-CA3A-7A1880C3D8E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>
            <a:extLst>
              <a:ext uri="{FF2B5EF4-FFF2-40B4-BE49-F238E27FC236}">
                <a16:creationId xmlns:a16="http://schemas.microsoft.com/office/drawing/2014/main" id="{0A4EDB7F-51EA-E46F-9543-5C4A481E80A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 dirty="0"/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A0F4EECC-E8D9-88E4-0E1F-9EAEB00DD94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DA3B1D7-79F0-40D6-A314-F8CC7725E1AF}" type="slidenum">
              <a:rPr lang="hu-HU" smtClean="0"/>
              <a:t>9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100297693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3A0B54C-55DC-BBFB-E561-D71A8D6DF7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8D2E42A-B23C-1A0A-F185-6C144FD8188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1FFEE5A-96D1-7186-FC9E-0A07FB7A25A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hu-HU" err="1"/>
              <a:t>Left</a:t>
            </a:r>
            <a:r>
              <a:rPr lang="hu-HU"/>
              <a:t> </a:t>
            </a:r>
            <a:r>
              <a:rPr lang="hu-HU" err="1"/>
              <a:t>side</a:t>
            </a:r>
            <a:r>
              <a:rPr lang="hu-HU"/>
              <a:t>:</a:t>
            </a:r>
          </a:p>
          <a:p>
            <a:r>
              <a:rPr lang="en-GB" b="1"/>
              <a:t>Market developments</a:t>
            </a:r>
          </a:p>
          <a:p>
            <a:r>
              <a:rPr lang="en-GB" b="1"/>
              <a:t>US/software-led momentum became more crowded</a:t>
            </a:r>
            <a:r>
              <a:rPr lang="en-GB"/>
              <a:t>, increasing concentration risk and making broader regional leadership more attractive. Japan was explicitly framed as a way to pivot away from US large-cap “industry momentum” and software-driven AI hype. </a:t>
            </a:r>
          </a:p>
          <a:p>
            <a:r>
              <a:rPr lang="en-GB" b="1"/>
              <a:t>Japan’s domestic backdrop improved</a:t>
            </a:r>
            <a:r>
              <a:rPr lang="en-GB"/>
              <a:t>, with reflation, governance reform and a large </a:t>
            </a:r>
            <a:r>
              <a:rPr lang="en-GB" b="1"/>
              <a:t>JPY 21.3tn</a:t>
            </a:r>
            <a:r>
              <a:rPr lang="en-GB"/>
              <a:t> stimulus package supporting a structural re-rating case. </a:t>
            </a:r>
          </a:p>
          <a:p>
            <a:r>
              <a:rPr lang="en-GB" b="1"/>
              <a:t>Geopolitical fragmentation and central-bank demand kept gold supported</a:t>
            </a:r>
            <a:r>
              <a:rPr lang="en-GB"/>
              <a:t>, while your gold work emphasized a multipolar world and persistent geopolitical risk as structural drivers. </a:t>
            </a:r>
          </a:p>
          <a:p>
            <a:r>
              <a:rPr lang="en-GB" b="1"/>
              <a:t>Energy, oil/gold sensitivity and renewable-infrastructure themes became more relevant</a:t>
            </a:r>
            <a:r>
              <a:rPr lang="en-GB"/>
              <a:t>, with Canada standing out for combined oil and gold beta, and offshore wind supported by a visible tender and backlog pipeline. </a:t>
            </a:r>
          </a:p>
          <a:p>
            <a:r>
              <a:rPr lang="en-GB" b="1"/>
              <a:t>Why they mattered</a:t>
            </a:r>
          </a:p>
          <a:p>
            <a:r>
              <a:rPr lang="en-GB" b="1"/>
              <a:t>Broader leadership reduced the appeal of staying concentrated in earlier US winners</a:t>
            </a:r>
            <a:r>
              <a:rPr lang="en-GB"/>
              <a:t>, supporting diversification into other geographies and themes. Japan was positioned as an institutional-scale alternative with deep, liquid markets and a valuation discount to US peers. </a:t>
            </a:r>
          </a:p>
          <a:p>
            <a:r>
              <a:rPr lang="en-GB" b="1"/>
              <a:t>Japan combined valuation support with policy and industrial catalysts</a:t>
            </a:r>
            <a:r>
              <a:rPr lang="en-GB"/>
              <a:t>, including governance reform, cheap JPY/REER conditions, industrial/robotics exposure and fiscal support. </a:t>
            </a:r>
          </a:p>
          <a:p>
            <a:r>
              <a:rPr lang="en-GB" b="1"/>
              <a:t>Gold miners fit the mandate better than physical gold</a:t>
            </a:r>
            <a:r>
              <a:rPr lang="en-GB"/>
              <a:t>, giving levered gold exposure and diversification, even if they are not a pure crisis hedge. </a:t>
            </a:r>
          </a:p>
          <a:p>
            <a:r>
              <a:rPr lang="en-GB" b="1"/>
              <a:t>Canada and offshore wind added targeted macro/thematic exposure</a:t>
            </a:r>
            <a:r>
              <a:rPr lang="en-GB"/>
              <a:t>, with Canada uniquely exposed to simultaneous oil and gold strength, and </a:t>
            </a:r>
            <a:r>
              <a:rPr lang="en-GB" err="1"/>
              <a:t>Cadeler</a:t>
            </a:r>
            <a:r>
              <a:rPr lang="en-GB"/>
              <a:t> offering a bottleneck play on offshore-wind installation. </a:t>
            </a:r>
          </a:p>
          <a:p>
            <a:r>
              <a:rPr lang="en-GB" b="1"/>
              <a:t>Portfolio implication</a:t>
            </a:r>
          </a:p>
          <a:p>
            <a:r>
              <a:rPr lang="en-GB" b="1"/>
              <a:t>Rotated away from narrow US concentration risk</a:t>
            </a:r>
            <a:r>
              <a:rPr lang="en-GB"/>
              <a:t> toward broader momentum, energy and hard-asset-linked exposures. The transaction history shows moves into global energy, Canada, Japan, wind and single-stock satellites in March 2026. </a:t>
            </a:r>
          </a:p>
          <a:p>
            <a:r>
              <a:rPr lang="en-GB" b="1"/>
              <a:t>Implemented the Japan thesis via both ETF and single stock</a:t>
            </a:r>
            <a:r>
              <a:rPr lang="en-GB"/>
              <a:t>, using a TOPIX ETF plus RS Technologies. </a:t>
            </a:r>
          </a:p>
          <a:p>
            <a:r>
              <a:rPr lang="en-GB" b="1"/>
              <a:t>Used gold miners as an implementable hedge/diversifier</a:t>
            </a:r>
            <a:r>
              <a:rPr lang="en-GB"/>
              <a:t> under PMP constraints. </a:t>
            </a:r>
          </a:p>
          <a:p>
            <a:r>
              <a:rPr lang="en-GB" b="1"/>
              <a:t>Added selective thematic positions</a:t>
            </a:r>
            <a:r>
              <a:rPr lang="en-GB"/>
              <a:t> through the wind ETF, </a:t>
            </a:r>
            <a:r>
              <a:rPr lang="en-GB" err="1"/>
              <a:t>Cadeler</a:t>
            </a:r>
            <a:r>
              <a:rPr lang="en-GB"/>
              <a:t> and Canada as satellite exposures. 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GB" sz="1200">
              <a:solidFill>
                <a:schemeClr val="tx1"/>
              </a:solidFill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ACD8B2F-EEAF-F63C-8FAE-57FDC33E272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DA3B1D7-79F0-40D6-A314-F8CC7725E1AF}" type="slidenum">
              <a:rPr lang="hu-HU" smtClean="0"/>
              <a:t>10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8069386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E95459-4AE2-6885-C485-9101C103F8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598654A-7D43-9208-AC76-F9DDE6B642D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11D2F63-D3D8-EE44-E283-FA42CE65278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hu-HU" err="1"/>
              <a:t>Left</a:t>
            </a:r>
            <a:r>
              <a:rPr lang="hu-HU"/>
              <a:t> </a:t>
            </a:r>
            <a:r>
              <a:rPr lang="hu-HU" err="1"/>
              <a:t>side</a:t>
            </a:r>
            <a:r>
              <a:rPr lang="hu-HU"/>
              <a:t>:</a:t>
            </a:r>
          </a:p>
          <a:p>
            <a:r>
              <a:rPr lang="en-GB" b="1"/>
              <a:t>Market developments</a:t>
            </a:r>
          </a:p>
          <a:p>
            <a:r>
              <a:rPr lang="en-GB" b="1"/>
              <a:t>US/software-led momentum became more crowded</a:t>
            </a:r>
            <a:r>
              <a:rPr lang="en-GB"/>
              <a:t>, increasing concentration risk and making broader regional leadership more attractive. Japan was explicitly framed as a way to pivot away from US large-cap “industry momentum” and software-driven AI hype. </a:t>
            </a:r>
          </a:p>
          <a:p>
            <a:r>
              <a:rPr lang="en-GB" b="1"/>
              <a:t>Japan’s domestic backdrop improved</a:t>
            </a:r>
            <a:r>
              <a:rPr lang="en-GB"/>
              <a:t>, with reflation, governance reform and a large </a:t>
            </a:r>
            <a:r>
              <a:rPr lang="en-GB" b="1"/>
              <a:t>JPY 21.3tn</a:t>
            </a:r>
            <a:r>
              <a:rPr lang="en-GB"/>
              <a:t> stimulus package supporting a structural re-rating case. </a:t>
            </a:r>
          </a:p>
          <a:p>
            <a:r>
              <a:rPr lang="en-GB" b="1"/>
              <a:t>Geopolitical fragmentation and central-bank demand kept gold supported</a:t>
            </a:r>
            <a:r>
              <a:rPr lang="en-GB"/>
              <a:t>, while your gold work emphasized a multipolar world and persistent geopolitical risk as structural drivers. </a:t>
            </a:r>
          </a:p>
          <a:p>
            <a:r>
              <a:rPr lang="en-GB" b="1"/>
              <a:t>Energy, oil/gold sensitivity and renewable-infrastructure themes became more relevant</a:t>
            </a:r>
            <a:r>
              <a:rPr lang="en-GB"/>
              <a:t>, with Canada standing out for combined oil and gold beta, and offshore wind supported by a visible tender and backlog pipeline. </a:t>
            </a:r>
          </a:p>
          <a:p>
            <a:r>
              <a:rPr lang="en-GB" b="1"/>
              <a:t>Why they mattered</a:t>
            </a:r>
          </a:p>
          <a:p>
            <a:r>
              <a:rPr lang="en-GB" b="1"/>
              <a:t>Broader leadership reduced the appeal of staying concentrated in earlier US winners</a:t>
            </a:r>
            <a:r>
              <a:rPr lang="en-GB"/>
              <a:t>, supporting diversification into other geographies and themes. Japan was positioned as an institutional-scale alternative with deep, liquid markets and a valuation discount to US peers. </a:t>
            </a:r>
          </a:p>
          <a:p>
            <a:r>
              <a:rPr lang="en-GB" b="1"/>
              <a:t>Japan combined valuation support with policy and industrial catalysts</a:t>
            </a:r>
            <a:r>
              <a:rPr lang="en-GB"/>
              <a:t>, including governance reform, cheap JPY/REER conditions, industrial/robotics exposure and fiscal support. </a:t>
            </a:r>
          </a:p>
          <a:p>
            <a:r>
              <a:rPr lang="en-GB" b="1"/>
              <a:t>Gold miners fit the mandate better than physical gold</a:t>
            </a:r>
            <a:r>
              <a:rPr lang="en-GB"/>
              <a:t>, giving levered gold exposure and diversification, even if they are not a pure crisis hedge. </a:t>
            </a:r>
          </a:p>
          <a:p>
            <a:r>
              <a:rPr lang="en-GB" b="1"/>
              <a:t>Canada and offshore wind added targeted macro/thematic exposure</a:t>
            </a:r>
            <a:r>
              <a:rPr lang="en-GB"/>
              <a:t>, with Canada uniquely exposed to simultaneous oil and gold strength, and </a:t>
            </a:r>
            <a:r>
              <a:rPr lang="en-GB" err="1"/>
              <a:t>Cadeler</a:t>
            </a:r>
            <a:r>
              <a:rPr lang="en-GB"/>
              <a:t> offering a bottleneck play on offshore-wind installation. </a:t>
            </a:r>
          </a:p>
          <a:p>
            <a:r>
              <a:rPr lang="en-GB" b="1"/>
              <a:t>Portfolio implication</a:t>
            </a:r>
          </a:p>
          <a:p>
            <a:r>
              <a:rPr lang="en-GB" b="1"/>
              <a:t>Rotated away from narrow US concentration risk</a:t>
            </a:r>
            <a:r>
              <a:rPr lang="en-GB"/>
              <a:t> toward broader momentum, energy and hard-asset-linked exposures. The transaction history shows moves into global energy, Canada, Japan, wind and single-stock satellites in March 2026. </a:t>
            </a:r>
          </a:p>
          <a:p>
            <a:r>
              <a:rPr lang="en-GB" b="1"/>
              <a:t>Implemented the Japan thesis via both ETF and single stock</a:t>
            </a:r>
            <a:r>
              <a:rPr lang="en-GB"/>
              <a:t>, using a TOPIX ETF plus RS Technologies. </a:t>
            </a:r>
          </a:p>
          <a:p>
            <a:r>
              <a:rPr lang="en-GB" b="1"/>
              <a:t>Used gold miners as an implementable hedge/diversifier</a:t>
            </a:r>
            <a:r>
              <a:rPr lang="en-GB"/>
              <a:t> under PMP constraints. </a:t>
            </a:r>
          </a:p>
          <a:p>
            <a:r>
              <a:rPr lang="en-GB" b="1"/>
              <a:t>Added selective thematic positions</a:t>
            </a:r>
            <a:r>
              <a:rPr lang="en-GB"/>
              <a:t> through the wind ETF, </a:t>
            </a:r>
            <a:r>
              <a:rPr lang="en-GB" err="1"/>
              <a:t>Cadeler</a:t>
            </a:r>
            <a:r>
              <a:rPr lang="en-GB"/>
              <a:t> and Canada as satellite exposures. 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GB" sz="1200">
              <a:solidFill>
                <a:schemeClr val="tx1"/>
              </a:solidFill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DACDBD1-105B-546F-4D9D-CF7DF9E70E2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DA3B1D7-79F0-40D6-A314-F8CC7725E1AF}" type="slidenum">
              <a:rPr lang="hu-HU" smtClean="0"/>
              <a:t>11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13276155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DC4CF36-4D83-FBD6-1F41-04F8F16E5D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>
            <a:extLst>
              <a:ext uri="{FF2B5EF4-FFF2-40B4-BE49-F238E27FC236}">
                <a16:creationId xmlns:a16="http://schemas.microsoft.com/office/drawing/2014/main" id="{5544E41E-7304-0A01-4D3C-9782F986AD8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>
            <a:extLst>
              <a:ext uri="{FF2B5EF4-FFF2-40B4-BE49-F238E27FC236}">
                <a16:creationId xmlns:a16="http://schemas.microsoft.com/office/drawing/2014/main" id="{B171A1C8-460B-C128-6821-9EEE56BE880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 dirty="0"/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FC68AD19-6BAA-C762-6F2C-04DEA519577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DA3B1D7-79F0-40D6-A314-F8CC7725E1AF}" type="slidenum">
              <a:rPr lang="hu-HU" smtClean="0"/>
              <a:t>13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2617118738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GB" sz="1200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itchFamily="34" charset="0"/>
                <a:cs typeface="Arial" pitchFamily="34" charset="0"/>
              </a:rPr>
              <a:t>Risk Categories Covered: </a:t>
            </a:r>
          </a:p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GB" sz="1200" b="1" dirty="0">
              <a:solidFill>
                <a:srgbClr val="000000"/>
              </a:solidFill>
              <a:latin typeface="Arial" pitchFamily="34" charset="0"/>
              <a:cs typeface="Arial" pitchFamily="34" charset="0"/>
            </a:endParaRPr>
          </a:p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GB" sz="1200" b="1" i="0" u="none" strike="noStrike" cap="none" normalizeH="0" baseline="0" dirty="0">
              <a:ln>
                <a:noFill/>
              </a:ln>
              <a:solidFill>
                <a:srgbClr val="000000"/>
              </a:solidFill>
              <a:effectLst/>
              <a:latin typeface="Arial" pitchFamily="34" charset="0"/>
              <a:cs typeface="Arial" pitchFamily="34" charset="0"/>
            </a:endParaRPr>
          </a:p>
          <a:p>
            <a:pPr marL="285750" marR="0" indent="-28575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lang="en-GB" sz="1200" dirty="0">
                <a:solidFill>
                  <a:srgbClr val="000000"/>
                </a:solidFill>
                <a:latin typeface="Arial" pitchFamily="34" charset="0"/>
                <a:cs typeface="Arial" pitchFamily="34" charset="0"/>
              </a:rPr>
              <a:t>Credit Risk</a:t>
            </a:r>
          </a:p>
          <a:p>
            <a:pPr marL="285750" marR="0" indent="-28575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GB" sz="12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itchFamily="34" charset="0"/>
                <a:cs typeface="Arial" pitchFamily="34" charset="0"/>
              </a:rPr>
              <a:t>Market Risk</a:t>
            </a:r>
          </a:p>
          <a:p>
            <a:pPr marL="285750" marR="0" indent="-28575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lang="en-GB" sz="1200" dirty="0">
                <a:solidFill>
                  <a:srgbClr val="000000"/>
                </a:solidFill>
                <a:latin typeface="Arial" pitchFamily="34" charset="0"/>
                <a:cs typeface="Arial" pitchFamily="34" charset="0"/>
              </a:rPr>
              <a:t>Liquidity Risk</a:t>
            </a:r>
          </a:p>
          <a:p>
            <a:pPr marL="285750" marR="0" indent="-28575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GB" sz="12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itchFamily="34" charset="0"/>
                <a:cs typeface="Arial" pitchFamily="34" charset="0"/>
              </a:rPr>
              <a:t>Non-Financial Risk </a:t>
            </a:r>
          </a:p>
          <a:p>
            <a:pPr marL="285750" marR="0" indent="-28575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lang="en-GB" sz="1200" dirty="0">
                <a:solidFill>
                  <a:srgbClr val="000000"/>
                </a:solidFill>
                <a:latin typeface="Arial" pitchFamily="34" charset="0"/>
                <a:cs typeface="Arial" pitchFamily="34" charset="0"/>
              </a:rPr>
              <a:t>Other Risks</a:t>
            </a:r>
            <a:endParaRPr kumimoji="0" lang="en-GB" sz="1200" b="0" i="0" u="none" strike="noStrike" cap="none" normalizeH="0" baseline="0" dirty="0">
              <a:ln>
                <a:noFill/>
              </a:ln>
              <a:solidFill>
                <a:srgbClr val="000000"/>
              </a:solidFill>
              <a:effectLst/>
              <a:latin typeface="Arial" pitchFamily="34" charset="0"/>
              <a:cs typeface="Arial" pitchFamily="34" charset="0"/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en-GB" sz="1200" dirty="0">
              <a:solidFill>
                <a:schemeClr val="tx1"/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DA3B1D7-79F0-40D6-A314-F8CC7725E1AF}" type="slidenum">
              <a:rPr lang="hu-HU" smtClean="0"/>
              <a:t>15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383360336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85F136-6605-8273-C84F-733F9A8E10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D2EA48E-8AB5-F647-CCBD-C56D48795C3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F8506F3-8C3F-792E-D614-BA3C2044D65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Font typeface="Arial" panose="020B0604020202020204" pitchFamily="34" charset="0"/>
              <a:buNone/>
            </a:pPr>
            <a:endParaRPr lang="en-GB" sz="1200" dirty="0">
              <a:solidFill>
                <a:schemeClr val="tx1"/>
              </a:solidFill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10A8ED7-3F17-21E6-02A7-B985770741C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DA3B1D7-79F0-40D6-A314-F8CC7725E1AF}" type="slidenum">
              <a:rPr lang="hu-HU" smtClean="0"/>
              <a:t>16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3686114429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8D7D1B-6BB1-9D32-9503-1F75541383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>
            <a:extLst>
              <a:ext uri="{FF2B5EF4-FFF2-40B4-BE49-F238E27FC236}">
                <a16:creationId xmlns:a16="http://schemas.microsoft.com/office/drawing/2014/main" id="{9D08767D-A961-73CC-EAC3-77B5AA7E214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>
            <a:extLst>
              <a:ext uri="{FF2B5EF4-FFF2-40B4-BE49-F238E27FC236}">
                <a16:creationId xmlns:a16="http://schemas.microsoft.com/office/drawing/2014/main" id="{73D9478B-E2B9-29ED-094C-F993FB85122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 dirty="0"/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8BEC1D30-3198-7B98-D7C5-C79A3DB3962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DA3B1D7-79F0-40D6-A314-F8CC7725E1AF}" type="slidenum">
              <a:rPr lang="hu-HU" smtClean="0"/>
              <a:t>18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38558353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FE2B623-FA23-BCEF-BC2B-8D39FCC6F1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>
            <a:extLst>
              <a:ext uri="{FF2B5EF4-FFF2-40B4-BE49-F238E27FC236}">
                <a16:creationId xmlns:a16="http://schemas.microsoft.com/office/drawing/2014/main" id="{2F710A5C-0996-DF74-C141-DAA32D66B98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>
            <a:extLst>
              <a:ext uri="{FF2B5EF4-FFF2-40B4-BE49-F238E27FC236}">
                <a16:creationId xmlns:a16="http://schemas.microsoft.com/office/drawing/2014/main" id="{3468924E-BA32-4181-65ED-E49ECD3AA5F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 dirty="0"/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40BE4B98-B1E5-416B-8FA2-0E3110BAE5E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DA3B1D7-79F0-40D6-A314-F8CC7725E1AF}" type="slidenum">
              <a:rPr lang="hu-HU" smtClean="0"/>
              <a:t>19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3695547840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83BAFD3-7A5D-8071-8A63-1FCEEBF32D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>
            <a:extLst>
              <a:ext uri="{FF2B5EF4-FFF2-40B4-BE49-F238E27FC236}">
                <a16:creationId xmlns:a16="http://schemas.microsoft.com/office/drawing/2014/main" id="{E9AE9917-B61E-6D74-51EE-8B8409222C0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>
            <a:extLst>
              <a:ext uri="{FF2B5EF4-FFF2-40B4-BE49-F238E27FC236}">
                <a16:creationId xmlns:a16="http://schemas.microsoft.com/office/drawing/2014/main" id="{1DCD8060-E976-AA6A-5F3E-3908AAF3D03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 dirty="0"/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1D373294-862D-4A1A-6479-089F93D6D7F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DA3B1D7-79F0-40D6-A314-F8CC7725E1AF}" type="slidenum">
              <a:rPr lang="hu-HU" smtClean="0"/>
              <a:t>21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3948387893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248057B-90CA-4143-C5C0-BB718B1509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>
            <a:extLst>
              <a:ext uri="{FF2B5EF4-FFF2-40B4-BE49-F238E27FC236}">
                <a16:creationId xmlns:a16="http://schemas.microsoft.com/office/drawing/2014/main" id="{2D1E635B-FBDF-74BA-99EB-4E682B62FE3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>
            <a:extLst>
              <a:ext uri="{FF2B5EF4-FFF2-40B4-BE49-F238E27FC236}">
                <a16:creationId xmlns:a16="http://schemas.microsoft.com/office/drawing/2014/main" id="{CAF3353C-7CA0-D0F9-6940-A856F5692A3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 dirty="0"/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309A168D-4EEE-7C0B-4A98-4AF8D8122C6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DA3B1D7-79F0-40D6-A314-F8CC7725E1AF}" type="slidenum">
              <a:rPr lang="hu-HU" smtClean="0"/>
              <a:t>22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1924757050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8">
          <a:extLst>
            <a:ext uri="{FF2B5EF4-FFF2-40B4-BE49-F238E27FC236}">
              <a16:creationId xmlns:a16="http://schemas.microsoft.com/office/drawing/2014/main" id="{78499EC5-7F69-3A0E-B5AC-DEB5B14B1D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g2a1c642cfc8_0_10:notes">
            <a:extLst>
              <a:ext uri="{FF2B5EF4-FFF2-40B4-BE49-F238E27FC236}">
                <a16:creationId xmlns:a16="http://schemas.microsoft.com/office/drawing/2014/main" id="{E31CC67D-A528-A2C4-D91B-9CED65C37B1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0" name="Google Shape;110;g2a1c642cfc8_0_10:notes">
            <a:extLst>
              <a:ext uri="{FF2B5EF4-FFF2-40B4-BE49-F238E27FC236}">
                <a16:creationId xmlns:a16="http://schemas.microsoft.com/office/drawing/2014/main" id="{D5B155EA-6444-0D13-4E9E-7FA27A4E63F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87670023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8">
          <a:extLst>
            <a:ext uri="{FF2B5EF4-FFF2-40B4-BE49-F238E27FC236}">
              <a16:creationId xmlns:a16="http://schemas.microsoft.com/office/drawing/2014/main" id="{A9449573-113A-1A85-8D44-7E94E94DF8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g2a1c642cfc8_0_10:notes">
            <a:extLst>
              <a:ext uri="{FF2B5EF4-FFF2-40B4-BE49-F238E27FC236}">
                <a16:creationId xmlns:a16="http://schemas.microsoft.com/office/drawing/2014/main" id="{C774F1E6-9DD9-98B3-24ED-F170B8A6F50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0" name="Google Shape;110;g2a1c642cfc8_0_10:notes">
            <a:extLst>
              <a:ext uri="{FF2B5EF4-FFF2-40B4-BE49-F238E27FC236}">
                <a16:creationId xmlns:a16="http://schemas.microsoft.com/office/drawing/2014/main" id="{B9C51392-AC42-3125-A8DF-80AD0BE4993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47818045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8">
          <a:extLst>
            <a:ext uri="{FF2B5EF4-FFF2-40B4-BE49-F238E27FC236}">
              <a16:creationId xmlns:a16="http://schemas.microsoft.com/office/drawing/2014/main" id="{458EEEEB-48AA-6B09-B6AC-CA4390500C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g2a1c642cfc8_0_10:notes">
            <a:extLst>
              <a:ext uri="{FF2B5EF4-FFF2-40B4-BE49-F238E27FC236}">
                <a16:creationId xmlns:a16="http://schemas.microsoft.com/office/drawing/2014/main" id="{7B13A466-0486-4636-90FC-9EC31CE8EC4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0" name="Google Shape;110;g2a1c642cfc8_0_10:notes">
            <a:extLst>
              <a:ext uri="{FF2B5EF4-FFF2-40B4-BE49-F238E27FC236}">
                <a16:creationId xmlns:a16="http://schemas.microsoft.com/office/drawing/2014/main" id="{B42FB54A-542E-6022-9112-268158F6369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62625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oogle Shape;125;p28" descr="A picture containing background pattern&#10;&#10;Description automatically generated">
            <a:extLst>
              <a:ext uri="{FF2B5EF4-FFF2-40B4-BE49-F238E27FC236}">
                <a16:creationId xmlns:a16="http://schemas.microsoft.com/office/drawing/2014/main" id="{9537FE69-E171-82B5-DC66-477DC24D28E6}"/>
              </a:ext>
            </a:extLst>
          </p:cNvPr>
          <p:cNvPicPr preferRelativeResize="0"/>
          <p:nvPr userDrawn="1"/>
        </p:nvPicPr>
        <p:blipFill rotWithShape="1">
          <a:blip r:embed="rId2">
            <a:alphaModFix/>
          </a:blip>
          <a:srcRect/>
          <a:stretch/>
        </p:blipFill>
        <p:spPr>
          <a:xfrm>
            <a:off x="11422380" y="96277"/>
            <a:ext cx="540000" cy="415562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07812767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Szövegdoboz 8">
            <a:extLst>
              <a:ext uri="{FF2B5EF4-FFF2-40B4-BE49-F238E27FC236}">
                <a16:creationId xmlns:a16="http://schemas.microsoft.com/office/drawing/2014/main" id="{460B4F66-13A1-4B13-BA18-A9C50AD9585F}"/>
              </a:ext>
            </a:extLst>
          </p:cNvPr>
          <p:cNvSpPr txBox="1"/>
          <p:nvPr userDrawn="1"/>
        </p:nvSpPr>
        <p:spPr>
          <a:xfrm>
            <a:off x="11422380" y="6517910"/>
            <a:ext cx="61722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fld id="{3C193CD2-EB5E-4946-8C5C-F7B26690B716}" type="slidenum">
              <a:rPr lang="hu-HU" sz="1200" b="1" smtClean="0">
                <a:solidFill>
                  <a:schemeClr val="bg1">
                    <a:lumMod val="65000"/>
                  </a:schemeClr>
                </a:solidFill>
                <a:latin typeface="+mj-lt"/>
              </a:rPr>
              <a:pPr algn="r"/>
              <a:t>‹#›</a:t>
            </a:fld>
            <a:endParaRPr lang="hu-HU" sz="1200" b="1">
              <a:solidFill>
                <a:schemeClr val="bg1">
                  <a:lumMod val="65000"/>
                </a:schemeClr>
              </a:solidFill>
              <a:latin typeface="+mj-lt"/>
            </a:endParaRPr>
          </a:p>
        </p:txBody>
      </p:sp>
      <p:sp>
        <p:nvSpPr>
          <p:cNvPr id="18" name="Szöveg helye 2">
            <a:extLst>
              <a:ext uri="{FF2B5EF4-FFF2-40B4-BE49-F238E27FC236}">
                <a16:creationId xmlns:a16="http://schemas.microsoft.com/office/drawing/2014/main" id="{7A2B6DAA-3D2E-4851-803C-B1FAE19AE4B0}"/>
              </a:ext>
            </a:extLst>
          </p:cNvPr>
          <p:cNvSpPr>
            <a:spLocks noGrp="1"/>
          </p:cNvSpPr>
          <p:nvPr userDrawn="1">
            <p:ph type="body" sz="quarter" idx="13" hasCustomPrompt="1"/>
          </p:nvPr>
        </p:nvSpPr>
        <p:spPr>
          <a:xfrm>
            <a:off x="126814" y="96277"/>
            <a:ext cx="11218220" cy="441417"/>
          </a:xfrm>
          <a:prstGeom prst="rect">
            <a:avLst/>
          </a:prstGeom>
          <a:solidFill>
            <a:schemeClr val="accent4"/>
          </a:solidFill>
        </p:spPr>
        <p:txBody>
          <a:bodyPr anchor="ctr"/>
          <a:lstStyle>
            <a:lvl1pPr marL="0" indent="0" algn="ctr">
              <a:buNone/>
              <a:defRPr lang="en-GB" sz="1800"/>
            </a:lvl1pPr>
          </a:lstStyle>
          <a:p>
            <a:pPr marL="228600" lvl="0" indent="-228600">
              <a:lnSpc>
                <a:spcPct val="100000"/>
              </a:lnSpc>
              <a:spcBef>
                <a:spcPts val="0"/>
              </a:spcBef>
            </a:pPr>
            <a:r>
              <a:rPr lang="en-GB"/>
              <a:t>Action title</a:t>
            </a:r>
          </a:p>
        </p:txBody>
      </p:sp>
      <p:pic>
        <p:nvPicPr>
          <p:cNvPr id="3" name="Google Shape;125;p28" descr="A picture containing background pattern&#10;&#10;Description automatically generated">
            <a:extLst>
              <a:ext uri="{FF2B5EF4-FFF2-40B4-BE49-F238E27FC236}">
                <a16:creationId xmlns:a16="http://schemas.microsoft.com/office/drawing/2014/main" id="{910648F3-FB8E-D9F3-3FE7-7042347B3A9C}"/>
              </a:ext>
            </a:extLst>
          </p:cNvPr>
          <p:cNvPicPr preferRelativeResize="0"/>
          <p:nvPr userDrawn="1"/>
        </p:nvPicPr>
        <p:blipFill rotWithShape="1">
          <a:blip r:embed="rId2">
            <a:alphaModFix/>
          </a:blip>
          <a:srcRect/>
          <a:stretch/>
        </p:blipFill>
        <p:spPr>
          <a:xfrm>
            <a:off x="11422380" y="96277"/>
            <a:ext cx="540000" cy="415562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71524459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, Breadcrumb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694944"/>
            <a:ext cx="10363200" cy="594360"/>
          </a:xfrm>
        </p:spPr>
        <p:txBody>
          <a:bodyPr vert="horz" lIns="0" tIns="45720" rIns="0" bIns="0" rtlCol="0" anchor="b" anchorCtr="0">
            <a:noAutofit/>
          </a:bodyPr>
          <a:lstStyle>
            <a:lvl1pPr>
              <a:defRPr lang="en-US" sz="3600" b="0" spc="-75" dirty="0">
                <a:latin typeface="+mj-lt"/>
              </a:defRPr>
            </a:lvl1pPr>
          </a:lstStyle>
          <a:p>
            <a:pPr lvl="0" defTabSz="685800">
              <a:lnSpc>
                <a:spcPct val="85000"/>
              </a:lnSpc>
            </a:pPr>
            <a:r>
              <a:rPr lang="en-US"/>
              <a:t>Click to edit Master title style</a:t>
            </a:r>
          </a:p>
        </p:txBody>
      </p:sp>
      <p:sp>
        <p:nvSpPr>
          <p:cNvPr id="3" name="Text Placeholder 5">
            <a:extLst>
              <a:ext uri="{FF2B5EF4-FFF2-40B4-BE49-F238E27FC236}">
                <a16:creationId xmlns:a16="http://schemas.microsoft.com/office/drawing/2014/main" id="{FD545910-EC58-4E59-AC9B-9F096DAB3584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914971" y="466344"/>
            <a:ext cx="3355848" cy="203200"/>
          </a:xfrm>
        </p:spPr>
        <p:txBody>
          <a:bodyPr vert="horz" lIns="0" tIns="0" rIns="0" bIns="0" rtlCol="0">
            <a:noAutofit/>
          </a:bodyPr>
          <a:lstStyle>
            <a:lvl1pPr marL="0" indent="0">
              <a:buNone/>
              <a:defRPr lang="en-US" sz="900" b="1" kern="0" cap="all" spc="250" baseline="0" dirty="0">
                <a:solidFill>
                  <a:schemeClr val="accent5">
                    <a:lumMod val="60000"/>
                    <a:lumOff val="40000"/>
                  </a:schemeClr>
                </a:solidFill>
                <a:ea typeface="Nexa Black" charset="0"/>
                <a:cs typeface="Nexa Black" charset="0"/>
              </a:defRPr>
            </a:lvl1pPr>
          </a:lstStyle>
          <a:p>
            <a:pPr marL="228600" lvl="0" indent="-228600"/>
            <a:r>
              <a:rPr lang="en-US"/>
              <a:t>BREADCRUMBS</a:t>
            </a:r>
          </a:p>
        </p:txBody>
      </p:sp>
    </p:spTree>
    <p:extLst>
      <p:ext uri="{BB962C8B-B14F-4D97-AF65-F5344CB8AC3E}">
        <p14:creationId xmlns:p14="http://schemas.microsoft.com/office/powerpoint/2010/main" val="65220875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79806292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5" r:id="rId1"/>
    <p:sldLayoutId id="2147483664" r:id="rId2"/>
    <p:sldLayoutId id="2147483666" r:id="rId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hu-H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1.xml"/><Relationship Id="rId6" Type="http://schemas.openxmlformats.org/officeDocument/2006/relationships/image" Target="../media/image3.jpeg"/><Relationship Id="rId5" Type="http://schemas.openxmlformats.org/officeDocument/2006/relationships/image" Target="../media/image2.emf"/><Relationship Id="rId4" Type="http://schemas.openxmlformats.org/officeDocument/2006/relationships/oleObject" Target="../embeddings/oleObject1.bin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3.xml"/><Relationship Id="rId1" Type="http://schemas.openxmlformats.org/officeDocument/2006/relationships/tags" Target="../tags/tag2.xml"/><Relationship Id="rId5" Type="http://schemas.openxmlformats.org/officeDocument/2006/relationships/image" Target="../media/image4.emf"/><Relationship Id="rId4" Type="http://schemas.openxmlformats.org/officeDocument/2006/relationships/oleObject" Target="../embeddings/oleObject2.bin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chart" Target="../charts/chart3.xm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chart" Target="../charts/chart4.xml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7.svg"/><Relationship Id="rId4" Type="http://schemas.openxmlformats.org/officeDocument/2006/relationships/image" Target="../media/image6.sv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7.svg"/><Relationship Id="rId4" Type="http://schemas.openxmlformats.org/officeDocument/2006/relationships/image" Target="../media/image8.svg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hink-cell data - do not delete" hidden="1">
            <a:extLst>
              <a:ext uri="{FF2B5EF4-FFF2-40B4-BE49-F238E27FC236}">
                <a16:creationId xmlns:a16="http://schemas.microsoft.com/office/drawing/2014/main" id="{45253FCC-2E01-4F35-B307-5DAC72427A86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425" imgH="426" progId="TCLayout.ActiveDocument.1">
                  <p:embed/>
                </p:oleObj>
              </mc:Choice>
              <mc:Fallback>
                <p:oleObj name="think-cell Slide" r:id="rId4" imgW="425" imgH="426" progId="TCLayout.ActiveDocument.1">
                  <p:embed/>
                  <p:pic>
                    <p:nvPicPr>
                      <p:cNvPr id="2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45253FCC-2E01-4F35-B307-5DAC72427A86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5" name="Picture 4" descr="A building with a triangular shape&#10;&#10;AI-generated content may be incorrect.">
            <a:extLst>
              <a:ext uri="{FF2B5EF4-FFF2-40B4-BE49-F238E27FC236}">
                <a16:creationId xmlns:a16="http://schemas.microsoft.com/office/drawing/2014/main" id="{3A61BD6E-F79D-5C18-17D1-013CE4C7FD0F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7802" b="780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Flowchart: Manual Operation 4">
            <a:extLst>
              <a:ext uri="{FF2B5EF4-FFF2-40B4-BE49-F238E27FC236}">
                <a16:creationId xmlns:a16="http://schemas.microsoft.com/office/drawing/2014/main" id="{CA024204-94AF-6347-A915-53567D9CE7D8}"/>
              </a:ext>
            </a:extLst>
          </p:cNvPr>
          <p:cNvSpPr/>
          <p:nvPr/>
        </p:nvSpPr>
        <p:spPr>
          <a:xfrm rot="11297026">
            <a:off x="-1193275" y="-957270"/>
            <a:ext cx="7485034" cy="4300617"/>
          </a:xfrm>
          <a:prstGeom prst="flowChartManualOperation">
            <a:avLst/>
          </a:prstGeom>
          <a:solidFill>
            <a:srgbClr val="0A2B65">
              <a:alpha val="51000"/>
            </a:srgb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Flowchart: Manual Operation 5">
            <a:extLst>
              <a:ext uri="{FF2B5EF4-FFF2-40B4-BE49-F238E27FC236}">
                <a16:creationId xmlns:a16="http://schemas.microsoft.com/office/drawing/2014/main" id="{F0DC8F19-0213-1E44-991F-A7C5AF1821E9}"/>
              </a:ext>
            </a:extLst>
          </p:cNvPr>
          <p:cNvSpPr/>
          <p:nvPr/>
        </p:nvSpPr>
        <p:spPr>
          <a:xfrm rot="9995555">
            <a:off x="-1005951" y="-602915"/>
            <a:ext cx="7110385" cy="4300617"/>
          </a:xfrm>
          <a:prstGeom prst="flowChartManualOperation">
            <a:avLst/>
          </a:prstGeom>
          <a:solidFill>
            <a:srgbClr val="0A2B65">
              <a:alpha val="51000"/>
            </a:srgb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E75E8FBC-CB8F-F644-BD07-D00960F74B91}"/>
              </a:ext>
            </a:extLst>
          </p:cNvPr>
          <p:cNvSpPr txBox="1"/>
          <p:nvPr/>
        </p:nvSpPr>
        <p:spPr>
          <a:xfrm>
            <a:off x="10027" y="137520"/>
            <a:ext cx="5078431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 dirty="0">
                <a:solidFill>
                  <a:schemeClr val="bg1">
                    <a:lumMod val="95000"/>
                  </a:schemeClr>
                </a:solidFill>
              </a:rPr>
              <a:t>Advanced Topics in Banking – Project 1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68C847F1-C061-9F8F-8957-8C370FCD826E}"/>
              </a:ext>
            </a:extLst>
          </p:cNvPr>
          <p:cNvSpPr/>
          <p:nvPr/>
        </p:nvSpPr>
        <p:spPr>
          <a:xfrm>
            <a:off x="8458" y="2046514"/>
            <a:ext cx="4767943" cy="57673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rPr lang="en-US" sz="1600" b="0" i="1" u="none" strike="noStrike" cap="none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Caterina Piacentini, Farkas Tallos, Balazs </a:t>
            </a:r>
            <a:r>
              <a:rPr lang="en-US" sz="1600" b="0" i="1" u="none" strike="noStrike" cap="none" dirty="0" err="1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Limpek</a:t>
            </a:r>
            <a:endParaRPr lang="en-US" sz="1600" b="0" i="1" u="none" strike="noStrike" cap="none" dirty="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33FA8A8C-B2B6-15EA-61C7-037D23F09755}"/>
              </a:ext>
            </a:extLst>
          </p:cNvPr>
          <p:cNvSpPr/>
          <p:nvPr/>
        </p:nvSpPr>
        <p:spPr>
          <a:xfrm>
            <a:off x="8457" y="1399794"/>
            <a:ext cx="4767943" cy="57673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rPr lang="en-US" sz="2400" b="1" dirty="0">
                <a:latin typeface="Calibri"/>
                <a:ea typeface="Calibri"/>
                <a:cs typeface="Calibri"/>
                <a:sym typeface="Calibri"/>
              </a:rPr>
              <a:t>26</a:t>
            </a:r>
            <a:r>
              <a:rPr lang="en-US" sz="2400" b="1" u="none" strike="noStrike" cap="none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.04.2026</a:t>
            </a:r>
          </a:p>
        </p:txBody>
      </p:sp>
    </p:spTree>
    <p:extLst>
      <p:ext uri="{BB962C8B-B14F-4D97-AF65-F5344CB8AC3E}">
        <p14:creationId xmlns:p14="http://schemas.microsoft.com/office/powerpoint/2010/main" val="167221021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4552"/>
    </mc:Choice>
    <mc:Fallback xmlns="">
      <p:transition spd="slow" advTm="14552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Object 5" hidden="1">
            <a:extLst>
              <a:ext uri="{FF2B5EF4-FFF2-40B4-BE49-F238E27FC236}">
                <a16:creationId xmlns:a16="http://schemas.microsoft.com/office/drawing/2014/main" id="{84785FDF-B953-4139-AB2D-2973F144F914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395" imgH="396" progId="TCLayout.ActiveDocument.1">
                  <p:embed/>
                </p:oleObj>
              </mc:Choice>
              <mc:Fallback>
                <p:oleObj name="think-cell Slide" r:id="rId4" imgW="395" imgH="396" progId="TCLayout.ActiveDocument.1">
                  <p:embed/>
                  <p:pic>
                    <p:nvPicPr>
                      <p:cNvPr id="6" name="Object 5" hidden="1">
                        <a:extLst>
                          <a:ext uri="{FF2B5EF4-FFF2-40B4-BE49-F238E27FC236}">
                            <a16:creationId xmlns:a16="http://schemas.microsoft.com/office/drawing/2014/main" id="{84785FDF-B953-4139-AB2D-2973F144F914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Rectangle 6">
            <a:extLst>
              <a:ext uri="{FF2B5EF4-FFF2-40B4-BE49-F238E27FC236}">
                <a16:creationId xmlns:a16="http://schemas.microsoft.com/office/drawing/2014/main" id="{BF8651E3-1C12-42EF-900E-7FD32E26282C}"/>
              </a:ext>
            </a:extLst>
          </p:cNvPr>
          <p:cNvSpPr/>
          <p:nvPr/>
        </p:nvSpPr>
        <p:spPr>
          <a:xfrm>
            <a:off x="169682" y="197962"/>
            <a:ext cx="4551174" cy="6523349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+mj-lt"/>
            </a:endParaRPr>
          </a:p>
        </p:txBody>
      </p:sp>
      <p:sp>
        <p:nvSpPr>
          <p:cNvPr id="5" name="Title 2">
            <a:extLst>
              <a:ext uri="{FF2B5EF4-FFF2-40B4-BE49-F238E27FC236}">
                <a16:creationId xmlns:a16="http://schemas.microsoft.com/office/drawing/2014/main" id="{13E941A6-7602-4A3E-A028-A0A8E6585B12}"/>
              </a:ext>
            </a:extLst>
          </p:cNvPr>
          <p:cNvSpPr txBox="1">
            <a:spLocks/>
          </p:cNvSpPr>
          <p:nvPr/>
        </p:nvSpPr>
        <p:spPr>
          <a:xfrm>
            <a:off x="495593" y="2069466"/>
            <a:ext cx="2598481" cy="623396"/>
          </a:xfrm>
          <a:prstGeom prst="rect">
            <a:avLst/>
          </a:prstGeom>
        </p:spPr>
        <p:txBody>
          <a:bodyPr lIns="0" tIns="0" rIns="0" bIns="0" anchor="t"/>
          <a:lstStyle>
            <a:lvl1pPr algn="l" defTabSz="1219170" rtl="0" eaLnBrk="1" latinLnBrk="0" hangingPunct="1">
              <a:spcBef>
                <a:spcPct val="0"/>
              </a:spcBef>
              <a:buNone/>
              <a:defRPr sz="48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121917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800" b="1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ea typeface="+mj-ea"/>
                <a:cs typeface="+mj-cs"/>
              </a:rPr>
              <a:t>Agenda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64C169E0-D508-479B-A3AF-2B717F90543D}"/>
              </a:ext>
            </a:extLst>
          </p:cNvPr>
          <p:cNvSpPr/>
          <p:nvPr/>
        </p:nvSpPr>
        <p:spPr>
          <a:xfrm>
            <a:off x="612740" y="1880365"/>
            <a:ext cx="763573" cy="70983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+mj-lt"/>
            </a:endParaRPr>
          </a:p>
        </p:txBody>
      </p:sp>
      <p:grpSp>
        <p:nvGrpSpPr>
          <p:cNvPr id="44" name="Group 43">
            <a:extLst>
              <a:ext uri="{FF2B5EF4-FFF2-40B4-BE49-F238E27FC236}">
                <a16:creationId xmlns:a16="http://schemas.microsoft.com/office/drawing/2014/main" id="{2158287F-4A87-32E9-7245-AC3DA7C8FDEC}"/>
              </a:ext>
            </a:extLst>
          </p:cNvPr>
          <p:cNvGrpSpPr/>
          <p:nvPr/>
        </p:nvGrpSpPr>
        <p:grpSpPr>
          <a:xfrm>
            <a:off x="5163914" y="220291"/>
            <a:ext cx="557784" cy="548640"/>
            <a:chOff x="5163914" y="220291"/>
            <a:chExt cx="557784" cy="548640"/>
          </a:xfrm>
        </p:grpSpPr>
        <p:sp>
          <p:nvSpPr>
            <p:cNvPr id="29" name="Oval 28">
              <a:extLst>
                <a:ext uri="{FF2B5EF4-FFF2-40B4-BE49-F238E27FC236}">
                  <a16:creationId xmlns:a16="http://schemas.microsoft.com/office/drawing/2014/main" id="{0C6BDF50-7426-183A-1915-694FAF6C2B0A}"/>
                </a:ext>
              </a:extLst>
            </p:cNvPr>
            <p:cNvSpPr/>
            <p:nvPr/>
          </p:nvSpPr>
          <p:spPr>
            <a:xfrm>
              <a:off x="5163914" y="220291"/>
              <a:ext cx="557784" cy="548640"/>
            </a:xfrm>
            <a:prstGeom prst="ellipse">
              <a:avLst/>
            </a:prstGeom>
            <a:noFill/>
            <a:ln w="28575">
              <a:solidFill>
                <a:schemeClr val="accent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1" name="Rectangle 40">
              <a:extLst>
                <a:ext uri="{FF2B5EF4-FFF2-40B4-BE49-F238E27FC236}">
                  <a16:creationId xmlns:a16="http://schemas.microsoft.com/office/drawing/2014/main" id="{42A12E38-066B-265B-A0AC-EB5B9B493A3E}"/>
                </a:ext>
              </a:extLst>
            </p:cNvPr>
            <p:cNvSpPr/>
            <p:nvPr/>
          </p:nvSpPr>
          <p:spPr>
            <a:xfrm>
              <a:off x="5214206" y="273903"/>
              <a:ext cx="457200" cy="441417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1</a:t>
              </a:r>
            </a:p>
          </p:txBody>
        </p:sp>
      </p:grpSp>
      <p:sp>
        <p:nvSpPr>
          <p:cNvPr id="42" name="Rectangle 41">
            <a:extLst>
              <a:ext uri="{FF2B5EF4-FFF2-40B4-BE49-F238E27FC236}">
                <a16:creationId xmlns:a16="http://schemas.microsoft.com/office/drawing/2014/main" id="{CAA3A024-B3C7-5DCB-F4B0-D3884AC4FE76}"/>
              </a:ext>
            </a:extLst>
          </p:cNvPr>
          <p:cNvSpPr/>
          <p:nvPr/>
        </p:nvSpPr>
        <p:spPr>
          <a:xfrm>
            <a:off x="5214206" y="864440"/>
            <a:ext cx="457200" cy="44141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grpSp>
        <p:nvGrpSpPr>
          <p:cNvPr id="38" name="Group 37">
            <a:extLst>
              <a:ext uri="{FF2B5EF4-FFF2-40B4-BE49-F238E27FC236}">
                <a16:creationId xmlns:a16="http://schemas.microsoft.com/office/drawing/2014/main" id="{E90A4CFD-3F37-9003-5933-455B0DE115B2}"/>
              </a:ext>
            </a:extLst>
          </p:cNvPr>
          <p:cNvGrpSpPr/>
          <p:nvPr/>
        </p:nvGrpSpPr>
        <p:grpSpPr>
          <a:xfrm>
            <a:off x="5163914" y="1058688"/>
            <a:ext cx="557784" cy="548640"/>
            <a:chOff x="5163914" y="1184617"/>
            <a:chExt cx="557784" cy="548640"/>
          </a:xfrm>
        </p:grpSpPr>
        <p:sp>
          <p:nvSpPr>
            <p:cNvPr id="37" name="Oval 36">
              <a:extLst>
                <a:ext uri="{FF2B5EF4-FFF2-40B4-BE49-F238E27FC236}">
                  <a16:creationId xmlns:a16="http://schemas.microsoft.com/office/drawing/2014/main" id="{7BBE7119-2E1F-2BFA-8618-FECBA1A79DC2}"/>
                </a:ext>
              </a:extLst>
            </p:cNvPr>
            <p:cNvSpPr/>
            <p:nvPr/>
          </p:nvSpPr>
          <p:spPr>
            <a:xfrm>
              <a:off x="5163914" y="1184617"/>
              <a:ext cx="557784" cy="548640"/>
            </a:xfrm>
            <a:prstGeom prst="ellipse">
              <a:avLst/>
            </a:prstGeom>
            <a:noFill/>
            <a:ln w="28575">
              <a:solidFill>
                <a:schemeClr val="accent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3" name="Rectangle 42">
              <a:extLst>
                <a:ext uri="{FF2B5EF4-FFF2-40B4-BE49-F238E27FC236}">
                  <a16:creationId xmlns:a16="http://schemas.microsoft.com/office/drawing/2014/main" id="{A47C5C5B-EA00-88D9-7FF6-D82E3C246E5C}"/>
                </a:ext>
              </a:extLst>
            </p:cNvPr>
            <p:cNvSpPr/>
            <p:nvPr/>
          </p:nvSpPr>
          <p:spPr>
            <a:xfrm>
              <a:off x="5214206" y="1238229"/>
              <a:ext cx="457200" cy="441417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2</a:t>
              </a:r>
            </a:p>
          </p:txBody>
        </p:sp>
      </p:grpSp>
      <p:grpSp>
        <p:nvGrpSpPr>
          <p:cNvPr id="36" name="Group 35">
            <a:extLst>
              <a:ext uri="{FF2B5EF4-FFF2-40B4-BE49-F238E27FC236}">
                <a16:creationId xmlns:a16="http://schemas.microsoft.com/office/drawing/2014/main" id="{581464AB-0140-7C3D-77EA-9FA09ADC4101}"/>
              </a:ext>
            </a:extLst>
          </p:cNvPr>
          <p:cNvGrpSpPr/>
          <p:nvPr/>
        </p:nvGrpSpPr>
        <p:grpSpPr>
          <a:xfrm>
            <a:off x="5163914" y="1897085"/>
            <a:ext cx="557784" cy="548640"/>
            <a:chOff x="5163914" y="2182090"/>
            <a:chExt cx="557784" cy="548640"/>
          </a:xfrm>
        </p:grpSpPr>
        <p:sp>
          <p:nvSpPr>
            <p:cNvPr id="40" name="Oval 39">
              <a:extLst>
                <a:ext uri="{FF2B5EF4-FFF2-40B4-BE49-F238E27FC236}">
                  <a16:creationId xmlns:a16="http://schemas.microsoft.com/office/drawing/2014/main" id="{0B951665-5E67-07FC-E235-9CC09AB7BA17}"/>
                </a:ext>
              </a:extLst>
            </p:cNvPr>
            <p:cNvSpPr/>
            <p:nvPr/>
          </p:nvSpPr>
          <p:spPr>
            <a:xfrm>
              <a:off x="5163914" y="2182090"/>
              <a:ext cx="557784" cy="548640"/>
            </a:xfrm>
            <a:prstGeom prst="ellipse">
              <a:avLst/>
            </a:prstGeom>
            <a:noFill/>
            <a:ln w="28575">
              <a:solidFill>
                <a:schemeClr val="accent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5" name="Rectangle 44">
              <a:extLst>
                <a:ext uri="{FF2B5EF4-FFF2-40B4-BE49-F238E27FC236}">
                  <a16:creationId xmlns:a16="http://schemas.microsoft.com/office/drawing/2014/main" id="{5E239547-9A86-AD84-8993-54EEAFFB69BF}"/>
                </a:ext>
              </a:extLst>
            </p:cNvPr>
            <p:cNvSpPr/>
            <p:nvPr/>
          </p:nvSpPr>
          <p:spPr>
            <a:xfrm>
              <a:off x="5214206" y="2235702"/>
              <a:ext cx="457200" cy="441417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>
                  <a:solidFill>
                    <a:schemeClr val="tx1"/>
                  </a:solidFill>
                </a:rPr>
                <a:t>3</a:t>
              </a:r>
            </a:p>
          </p:txBody>
        </p:sp>
      </p:grpSp>
      <p:cxnSp>
        <p:nvCxnSpPr>
          <p:cNvPr id="47" name="Straight Connector 46">
            <a:extLst>
              <a:ext uri="{FF2B5EF4-FFF2-40B4-BE49-F238E27FC236}">
                <a16:creationId xmlns:a16="http://schemas.microsoft.com/office/drawing/2014/main" id="{8AEA6DA5-C3E1-46C3-E5C9-933F49EB51CC}"/>
              </a:ext>
            </a:extLst>
          </p:cNvPr>
          <p:cNvCxnSpPr>
            <a:cxnSpLocks/>
          </p:cNvCxnSpPr>
          <p:nvPr/>
        </p:nvCxnSpPr>
        <p:spPr>
          <a:xfrm>
            <a:off x="5442806" y="768931"/>
            <a:ext cx="0" cy="289757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Straight Connector 49">
            <a:extLst>
              <a:ext uri="{FF2B5EF4-FFF2-40B4-BE49-F238E27FC236}">
                <a16:creationId xmlns:a16="http://schemas.microsoft.com/office/drawing/2014/main" id="{5C1F5090-862C-90A8-03A0-A681FAC7B8BC}"/>
              </a:ext>
            </a:extLst>
          </p:cNvPr>
          <p:cNvCxnSpPr>
            <a:cxnSpLocks/>
          </p:cNvCxnSpPr>
          <p:nvPr/>
        </p:nvCxnSpPr>
        <p:spPr>
          <a:xfrm>
            <a:off x="5442806" y="1607328"/>
            <a:ext cx="0" cy="289757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9" name="Group 18">
            <a:extLst>
              <a:ext uri="{FF2B5EF4-FFF2-40B4-BE49-F238E27FC236}">
                <a16:creationId xmlns:a16="http://schemas.microsoft.com/office/drawing/2014/main" id="{A0CC572D-C380-EE9D-10C2-1B8EE58066BC}"/>
              </a:ext>
            </a:extLst>
          </p:cNvPr>
          <p:cNvGrpSpPr/>
          <p:nvPr/>
        </p:nvGrpSpPr>
        <p:grpSpPr>
          <a:xfrm>
            <a:off x="5163914" y="6089069"/>
            <a:ext cx="557784" cy="548640"/>
            <a:chOff x="5163914" y="5451718"/>
            <a:chExt cx="557784" cy="548640"/>
          </a:xfrm>
        </p:grpSpPr>
        <p:sp>
          <p:nvSpPr>
            <p:cNvPr id="3" name="Oval 2">
              <a:extLst>
                <a:ext uri="{FF2B5EF4-FFF2-40B4-BE49-F238E27FC236}">
                  <a16:creationId xmlns:a16="http://schemas.microsoft.com/office/drawing/2014/main" id="{289BAF92-E0A1-7C66-E716-90D17D3E5166}"/>
                </a:ext>
              </a:extLst>
            </p:cNvPr>
            <p:cNvSpPr/>
            <p:nvPr/>
          </p:nvSpPr>
          <p:spPr>
            <a:xfrm>
              <a:off x="5163914" y="5451718"/>
              <a:ext cx="557784" cy="548640"/>
            </a:xfrm>
            <a:prstGeom prst="ellipse">
              <a:avLst/>
            </a:prstGeom>
            <a:noFill/>
            <a:ln w="28575">
              <a:solidFill>
                <a:schemeClr val="accent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E14CF5A4-2001-4A56-4B46-01E33B5636DD}"/>
                </a:ext>
              </a:extLst>
            </p:cNvPr>
            <p:cNvSpPr/>
            <p:nvPr/>
          </p:nvSpPr>
          <p:spPr>
            <a:xfrm>
              <a:off x="5214206" y="5505330"/>
              <a:ext cx="457200" cy="441417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8</a:t>
              </a:r>
            </a:p>
          </p:txBody>
        </p:sp>
      </p:grp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4BF390B9-DBD9-3A68-CFE3-4A2F7C3A015C}"/>
              </a:ext>
            </a:extLst>
          </p:cNvPr>
          <p:cNvCxnSpPr>
            <a:cxnSpLocks/>
          </p:cNvCxnSpPr>
          <p:nvPr/>
        </p:nvCxnSpPr>
        <p:spPr>
          <a:xfrm>
            <a:off x="5442806" y="2445725"/>
            <a:ext cx="0" cy="289757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4" name="Group 33">
            <a:extLst>
              <a:ext uri="{FF2B5EF4-FFF2-40B4-BE49-F238E27FC236}">
                <a16:creationId xmlns:a16="http://schemas.microsoft.com/office/drawing/2014/main" id="{26EC14C7-ECD8-55D4-26A8-EE64B7EFB548}"/>
              </a:ext>
            </a:extLst>
          </p:cNvPr>
          <p:cNvGrpSpPr/>
          <p:nvPr/>
        </p:nvGrpSpPr>
        <p:grpSpPr>
          <a:xfrm>
            <a:off x="5163914" y="2735482"/>
            <a:ext cx="557784" cy="548640"/>
            <a:chOff x="5163914" y="3131096"/>
            <a:chExt cx="557784" cy="548640"/>
          </a:xfrm>
        </p:grpSpPr>
        <p:sp>
          <p:nvSpPr>
            <p:cNvPr id="12" name="Oval 39">
              <a:extLst>
                <a:ext uri="{FF2B5EF4-FFF2-40B4-BE49-F238E27FC236}">
                  <a16:creationId xmlns:a16="http://schemas.microsoft.com/office/drawing/2014/main" id="{2863B651-E318-371F-7097-E37EF82FD32E}"/>
                </a:ext>
              </a:extLst>
            </p:cNvPr>
            <p:cNvSpPr/>
            <p:nvPr/>
          </p:nvSpPr>
          <p:spPr>
            <a:xfrm>
              <a:off x="5163914" y="3131096"/>
              <a:ext cx="557784" cy="548640"/>
            </a:xfrm>
            <a:prstGeom prst="ellipse">
              <a:avLst/>
            </a:prstGeom>
            <a:solidFill>
              <a:schemeClr val="bg1"/>
            </a:solidFill>
            <a:ln w="28575">
              <a:solidFill>
                <a:schemeClr val="accent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Rectangle 44">
              <a:extLst>
                <a:ext uri="{FF2B5EF4-FFF2-40B4-BE49-F238E27FC236}">
                  <a16:creationId xmlns:a16="http://schemas.microsoft.com/office/drawing/2014/main" id="{B50C4B7D-9131-7D68-C8D8-666455621D48}"/>
                </a:ext>
              </a:extLst>
            </p:cNvPr>
            <p:cNvSpPr/>
            <p:nvPr/>
          </p:nvSpPr>
          <p:spPr>
            <a:xfrm>
              <a:off x="5214206" y="3184708"/>
              <a:ext cx="457200" cy="441417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4</a:t>
              </a:r>
            </a:p>
          </p:txBody>
        </p:sp>
      </p:grpSp>
      <p:grpSp>
        <p:nvGrpSpPr>
          <p:cNvPr id="32" name="Group 31">
            <a:extLst>
              <a:ext uri="{FF2B5EF4-FFF2-40B4-BE49-F238E27FC236}">
                <a16:creationId xmlns:a16="http://schemas.microsoft.com/office/drawing/2014/main" id="{051CFA41-5643-9FDD-2308-4A50951C0CCB}"/>
              </a:ext>
            </a:extLst>
          </p:cNvPr>
          <p:cNvGrpSpPr/>
          <p:nvPr/>
        </p:nvGrpSpPr>
        <p:grpSpPr>
          <a:xfrm>
            <a:off x="5163914" y="3573879"/>
            <a:ext cx="557784" cy="548640"/>
            <a:chOff x="5163914" y="4099425"/>
            <a:chExt cx="557784" cy="548640"/>
          </a:xfrm>
        </p:grpSpPr>
        <p:sp>
          <p:nvSpPr>
            <p:cNvPr id="15" name="Oval 39">
              <a:extLst>
                <a:ext uri="{FF2B5EF4-FFF2-40B4-BE49-F238E27FC236}">
                  <a16:creationId xmlns:a16="http://schemas.microsoft.com/office/drawing/2014/main" id="{E50BD12E-3D72-8C94-AA5B-4F40ABC7ECE4}"/>
                </a:ext>
              </a:extLst>
            </p:cNvPr>
            <p:cNvSpPr/>
            <p:nvPr/>
          </p:nvSpPr>
          <p:spPr>
            <a:xfrm>
              <a:off x="5163914" y="4099425"/>
              <a:ext cx="557784" cy="548640"/>
            </a:xfrm>
            <a:prstGeom prst="ellipse">
              <a:avLst/>
            </a:prstGeom>
            <a:solidFill>
              <a:schemeClr val="bg1"/>
            </a:solidFill>
            <a:ln w="28575">
              <a:solidFill>
                <a:schemeClr val="accent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Rectangle 44">
              <a:extLst>
                <a:ext uri="{FF2B5EF4-FFF2-40B4-BE49-F238E27FC236}">
                  <a16:creationId xmlns:a16="http://schemas.microsoft.com/office/drawing/2014/main" id="{ADCEA9BE-4F6E-AFD7-EBD6-D8634CCFEFF7}"/>
                </a:ext>
              </a:extLst>
            </p:cNvPr>
            <p:cNvSpPr/>
            <p:nvPr/>
          </p:nvSpPr>
          <p:spPr>
            <a:xfrm>
              <a:off x="5214206" y="4153037"/>
              <a:ext cx="457200" cy="441417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5</a:t>
              </a:r>
            </a:p>
          </p:txBody>
        </p:sp>
      </p:grpSp>
      <p:grpSp>
        <p:nvGrpSpPr>
          <p:cNvPr id="30" name="Group 29">
            <a:extLst>
              <a:ext uri="{FF2B5EF4-FFF2-40B4-BE49-F238E27FC236}">
                <a16:creationId xmlns:a16="http://schemas.microsoft.com/office/drawing/2014/main" id="{0C667E8D-4583-5E67-BAA4-0C43B3F75887}"/>
              </a:ext>
            </a:extLst>
          </p:cNvPr>
          <p:cNvGrpSpPr/>
          <p:nvPr/>
        </p:nvGrpSpPr>
        <p:grpSpPr>
          <a:xfrm>
            <a:off x="5163914" y="4412276"/>
            <a:ext cx="557784" cy="548640"/>
            <a:chOff x="5163914" y="4775571"/>
            <a:chExt cx="557784" cy="548640"/>
          </a:xfrm>
        </p:grpSpPr>
        <p:sp>
          <p:nvSpPr>
            <p:cNvPr id="17" name="Oval 39">
              <a:extLst>
                <a:ext uri="{FF2B5EF4-FFF2-40B4-BE49-F238E27FC236}">
                  <a16:creationId xmlns:a16="http://schemas.microsoft.com/office/drawing/2014/main" id="{2852B295-CE57-5235-842B-DCE821AE598A}"/>
                </a:ext>
              </a:extLst>
            </p:cNvPr>
            <p:cNvSpPr/>
            <p:nvPr/>
          </p:nvSpPr>
          <p:spPr>
            <a:xfrm>
              <a:off x="5163914" y="4775571"/>
              <a:ext cx="557784" cy="548640"/>
            </a:xfrm>
            <a:prstGeom prst="ellipse">
              <a:avLst/>
            </a:prstGeom>
            <a:solidFill>
              <a:schemeClr val="bg1"/>
            </a:solidFill>
            <a:ln w="28575">
              <a:solidFill>
                <a:schemeClr val="accent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" name="Rectangle 44">
              <a:extLst>
                <a:ext uri="{FF2B5EF4-FFF2-40B4-BE49-F238E27FC236}">
                  <a16:creationId xmlns:a16="http://schemas.microsoft.com/office/drawing/2014/main" id="{18921DD5-26BB-EEFA-1B92-AF1F8976083C}"/>
                </a:ext>
              </a:extLst>
            </p:cNvPr>
            <p:cNvSpPr/>
            <p:nvPr/>
          </p:nvSpPr>
          <p:spPr>
            <a:xfrm>
              <a:off x="5214206" y="4829183"/>
              <a:ext cx="457200" cy="441417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6</a:t>
              </a:r>
            </a:p>
          </p:txBody>
        </p:sp>
      </p:grpSp>
      <p:sp>
        <p:nvSpPr>
          <p:cNvPr id="46" name="Rectangle 45">
            <a:extLst>
              <a:ext uri="{FF2B5EF4-FFF2-40B4-BE49-F238E27FC236}">
                <a16:creationId xmlns:a16="http://schemas.microsoft.com/office/drawing/2014/main" id="{B0BF397A-9F3E-7DF4-6924-66ECB423D438}"/>
              </a:ext>
            </a:extLst>
          </p:cNvPr>
          <p:cNvSpPr/>
          <p:nvPr/>
        </p:nvSpPr>
        <p:spPr>
          <a:xfrm>
            <a:off x="6276434" y="273902"/>
            <a:ext cx="5302826" cy="44141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300" dirty="0">
                <a:solidFill>
                  <a:schemeClr val="tx1"/>
                </a:solidFill>
              </a:rPr>
              <a:t>Business Model - BAWAG Group AG</a:t>
            </a:r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C3916825-9FCB-3DBE-96E6-565F53E8E943}"/>
              </a:ext>
            </a:extLst>
          </p:cNvPr>
          <p:cNvSpPr/>
          <p:nvPr/>
        </p:nvSpPr>
        <p:spPr>
          <a:xfrm>
            <a:off x="6276434" y="1112299"/>
            <a:ext cx="5302826" cy="44141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300" dirty="0">
                <a:solidFill>
                  <a:schemeClr val="tx1"/>
                </a:solidFill>
              </a:rPr>
              <a:t>Main Risk Types &amp; Measurement Approaches</a:t>
            </a:r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1565F80A-CE5B-A533-6DC7-B1B58D86E0E5}"/>
              </a:ext>
            </a:extLst>
          </p:cNvPr>
          <p:cNvSpPr/>
          <p:nvPr/>
        </p:nvSpPr>
        <p:spPr>
          <a:xfrm>
            <a:off x="6276434" y="1950696"/>
            <a:ext cx="5302826" cy="44141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300" dirty="0">
                <a:solidFill>
                  <a:schemeClr val="tx1"/>
                </a:solidFill>
              </a:rPr>
              <a:t>Confidence Level &amp; Measurement Approaches</a:t>
            </a:r>
          </a:p>
        </p:txBody>
      </p:sp>
      <p:sp>
        <p:nvSpPr>
          <p:cNvPr id="51" name="Rectangle 50">
            <a:extLst>
              <a:ext uri="{FF2B5EF4-FFF2-40B4-BE49-F238E27FC236}">
                <a16:creationId xmlns:a16="http://schemas.microsoft.com/office/drawing/2014/main" id="{951E5DE3-3559-0EF6-4AF3-47002F9EA0D5}"/>
              </a:ext>
            </a:extLst>
          </p:cNvPr>
          <p:cNvSpPr/>
          <p:nvPr/>
        </p:nvSpPr>
        <p:spPr>
          <a:xfrm>
            <a:off x="6276434" y="4465887"/>
            <a:ext cx="5302826" cy="44141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300" dirty="0">
                <a:solidFill>
                  <a:schemeClr val="tx1"/>
                </a:solidFill>
              </a:rPr>
              <a:t>Energy Price Impact</a:t>
            </a:r>
          </a:p>
        </p:txBody>
      </p:sp>
      <p:sp>
        <p:nvSpPr>
          <p:cNvPr id="52" name="Rectangle 34">
            <a:extLst>
              <a:ext uri="{FF2B5EF4-FFF2-40B4-BE49-F238E27FC236}">
                <a16:creationId xmlns:a16="http://schemas.microsoft.com/office/drawing/2014/main" id="{92F6E975-CD92-322E-4D3A-963CA1546127}"/>
              </a:ext>
            </a:extLst>
          </p:cNvPr>
          <p:cNvSpPr/>
          <p:nvPr/>
        </p:nvSpPr>
        <p:spPr>
          <a:xfrm>
            <a:off x="6276434" y="2789093"/>
            <a:ext cx="5302826" cy="44141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300" dirty="0">
                <a:solidFill>
                  <a:schemeClr val="tx1"/>
                </a:solidFill>
              </a:rPr>
              <a:t>Normative vs. Economic Perspective</a:t>
            </a:r>
          </a:p>
        </p:txBody>
      </p:sp>
      <p:sp>
        <p:nvSpPr>
          <p:cNvPr id="53" name="Rectangle 34">
            <a:extLst>
              <a:ext uri="{FF2B5EF4-FFF2-40B4-BE49-F238E27FC236}">
                <a16:creationId xmlns:a16="http://schemas.microsoft.com/office/drawing/2014/main" id="{E30CAD97-2710-68E5-E073-66EDE3E80711}"/>
              </a:ext>
            </a:extLst>
          </p:cNvPr>
          <p:cNvSpPr/>
          <p:nvPr/>
        </p:nvSpPr>
        <p:spPr>
          <a:xfrm>
            <a:off x="6276434" y="3627490"/>
            <a:ext cx="5302826" cy="44141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300" dirty="0">
                <a:solidFill>
                  <a:schemeClr val="tx1"/>
                </a:solidFill>
              </a:rPr>
              <a:t>Regulatory &amp; Economic Capital</a:t>
            </a:r>
          </a:p>
        </p:txBody>
      </p:sp>
      <p:sp>
        <p:nvSpPr>
          <p:cNvPr id="54" name="Rectangle 1">
            <a:extLst>
              <a:ext uri="{FF2B5EF4-FFF2-40B4-BE49-F238E27FC236}">
                <a16:creationId xmlns:a16="http://schemas.microsoft.com/office/drawing/2014/main" id="{522124C2-E354-772D-90DC-9AA473FD9BD0}"/>
              </a:ext>
            </a:extLst>
          </p:cNvPr>
          <p:cNvSpPr/>
          <p:nvPr/>
        </p:nvSpPr>
        <p:spPr>
          <a:xfrm>
            <a:off x="6276434" y="5304284"/>
            <a:ext cx="5302826" cy="44141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300" dirty="0">
                <a:solidFill>
                  <a:schemeClr val="tx1"/>
                </a:solidFill>
              </a:rPr>
              <a:t>Transparency &amp; Completeness Assessment</a:t>
            </a:r>
          </a:p>
        </p:txBody>
      </p:sp>
      <p:sp>
        <p:nvSpPr>
          <p:cNvPr id="55" name="Rectangle 1">
            <a:extLst>
              <a:ext uri="{FF2B5EF4-FFF2-40B4-BE49-F238E27FC236}">
                <a16:creationId xmlns:a16="http://schemas.microsoft.com/office/drawing/2014/main" id="{9E433817-A95F-6558-200F-2ACF3CF0C42C}"/>
              </a:ext>
            </a:extLst>
          </p:cNvPr>
          <p:cNvSpPr/>
          <p:nvPr/>
        </p:nvSpPr>
        <p:spPr>
          <a:xfrm>
            <a:off x="6276434" y="6142680"/>
            <a:ext cx="5302826" cy="44141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300" dirty="0">
                <a:solidFill>
                  <a:schemeClr val="tx1"/>
                </a:solidFill>
              </a:rPr>
              <a:t>Conclusions</a:t>
            </a:r>
          </a:p>
        </p:txBody>
      </p:sp>
      <p:grpSp>
        <p:nvGrpSpPr>
          <p:cNvPr id="57" name="Group 56">
            <a:extLst>
              <a:ext uri="{FF2B5EF4-FFF2-40B4-BE49-F238E27FC236}">
                <a16:creationId xmlns:a16="http://schemas.microsoft.com/office/drawing/2014/main" id="{FE7F47D5-2542-1343-74DC-E390252831A9}"/>
              </a:ext>
            </a:extLst>
          </p:cNvPr>
          <p:cNvGrpSpPr/>
          <p:nvPr/>
        </p:nvGrpSpPr>
        <p:grpSpPr>
          <a:xfrm>
            <a:off x="5161279" y="5250673"/>
            <a:ext cx="557784" cy="548640"/>
            <a:chOff x="5163914" y="5451718"/>
            <a:chExt cx="557784" cy="548640"/>
          </a:xfrm>
        </p:grpSpPr>
        <p:sp>
          <p:nvSpPr>
            <p:cNvPr id="58" name="Oval 57">
              <a:extLst>
                <a:ext uri="{FF2B5EF4-FFF2-40B4-BE49-F238E27FC236}">
                  <a16:creationId xmlns:a16="http://schemas.microsoft.com/office/drawing/2014/main" id="{AA49E68E-67A1-B7D3-6AC8-FEA4C00013DC}"/>
                </a:ext>
              </a:extLst>
            </p:cNvPr>
            <p:cNvSpPr/>
            <p:nvPr/>
          </p:nvSpPr>
          <p:spPr>
            <a:xfrm>
              <a:off x="5163914" y="5451718"/>
              <a:ext cx="557784" cy="548640"/>
            </a:xfrm>
            <a:prstGeom prst="ellipse">
              <a:avLst/>
            </a:prstGeom>
            <a:noFill/>
            <a:ln w="28575">
              <a:solidFill>
                <a:schemeClr val="accent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9" name="Rectangle 58">
              <a:extLst>
                <a:ext uri="{FF2B5EF4-FFF2-40B4-BE49-F238E27FC236}">
                  <a16:creationId xmlns:a16="http://schemas.microsoft.com/office/drawing/2014/main" id="{1CAF7024-AA59-461A-1D89-8EB780DB880F}"/>
                </a:ext>
              </a:extLst>
            </p:cNvPr>
            <p:cNvSpPr/>
            <p:nvPr/>
          </p:nvSpPr>
          <p:spPr>
            <a:xfrm>
              <a:off x="5214206" y="5505330"/>
              <a:ext cx="457200" cy="441417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7</a:t>
              </a:r>
            </a:p>
          </p:txBody>
        </p:sp>
      </p:grpSp>
      <p:cxnSp>
        <p:nvCxnSpPr>
          <p:cNvPr id="61" name="Straight Connector 60">
            <a:extLst>
              <a:ext uri="{FF2B5EF4-FFF2-40B4-BE49-F238E27FC236}">
                <a16:creationId xmlns:a16="http://schemas.microsoft.com/office/drawing/2014/main" id="{E5008073-C3FA-4456-0101-40B7D0EAED94}"/>
              </a:ext>
            </a:extLst>
          </p:cNvPr>
          <p:cNvCxnSpPr>
            <a:cxnSpLocks/>
          </p:cNvCxnSpPr>
          <p:nvPr/>
        </p:nvCxnSpPr>
        <p:spPr>
          <a:xfrm>
            <a:off x="5440171" y="3284121"/>
            <a:ext cx="0" cy="289757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" name="Straight Connector 61">
            <a:extLst>
              <a:ext uri="{FF2B5EF4-FFF2-40B4-BE49-F238E27FC236}">
                <a16:creationId xmlns:a16="http://schemas.microsoft.com/office/drawing/2014/main" id="{A69C0E72-E4B1-4561-590D-D7D0FA0D2CD8}"/>
              </a:ext>
            </a:extLst>
          </p:cNvPr>
          <p:cNvCxnSpPr>
            <a:cxnSpLocks/>
          </p:cNvCxnSpPr>
          <p:nvPr/>
        </p:nvCxnSpPr>
        <p:spPr>
          <a:xfrm>
            <a:off x="5440171" y="4122519"/>
            <a:ext cx="0" cy="289757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Straight Connector 62">
            <a:extLst>
              <a:ext uri="{FF2B5EF4-FFF2-40B4-BE49-F238E27FC236}">
                <a16:creationId xmlns:a16="http://schemas.microsoft.com/office/drawing/2014/main" id="{44CEE2C9-EABE-63D1-0833-62CD26E9F102}"/>
              </a:ext>
            </a:extLst>
          </p:cNvPr>
          <p:cNvCxnSpPr>
            <a:cxnSpLocks/>
          </p:cNvCxnSpPr>
          <p:nvPr/>
        </p:nvCxnSpPr>
        <p:spPr>
          <a:xfrm>
            <a:off x="5440171" y="4960916"/>
            <a:ext cx="0" cy="289757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4" name="Straight Connector 63">
            <a:extLst>
              <a:ext uri="{FF2B5EF4-FFF2-40B4-BE49-F238E27FC236}">
                <a16:creationId xmlns:a16="http://schemas.microsoft.com/office/drawing/2014/main" id="{AD7CA245-D7CF-B360-6A2A-D8FA70DD60F4}"/>
              </a:ext>
            </a:extLst>
          </p:cNvPr>
          <p:cNvCxnSpPr>
            <a:cxnSpLocks/>
          </p:cNvCxnSpPr>
          <p:nvPr/>
        </p:nvCxnSpPr>
        <p:spPr>
          <a:xfrm>
            <a:off x="5440171" y="5799313"/>
            <a:ext cx="0" cy="289757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173695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Triangolo 34">
            <a:extLst>
              <a:ext uri="{FF2B5EF4-FFF2-40B4-BE49-F238E27FC236}">
                <a16:creationId xmlns:a16="http://schemas.microsoft.com/office/drawing/2014/main" id="{73A26838-8BBD-271B-77C3-C7513F921371}"/>
              </a:ext>
            </a:extLst>
          </p:cNvPr>
          <p:cNvSpPr/>
          <p:nvPr/>
        </p:nvSpPr>
        <p:spPr>
          <a:xfrm rot="5400000">
            <a:off x="6501116" y="2537655"/>
            <a:ext cx="3586587" cy="1210459"/>
          </a:xfrm>
          <a:prstGeom prst="triangle">
            <a:avLst/>
          </a:prstGeom>
          <a:gradFill>
            <a:gsLst>
              <a:gs pos="35000">
                <a:schemeClr val="bg1"/>
              </a:gs>
              <a:gs pos="74000">
                <a:srgbClr val="D9ECFF"/>
              </a:gs>
              <a:gs pos="98000">
                <a:srgbClr val="D9ECFF"/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34" name="Triangolo 33">
            <a:extLst>
              <a:ext uri="{FF2B5EF4-FFF2-40B4-BE49-F238E27FC236}">
                <a16:creationId xmlns:a16="http://schemas.microsoft.com/office/drawing/2014/main" id="{54FF7892-DD4C-41F1-27D9-CD353E2B3C99}"/>
              </a:ext>
            </a:extLst>
          </p:cNvPr>
          <p:cNvSpPr/>
          <p:nvPr/>
        </p:nvSpPr>
        <p:spPr>
          <a:xfrm rot="5400000">
            <a:off x="2638664" y="2525934"/>
            <a:ext cx="3563144" cy="1210459"/>
          </a:xfrm>
          <a:prstGeom prst="triangle">
            <a:avLst/>
          </a:prstGeom>
          <a:gradFill>
            <a:gsLst>
              <a:gs pos="35000">
                <a:schemeClr val="bg1"/>
              </a:gs>
              <a:gs pos="74000">
                <a:srgbClr val="D9ECFF"/>
              </a:gs>
              <a:gs pos="98000">
                <a:srgbClr val="D9ECFF"/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dirty="0"/>
          </a:p>
        </p:txBody>
      </p:sp>
      <p:sp>
        <p:nvSpPr>
          <p:cNvPr id="32" name="Rettangolo 31">
            <a:extLst>
              <a:ext uri="{FF2B5EF4-FFF2-40B4-BE49-F238E27FC236}">
                <a16:creationId xmlns:a16="http://schemas.microsoft.com/office/drawing/2014/main" id="{53BCEC79-F7CE-BD41-C7A6-DB3CA1CA6328}"/>
              </a:ext>
            </a:extLst>
          </p:cNvPr>
          <p:cNvSpPr/>
          <p:nvPr/>
        </p:nvSpPr>
        <p:spPr>
          <a:xfrm>
            <a:off x="4166270" y="938109"/>
            <a:ext cx="3522911" cy="4028623"/>
          </a:xfrm>
          <a:prstGeom prst="rect">
            <a:avLst/>
          </a:prstGeom>
          <a:gradFill flip="none" rotWithShape="1">
            <a:gsLst>
              <a:gs pos="1000">
                <a:srgbClr val="D9ECFF"/>
              </a:gs>
              <a:gs pos="100000">
                <a:schemeClr val="accent1">
                  <a:lumMod val="20000"/>
                  <a:lumOff val="80000"/>
                </a:schemeClr>
              </a:gs>
            </a:gsLst>
            <a:lin ang="108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33" name="Rettangolo 32">
            <a:extLst>
              <a:ext uri="{FF2B5EF4-FFF2-40B4-BE49-F238E27FC236}">
                <a16:creationId xmlns:a16="http://schemas.microsoft.com/office/drawing/2014/main" id="{50FB5C32-D105-D64C-2627-E1690024CCEA}"/>
              </a:ext>
            </a:extLst>
          </p:cNvPr>
          <p:cNvSpPr/>
          <p:nvPr/>
        </p:nvSpPr>
        <p:spPr>
          <a:xfrm>
            <a:off x="8005980" y="938110"/>
            <a:ext cx="3525689" cy="4003788"/>
          </a:xfrm>
          <a:prstGeom prst="rect">
            <a:avLst/>
          </a:prstGeom>
          <a:gradFill flip="none" rotWithShape="1">
            <a:gsLst>
              <a:gs pos="1000">
                <a:srgbClr val="D9ECFF"/>
              </a:gs>
              <a:gs pos="100000">
                <a:schemeClr val="accent1">
                  <a:lumMod val="20000"/>
                  <a:lumOff val="80000"/>
                </a:schemeClr>
              </a:gs>
            </a:gsLst>
            <a:lin ang="108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96F6EF2D-EC5A-52E6-1B83-EEF1DEB3BE0B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hu-HU" b="1" dirty="0" err="1"/>
              <a:t>Introduction</a:t>
            </a:r>
            <a:r>
              <a:rPr lang="hu-HU" b="1" dirty="0"/>
              <a:t> </a:t>
            </a:r>
            <a:r>
              <a:rPr lang="hu-HU" b="1" dirty="0" err="1"/>
              <a:t>on</a:t>
            </a:r>
            <a:r>
              <a:rPr lang="hu-HU" b="1" dirty="0"/>
              <a:t> </a:t>
            </a:r>
            <a:r>
              <a:rPr lang="hu-HU" b="1" dirty="0" err="1"/>
              <a:t>BAWAG’s</a:t>
            </a:r>
            <a:r>
              <a:rPr lang="hu-HU" b="1" dirty="0"/>
              <a:t> </a:t>
            </a:r>
            <a:r>
              <a:rPr lang="hu-HU" b="1" dirty="0" err="1"/>
              <a:t>Risk</a:t>
            </a:r>
            <a:r>
              <a:rPr lang="hu-HU" b="1" dirty="0"/>
              <a:t> </a:t>
            </a:r>
            <a:r>
              <a:rPr lang="hu-HU" b="1" dirty="0" err="1"/>
              <a:t>Reporting</a:t>
            </a:r>
            <a:endParaRPr lang="hu-HU" b="1" dirty="0"/>
          </a:p>
        </p:txBody>
      </p:sp>
      <p:sp>
        <p:nvSpPr>
          <p:cNvPr id="31" name="Rettangolo 30">
            <a:extLst>
              <a:ext uri="{FF2B5EF4-FFF2-40B4-BE49-F238E27FC236}">
                <a16:creationId xmlns:a16="http://schemas.microsoft.com/office/drawing/2014/main" id="{4D8588FF-8FDD-E21B-8D54-EC82FE7449FF}"/>
              </a:ext>
            </a:extLst>
          </p:cNvPr>
          <p:cNvSpPr/>
          <p:nvPr/>
        </p:nvSpPr>
        <p:spPr>
          <a:xfrm>
            <a:off x="292100" y="906436"/>
            <a:ext cx="3522911" cy="4028623"/>
          </a:xfrm>
          <a:prstGeom prst="rect">
            <a:avLst/>
          </a:prstGeom>
          <a:gradFill flip="none" rotWithShape="1">
            <a:gsLst>
              <a:gs pos="1000">
                <a:srgbClr val="D9ECFF"/>
              </a:gs>
              <a:gs pos="100000">
                <a:schemeClr val="accent1">
                  <a:lumMod val="20000"/>
                  <a:lumOff val="80000"/>
                </a:schemeClr>
              </a:gs>
            </a:gsLst>
            <a:lin ang="108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D331412E-A487-C47E-09F7-AC55491EE2DB}"/>
              </a:ext>
            </a:extLst>
          </p:cNvPr>
          <p:cNvSpPr/>
          <p:nvPr/>
        </p:nvSpPr>
        <p:spPr>
          <a:xfrm>
            <a:off x="126814" y="5074411"/>
            <a:ext cx="11811186" cy="628650"/>
          </a:xfrm>
          <a:prstGeom prst="rect">
            <a:avLst/>
          </a:prstGeom>
          <a:solidFill>
            <a:srgbClr val="F0F8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600" b="1" dirty="0">
                <a:solidFill>
                  <a:schemeClr val="tx1"/>
                </a:solidFill>
              </a:rPr>
              <a:t>BAWAG's risk reporting framework ensures full Management Board visibility through structured, multi-frequency reporting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7A9B0BF6-7CE7-86AC-7DE5-A0F3A576CDA9}"/>
              </a:ext>
            </a:extLst>
          </p:cNvPr>
          <p:cNvSpPr/>
          <p:nvPr/>
        </p:nvSpPr>
        <p:spPr>
          <a:xfrm>
            <a:off x="292100" y="908175"/>
            <a:ext cx="3522909" cy="441417"/>
          </a:xfrm>
          <a:prstGeom prst="rect">
            <a:avLst/>
          </a:prstGeom>
          <a:gradFill flip="none" rotWithShape="1">
            <a:gsLst>
              <a:gs pos="0">
                <a:srgbClr val="005493"/>
              </a:gs>
              <a:gs pos="36000">
                <a:schemeClr val="accent1"/>
              </a:gs>
              <a:gs pos="67000">
                <a:schemeClr val="accent1">
                  <a:lumMod val="75000"/>
                </a:schemeClr>
              </a:gs>
              <a:gs pos="98000">
                <a:schemeClr val="accent1">
                  <a:lumMod val="50000"/>
                </a:schemeClr>
              </a:gs>
            </a:gsLst>
            <a:lin ang="108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b="1" dirty="0">
                <a:solidFill>
                  <a:schemeClr val="bg1"/>
                </a:solidFill>
              </a:rPr>
              <a:t>BAWAG 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6A1F4815-B7A7-D4DC-7C73-1C52068ED042}"/>
              </a:ext>
            </a:extLst>
          </p:cNvPr>
          <p:cNvSpPr/>
          <p:nvPr/>
        </p:nvSpPr>
        <p:spPr>
          <a:xfrm>
            <a:off x="4188642" y="1482103"/>
            <a:ext cx="3478165" cy="312723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Results discussed </a:t>
            </a:r>
            <a:r>
              <a:rPr lang="en-US" sz="1400" b="1" dirty="0">
                <a:solidFill>
                  <a:schemeClr val="tx1"/>
                </a:solidFill>
              </a:rPr>
              <a:t>quarterly</a:t>
            </a:r>
            <a:r>
              <a:rPr lang="en-US" sz="1400" dirty="0">
                <a:solidFill>
                  <a:schemeClr val="tx1"/>
                </a:solidFill>
              </a:rPr>
              <a:t> in the </a:t>
            </a:r>
            <a:r>
              <a:rPr lang="en-US" sz="1400" b="1" dirty="0">
                <a:solidFill>
                  <a:schemeClr val="tx1"/>
                </a:solidFill>
              </a:rPr>
              <a:t>ICAAP &amp; Stress Test Committee</a:t>
            </a:r>
            <a:r>
              <a:rPr lang="en-US" sz="1400" dirty="0">
                <a:solidFill>
                  <a:schemeClr val="tx1"/>
                </a:solidFill>
              </a:rPr>
              <a:t>, then escalated to the full </a:t>
            </a:r>
            <a:r>
              <a:rPr lang="en-US" sz="1400" b="1" dirty="0">
                <a:solidFill>
                  <a:schemeClr val="tx1"/>
                </a:solidFill>
              </a:rPr>
              <a:t>Management Board </a:t>
            </a:r>
            <a:r>
              <a:rPr lang="en-US" sz="1400" dirty="0">
                <a:solidFill>
                  <a:schemeClr val="tx1"/>
                </a:solidFill>
              </a:rPr>
              <a:t>via the </a:t>
            </a:r>
            <a:r>
              <a:rPr lang="en-US" sz="1400" b="1" dirty="0">
                <a:solidFill>
                  <a:schemeClr val="tx1"/>
                </a:solidFill>
              </a:rPr>
              <a:t>Enterprise Risk Meeting (ERM)</a:t>
            </a:r>
            <a:r>
              <a:rPr lang="en-US" sz="1400" dirty="0">
                <a:solidFill>
                  <a:schemeClr val="tx1"/>
                </a:solidFill>
              </a:rPr>
              <a:t>.</a:t>
            </a:r>
            <a:endParaRPr lang="en-US" sz="1400" b="1" dirty="0">
              <a:solidFill>
                <a:schemeClr val="tx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Capital ratios monitored </a:t>
            </a:r>
            <a:r>
              <a:rPr lang="en-US" sz="1400" b="1" dirty="0">
                <a:solidFill>
                  <a:schemeClr val="tx1"/>
                </a:solidFill>
              </a:rPr>
              <a:t>monthly</a:t>
            </a:r>
            <a:r>
              <a:rPr lang="en-US" sz="1400" dirty="0">
                <a:solidFill>
                  <a:schemeClr val="tx1"/>
                </a:solidFill>
              </a:rPr>
              <a:t> in the </a:t>
            </a:r>
            <a:r>
              <a:rPr lang="en-US" sz="1400" b="1" dirty="0">
                <a:solidFill>
                  <a:schemeClr val="tx1"/>
                </a:solidFill>
              </a:rPr>
              <a:t>Capital Management Meeting.</a:t>
            </a:r>
            <a:r>
              <a:rPr lang="en-US" sz="1400" dirty="0">
                <a:solidFill>
                  <a:schemeClr val="tx1"/>
                </a:solidFill>
              </a:rPr>
              <a:t> </a:t>
            </a:r>
            <a:r>
              <a:rPr lang="en-US" sz="1400" b="1" dirty="0">
                <a:solidFill>
                  <a:schemeClr val="tx1"/>
                </a:solidFill>
              </a:rPr>
              <a:t>Supervisory Board's Risk &amp; Credit Committee</a:t>
            </a:r>
            <a:r>
              <a:rPr lang="en-US" sz="1400" dirty="0">
                <a:solidFill>
                  <a:schemeClr val="tx1"/>
                </a:solidFill>
              </a:rPr>
              <a:t> receives the Group Risk Report </a:t>
            </a:r>
            <a:r>
              <a:rPr lang="en-US" sz="1400" b="1" dirty="0">
                <a:solidFill>
                  <a:schemeClr val="tx1"/>
                </a:solidFill>
              </a:rPr>
              <a:t>quarterly</a:t>
            </a:r>
            <a:r>
              <a:rPr lang="en-US" sz="1400" dirty="0">
                <a:solidFill>
                  <a:schemeClr val="tx1"/>
                </a:solidFill>
              </a:rPr>
              <a:t>.</a:t>
            </a:r>
            <a:endParaRPr lang="en-US" sz="1400" b="1" dirty="0">
              <a:solidFill>
                <a:schemeClr val="tx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Any material change in risk situation triggers immediate reporting to the full Management Board.</a:t>
            </a:r>
          </a:p>
        </p:txBody>
      </p:sp>
      <p:sp>
        <p:nvSpPr>
          <p:cNvPr id="24" name="Rectangle 21">
            <a:extLst>
              <a:ext uri="{FF2B5EF4-FFF2-40B4-BE49-F238E27FC236}">
                <a16:creationId xmlns:a16="http://schemas.microsoft.com/office/drawing/2014/main" id="{2C392196-F3ED-1026-33F2-C4A5ACA6F5E0}"/>
              </a:ext>
            </a:extLst>
          </p:cNvPr>
          <p:cNvSpPr/>
          <p:nvPr/>
        </p:nvSpPr>
        <p:spPr>
          <a:xfrm>
            <a:off x="4166268" y="928754"/>
            <a:ext cx="3525689" cy="441417"/>
          </a:xfrm>
          <a:prstGeom prst="rect">
            <a:avLst/>
          </a:prstGeom>
          <a:gradFill flip="none" rotWithShape="1">
            <a:gsLst>
              <a:gs pos="0">
                <a:srgbClr val="005493"/>
              </a:gs>
              <a:gs pos="36000">
                <a:schemeClr val="accent1"/>
              </a:gs>
              <a:gs pos="67000">
                <a:schemeClr val="accent1">
                  <a:lumMod val="75000"/>
                </a:schemeClr>
              </a:gs>
              <a:gs pos="98000">
                <a:schemeClr val="accent1">
                  <a:lumMod val="50000"/>
                </a:schemeClr>
              </a:gs>
            </a:gsLst>
            <a:lin ang="108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b="1" dirty="0">
                <a:solidFill>
                  <a:schemeClr val="bg1"/>
                </a:solidFill>
              </a:rPr>
              <a:t>ICAAP Reporting</a:t>
            </a:r>
          </a:p>
        </p:txBody>
      </p:sp>
      <p:sp>
        <p:nvSpPr>
          <p:cNvPr id="16" name="Rectangle 20">
            <a:extLst>
              <a:ext uri="{FF2B5EF4-FFF2-40B4-BE49-F238E27FC236}">
                <a16:creationId xmlns:a16="http://schemas.microsoft.com/office/drawing/2014/main" id="{812B4C4B-145E-CE11-CE21-BB14A999ED5D}"/>
              </a:ext>
            </a:extLst>
          </p:cNvPr>
          <p:cNvSpPr/>
          <p:nvPr/>
        </p:nvSpPr>
        <p:spPr>
          <a:xfrm>
            <a:off x="8003204" y="1387911"/>
            <a:ext cx="3512624" cy="335393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Q1 - Answer: </a:t>
            </a:r>
            <a:r>
              <a:rPr lang="en-US" sz="1400" b="1" dirty="0">
                <a:solidFill>
                  <a:schemeClr val="tx1"/>
                </a:solidFill>
              </a:rPr>
              <a:t>BAWAG applies a 99.9% Value-at-Risk (</a:t>
            </a:r>
            <a:r>
              <a:rPr lang="en-US" sz="1400" b="1" dirty="0" err="1">
                <a:solidFill>
                  <a:schemeClr val="tx1"/>
                </a:solidFill>
              </a:rPr>
              <a:t>VaR</a:t>
            </a:r>
            <a:r>
              <a:rPr lang="en-US" sz="1400" b="1" dirty="0">
                <a:solidFill>
                  <a:schemeClr val="tx1"/>
                </a:solidFill>
              </a:rPr>
              <a:t>) confidence level</a:t>
            </a:r>
            <a:r>
              <a:rPr lang="en-US" sz="1400" dirty="0">
                <a:solidFill>
                  <a:schemeClr val="tx1"/>
                </a:solidFill>
              </a:rPr>
              <a:t> uniformly across all ICAAP (Internal Capital Adequacy Assessment Process) economic capital risk categories.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This corresponds to a 1-in-1,000-year loss horizon. The normative perspective uses regulatory capital ratio thresholds - no statistical confidence level applies there
Used in credit risk, market risk, and real estate risk.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Confidence level is reviewed annually as part of the capital allocation and limitation process.</a:t>
            </a:r>
          </a:p>
        </p:txBody>
      </p:sp>
      <p:sp>
        <p:nvSpPr>
          <p:cNvPr id="29" name="Rectangle 21">
            <a:extLst>
              <a:ext uri="{FF2B5EF4-FFF2-40B4-BE49-F238E27FC236}">
                <a16:creationId xmlns:a16="http://schemas.microsoft.com/office/drawing/2014/main" id="{68A72382-5173-8492-9F8B-452A03EDAE15}"/>
              </a:ext>
            </a:extLst>
          </p:cNvPr>
          <p:cNvSpPr/>
          <p:nvPr/>
        </p:nvSpPr>
        <p:spPr>
          <a:xfrm>
            <a:off x="8003204" y="946495"/>
            <a:ext cx="3528465" cy="441417"/>
          </a:xfrm>
          <a:prstGeom prst="rect">
            <a:avLst/>
          </a:prstGeom>
          <a:gradFill flip="none" rotWithShape="1">
            <a:gsLst>
              <a:gs pos="0">
                <a:srgbClr val="005493"/>
              </a:gs>
              <a:gs pos="36000">
                <a:schemeClr val="accent1"/>
              </a:gs>
              <a:gs pos="67000">
                <a:schemeClr val="accent1">
                  <a:lumMod val="75000"/>
                </a:schemeClr>
              </a:gs>
              <a:gs pos="98000">
                <a:schemeClr val="accent1">
                  <a:lumMod val="50000"/>
                </a:schemeClr>
              </a:gs>
            </a:gsLst>
            <a:lin ang="108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b="1" dirty="0">
                <a:solidFill>
                  <a:schemeClr val="bg1"/>
                </a:solidFill>
              </a:rPr>
              <a:t>BAWAG’s Confidence Interval </a:t>
            </a:r>
          </a:p>
        </p:txBody>
      </p:sp>
      <p:sp>
        <p:nvSpPr>
          <p:cNvPr id="28" name="Rectangle 20">
            <a:extLst>
              <a:ext uri="{FF2B5EF4-FFF2-40B4-BE49-F238E27FC236}">
                <a16:creationId xmlns:a16="http://schemas.microsoft.com/office/drawing/2014/main" id="{C86CC097-EBA8-4EE6-EC68-F5177F25BDE7}"/>
              </a:ext>
            </a:extLst>
          </p:cNvPr>
          <p:cNvSpPr/>
          <p:nvPr/>
        </p:nvSpPr>
        <p:spPr>
          <a:xfrm>
            <a:off x="350972" y="1689764"/>
            <a:ext cx="3405163" cy="271191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b="1" dirty="0">
                <a:solidFill>
                  <a:schemeClr val="tx1"/>
                </a:solidFill>
              </a:rPr>
              <a:t>BAWAG</a:t>
            </a:r>
            <a:r>
              <a:rPr lang="en-US" sz="1400" dirty="0">
                <a:solidFill>
                  <a:schemeClr val="tx1"/>
                </a:solidFill>
              </a:rPr>
              <a:t> is an Austria-based financial holding company, operating through its main subsidiary </a:t>
            </a:r>
            <a:r>
              <a:rPr lang="en-US" sz="1400" b="1" dirty="0">
                <a:solidFill>
                  <a:schemeClr val="tx1"/>
                </a:solidFill>
              </a:rPr>
              <a:t>BAWAG P.S.K. AG</a:t>
            </a:r>
            <a:r>
              <a:rPr lang="en-US" sz="1400" dirty="0">
                <a:solidFill>
                  <a:schemeClr val="tx1"/>
                </a:solidFill>
              </a:rPr>
              <a:t>.</a:t>
            </a:r>
            <a:endParaRPr lang="en-US" sz="1400" b="1" dirty="0">
              <a:solidFill>
                <a:schemeClr val="tx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Focused on retail, SME, corporate and public sector clients across DACH, Western Europe and the US.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Follows a low-risk, conservative strategy with strong capital and liquidity positions (CET1: 14.2%, LCR: 204%).</a:t>
            </a:r>
          </a:p>
        </p:txBody>
      </p:sp>
      <p:sp>
        <p:nvSpPr>
          <p:cNvPr id="3" name="Rectangle 16">
            <a:extLst>
              <a:ext uri="{FF2B5EF4-FFF2-40B4-BE49-F238E27FC236}">
                <a16:creationId xmlns:a16="http://schemas.microsoft.com/office/drawing/2014/main" id="{8761D43A-8F72-6BCA-903D-ABB6BFD6CB46}"/>
              </a:ext>
            </a:extLst>
          </p:cNvPr>
          <p:cNvSpPr/>
          <p:nvPr/>
        </p:nvSpPr>
        <p:spPr>
          <a:xfrm>
            <a:off x="126814" y="5835574"/>
            <a:ext cx="11811186" cy="628650"/>
          </a:xfrm>
          <a:prstGeom prst="rect">
            <a:avLst/>
          </a:prstGeom>
          <a:solidFill>
            <a:srgbClr val="F0F8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600" b="1" dirty="0">
                <a:solidFill>
                  <a:schemeClr val="tx1"/>
                </a:solidFill>
              </a:rPr>
              <a:t>BAWAG's Pillar 3 disclosure explicitly addresses both economic and normative perspectives, with distinct methodologies, risk scopes and governance for each</a:t>
            </a:r>
          </a:p>
        </p:txBody>
      </p:sp>
      <p:sp>
        <p:nvSpPr>
          <p:cNvPr id="4" name="FtrT">
            <a:extLst>
              <a:ext uri="{FF2B5EF4-FFF2-40B4-BE49-F238E27FC236}">
                <a16:creationId xmlns:a16="http://schemas.microsoft.com/office/drawing/2014/main" id="{4576EE09-5C4B-3D6A-1AD4-2049EDA09977}"/>
              </a:ext>
            </a:extLst>
          </p:cNvPr>
          <p:cNvSpPr txBox="1">
            <a:spLocks noGrp="1"/>
          </p:cNvSpPr>
          <p:nvPr/>
        </p:nvSpPr>
        <p:spPr>
          <a:xfrm>
            <a:off x="228600" y="6477000"/>
            <a:ext cx="11430000" cy="317500"/>
          </a:xfrm>
          <a:prstGeom prst="rect">
            <a:avLst/>
          </a:prstGeom>
          <a:noFill/>
          <a:ln>
            <a:noFill/>
          </a:ln>
        </p:spPr>
        <p:txBody>
          <a:bodyPr wrap="square" anchor="ctr"/>
          <a:lstStyle/>
          <a:p>
            <a:r>
              <a:rPr lang="en-US" sz="1000" dirty="0"/>
              <a:t>Source: BAWAG Pillar 3 Qualitative Report 2025 (ICAAP)</a:t>
            </a:r>
          </a:p>
        </p:txBody>
      </p:sp>
    </p:spTree>
    <p:extLst>
      <p:ext uri="{BB962C8B-B14F-4D97-AF65-F5344CB8AC3E}">
        <p14:creationId xmlns:p14="http://schemas.microsoft.com/office/powerpoint/2010/main" val="96531504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9B2AAD1-AE55-0DBD-0EA0-5AE7951B0B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2CE56B8F-22A7-193B-B606-4DF1AF3F0DCE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b="1" dirty="0"/>
              <a:t>Executive Summary - Key Findings</a:t>
            </a:r>
          </a:p>
        </p:txBody>
      </p:sp>
      <p:sp>
        <p:nvSpPr>
          <p:cNvPr id="5" name="LHdr">
            <a:extLst>
              <a:ext uri="{FF2B5EF4-FFF2-40B4-BE49-F238E27FC236}">
                <a16:creationId xmlns:a16="http://schemas.microsoft.com/office/drawing/2014/main" id="{7922958B-7F02-A7D6-85B7-CD14E09EFF7E}"/>
              </a:ext>
            </a:extLst>
          </p:cNvPr>
          <p:cNvSpPr>
            <a:spLocks noGrp="1"/>
          </p:cNvSpPr>
          <p:nvPr/>
        </p:nvSpPr>
        <p:spPr>
          <a:xfrm>
            <a:off x="190500" y="736600"/>
            <a:ext cx="5588000" cy="355600"/>
          </a:xfrm>
          <a:prstGeom prst="rect">
            <a:avLst/>
          </a:prstGeom>
          <a:solidFill>
            <a:srgbClr val="0B2B65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6" name="LHdrT">
            <a:extLst>
              <a:ext uri="{FF2B5EF4-FFF2-40B4-BE49-F238E27FC236}">
                <a16:creationId xmlns:a16="http://schemas.microsoft.com/office/drawing/2014/main" id="{14F0D271-98A3-65DF-FF5B-4B22F71CCE01}"/>
              </a:ext>
            </a:extLst>
          </p:cNvPr>
          <p:cNvSpPr txBox="1">
            <a:spLocks noGrp="1"/>
          </p:cNvSpPr>
          <p:nvPr/>
        </p:nvSpPr>
        <p:spPr>
          <a:xfrm>
            <a:off x="190500" y="736600"/>
            <a:ext cx="5588000" cy="355600"/>
          </a:xfrm>
          <a:prstGeom prst="rect">
            <a:avLst/>
          </a:prstGeom>
          <a:noFill/>
          <a:ln>
            <a:noFill/>
          </a:ln>
        </p:spPr>
        <p:txBody>
          <a:bodyPr wrap="square" anchor="ctr"/>
          <a:lstStyle/>
          <a:p>
            <a:pPr algn="ctr"/>
            <a:r>
              <a:rPr lang="en-US" sz="1400" b="1" dirty="0">
                <a:solidFill>
                  <a:srgbClr val="FFFFFF"/>
                </a:solidFill>
              </a:rPr>
              <a:t>RWA Composition - Total €22,594m (Dec 2025)</a:t>
            </a:r>
          </a:p>
        </p:txBody>
      </p:sp>
      <p:sp>
        <p:nvSpPr>
          <p:cNvPr id="13" name="Leg color 0">
            <a:extLst>
              <a:ext uri="{FF2B5EF4-FFF2-40B4-BE49-F238E27FC236}">
                <a16:creationId xmlns:a16="http://schemas.microsoft.com/office/drawing/2014/main" id="{60919D30-DE88-264E-9829-A32C1DE9B19A}"/>
              </a:ext>
            </a:extLst>
          </p:cNvPr>
          <p:cNvSpPr>
            <a:spLocks noGrp="1"/>
          </p:cNvSpPr>
          <p:nvPr/>
        </p:nvSpPr>
        <p:spPr>
          <a:xfrm>
            <a:off x="228600" y="2298738"/>
            <a:ext cx="203200" cy="203200"/>
          </a:xfrm>
          <a:prstGeom prst="rect">
            <a:avLst/>
          </a:prstGeom>
          <a:solidFill>
            <a:srgbClr val="0B2B65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4" name="Leg txt 0">
            <a:extLst>
              <a:ext uri="{FF2B5EF4-FFF2-40B4-BE49-F238E27FC236}">
                <a16:creationId xmlns:a16="http://schemas.microsoft.com/office/drawing/2014/main" id="{08350406-799A-C03D-7B23-EAE2A83041ED}"/>
              </a:ext>
            </a:extLst>
          </p:cNvPr>
          <p:cNvSpPr txBox="1">
            <a:spLocks noGrp="1"/>
          </p:cNvSpPr>
          <p:nvPr/>
        </p:nvSpPr>
        <p:spPr>
          <a:xfrm>
            <a:off x="482600" y="2260638"/>
            <a:ext cx="2413000" cy="279400"/>
          </a:xfrm>
          <a:prstGeom prst="rect">
            <a:avLst/>
          </a:prstGeom>
          <a:noFill/>
          <a:ln>
            <a:noFill/>
          </a:ln>
        </p:spPr>
        <p:txBody>
          <a:bodyPr wrap="square" anchor="ctr"/>
          <a:lstStyle/>
          <a:p>
            <a:r>
              <a:rPr lang="en-US" sz="900" dirty="0">
                <a:solidFill>
                  <a:srgbClr val="000000"/>
                </a:solidFill>
              </a:rPr>
              <a:t>Credit Risk Standardised Approach (SA): 54.8% (€12.4bn)</a:t>
            </a:r>
          </a:p>
        </p:txBody>
      </p:sp>
      <p:sp>
        <p:nvSpPr>
          <p:cNvPr id="15" name="Leg color 1">
            <a:extLst>
              <a:ext uri="{FF2B5EF4-FFF2-40B4-BE49-F238E27FC236}">
                <a16:creationId xmlns:a16="http://schemas.microsoft.com/office/drawing/2014/main" id="{9E0327DB-AC3C-B660-510E-881FE6E73167}"/>
              </a:ext>
            </a:extLst>
          </p:cNvPr>
          <p:cNvSpPr>
            <a:spLocks noGrp="1"/>
          </p:cNvSpPr>
          <p:nvPr/>
        </p:nvSpPr>
        <p:spPr>
          <a:xfrm>
            <a:off x="2959100" y="2298738"/>
            <a:ext cx="203200" cy="203200"/>
          </a:xfrm>
          <a:prstGeom prst="rect">
            <a:avLst/>
          </a:prstGeom>
          <a:solidFill>
            <a:srgbClr val="44546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8" name="Leg txt 1">
            <a:extLst>
              <a:ext uri="{FF2B5EF4-FFF2-40B4-BE49-F238E27FC236}">
                <a16:creationId xmlns:a16="http://schemas.microsoft.com/office/drawing/2014/main" id="{87384537-75AC-A61A-28C4-450FE38CDF5B}"/>
              </a:ext>
            </a:extLst>
          </p:cNvPr>
          <p:cNvSpPr txBox="1">
            <a:spLocks noGrp="1"/>
          </p:cNvSpPr>
          <p:nvPr/>
        </p:nvSpPr>
        <p:spPr>
          <a:xfrm>
            <a:off x="3213100" y="2260638"/>
            <a:ext cx="2413000" cy="279400"/>
          </a:xfrm>
          <a:prstGeom prst="rect">
            <a:avLst/>
          </a:prstGeom>
          <a:noFill/>
          <a:ln>
            <a:noFill/>
          </a:ln>
        </p:spPr>
        <p:txBody>
          <a:bodyPr wrap="square" anchor="ctr"/>
          <a:lstStyle/>
          <a:p>
            <a:r>
              <a:rPr lang="en-US" sz="900" dirty="0">
                <a:solidFill>
                  <a:srgbClr val="000000"/>
                </a:solidFill>
              </a:rPr>
              <a:t>Operational Risk Standardised Measurement Approach (SMA): 18.4% (€4.2bn)</a:t>
            </a:r>
          </a:p>
        </p:txBody>
      </p:sp>
      <p:sp>
        <p:nvSpPr>
          <p:cNvPr id="19" name="Leg color 2">
            <a:extLst>
              <a:ext uri="{FF2B5EF4-FFF2-40B4-BE49-F238E27FC236}">
                <a16:creationId xmlns:a16="http://schemas.microsoft.com/office/drawing/2014/main" id="{DD2B2FCC-F0B4-B709-946A-DA070615D33E}"/>
              </a:ext>
            </a:extLst>
          </p:cNvPr>
          <p:cNvSpPr>
            <a:spLocks noGrp="1"/>
          </p:cNvSpPr>
          <p:nvPr/>
        </p:nvSpPr>
        <p:spPr>
          <a:xfrm>
            <a:off x="228600" y="2628938"/>
            <a:ext cx="203200" cy="203200"/>
          </a:xfrm>
          <a:prstGeom prst="rect">
            <a:avLst/>
          </a:prstGeom>
          <a:solidFill>
            <a:srgbClr val="9BA7C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0" name="Leg txt 2">
            <a:extLst>
              <a:ext uri="{FF2B5EF4-FFF2-40B4-BE49-F238E27FC236}">
                <a16:creationId xmlns:a16="http://schemas.microsoft.com/office/drawing/2014/main" id="{A753C8A2-5185-E4CB-136C-F88A95D7069C}"/>
              </a:ext>
            </a:extLst>
          </p:cNvPr>
          <p:cNvSpPr txBox="1">
            <a:spLocks noGrp="1"/>
          </p:cNvSpPr>
          <p:nvPr/>
        </p:nvSpPr>
        <p:spPr>
          <a:xfrm>
            <a:off x="482600" y="2590838"/>
            <a:ext cx="2413000" cy="279400"/>
          </a:xfrm>
          <a:prstGeom prst="rect">
            <a:avLst/>
          </a:prstGeom>
          <a:noFill/>
          <a:ln>
            <a:noFill/>
          </a:ln>
        </p:spPr>
        <p:txBody>
          <a:bodyPr wrap="square" anchor="ctr"/>
          <a:lstStyle/>
          <a:p>
            <a:r>
              <a:rPr lang="en-US" sz="900" dirty="0">
                <a:solidFill>
                  <a:srgbClr val="000000"/>
                </a:solidFill>
              </a:rPr>
              <a:t>Securitisation Risk-Weighted Assets: 9.5% (€2.2bn)</a:t>
            </a:r>
          </a:p>
        </p:txBody>
      </p:sp>
      <p:sp>
        <p:nvSpPr>
          <p:cNvPr id="23" name="Leg color 3">
            <a:extLst>
              <a:ext uri="{FF2B5EF4-FFF2-40B4-BE49-F238E27FC236}">
                <a16:creationId xmlns:a16="http://schemas.microsoft.com/office/drawing/2014/main" id="{D7CBFABC-ED5B-D978-B5AD-A6E0DBD74988}"/>
              </a:ext>
            </a:extLst>
          </p:cNvPr>
          <p:cNvSpPr>
            <a:spLocks noGrp="1"/>
          </p:cNvSpPr>
          <p:nvPr/>
        </p:nvSpPr>
        <p:spPr>
          <a:xfrm>
            <a:off x="2959100" y="2628938"/>
            <a:ext cx="203200" cy="203200"/>
          </a:xfrm>
          <a:prstGeom prst="rect">
            <a:avLst/>
          </a:prstGeom>
          <a:solidFill>
            <a:srgbClr val="1A5187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5" name="Leg txt 3">
            <a:extLst>
              <a:ext uri="{FF2B5EF4-FFF2-40B4-BE49-F238E27FC236}">
                <a16:creationId xmlns:a16="http://schemas.microsoft.com/office/drawing/2014/main" id="{85A60088-9D01-2BC7-019E-8C28811D417F}"/>
              </a:ext>
            </a:extLst>
          </p:cNvPr>
          <p:cNvSpPr txBox="1">
            <a:spLocks noGrp="1"/>
          </p:cNvSpPr>
          <p:nvPr/>
        </p:nvSpPr>
        <p:spPr>
          <a:xfrm>
            <a:off x="3213100" y="2590838"/>
            <a:ext cx="2413000" cy="279400"/>
          </a:xfrm>
          <a:prstGeom prst="rect">
            <a:avLst/>
          </a:prstGeom>
          <a:noFill/>
          <a:ln>
            <a:noFill/>
          </a:ln>
        </p:spPr>
        <p:txBody>
          <a:bodyPr wrap="square" anchor="ctr"/>
          <a:lstStyle/>
          <a:p>
            <a:r>
              <a:rPr lang="en-US" sz="900" dirty="0">
                <a:solidFill>
                  <a:srgbClr val="000000"/>
                </a:solidFill>
              </a:rPr>
              <a:t>Credit Risk Slotting Approach: 9.0% (€2.0bn)</a:t>
            </a:r>
          </a:p>
        </p:txBody>
      </p:sp>
      <p:sp>
        <p:nvSpPr>
          <p:cNvPr id="26" name="Leg color 4">
            <a:extLst>
              <a:ext uri="{FF2B5EF4-FFF2-40B4-BE49-F238E27FC236}">
                <a16:creationId xmlns:a16="http://schemas.microsoft.com/office/drawing/2014/main" id="{95E3C30F-5FB5-A7A3-71AB-44B704C9A3D4}"/>
              </a:ext>
            </a:extLst>
          </p:cNvPr>
          <p:cNvSpPr>
            <a:spLocks noGrp="1"/>
          </p:cNvSpPr>
          <p:nvPr/>
        </p:nvSpPr>
        <p:spPr>
          <a:xfrm>
            <a:off x="228600" y="2959138"/>
            <a:ext cx="203200" cy="203200"/>
          </a:xfrm>
          <a:prstGeom prst="rect">
            <a:avLst/>
          </a:prstGeom>
          <a:solidFill>
            <a:srgbClr val="6B7B99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7" name="Leg txt 4">
            <a:extLst>
              <a:ext uri="{FF2B5EF4-FFF2-40B4-BE49-F238E27FC236}">
                <a16:creationId xmlns:a16="http://schemas.microsoft.com/office/drawing/2014/main" id="{257CE6D4-1F26-8183-7151-5D9E340227EA}"/>
              </a:ext>
            </a:extLst>
          </p:cNvPr>
          <p:cNvSpPr txBox="1">
            <a:spLocks noGrp="1"/>
          </p:cNvSpPr>
          <p:nvPr/>
        </p:nvSpPr>
        <p:spPr>
          <a:xfrm>
            <a:off x="482600" y="2921038"/>
            <a:ext cx="2413000" cy="279400"/>
          </a:xfrm>
          <a:prstGeom prst="rect">
            <a:avLst/>
          </a:prstGeom>
          <a:noFill/>
          <a:ln>
            <a:noFill/>
          </a:ln>
        </p:spPr>
        <p:txBody>
          <a:bodyPr wrap="square" anchor="ctr"/>
          <a:lstStyle/>
          <a:p>
            <a:r>
              <a:rPr lang="en-US" sz="900" dirty="0">
                <a:solidFill>
                  <a:srgbClr val="000000"/>
                </a:solidFill>
              </a:rPr>
              <a:t>Credit Risk Foundation Internal Ratings-Based (F-IRB): 4.9% (€1.1bn)</a:t>
            </a:r>
          </a:p>
        </p:txBody>
      </p:sp>
      <p:sp>
        <p:nvSpPr>
          <p:cNvPr id="30" name="Leg color 5">
            <a:extLst>
              <a:ext uri="{FF2B5EF4-FFF2-40B4-BE49-F238E27FC236}">
                <a16:creationId xmlns:a16="http://schemas.microsoft.com/office/drawing/2014/main" id="{5DFD2B5E-024F-E246-3612-9EC0BCEBA656}"/>
              </a:ext>
            </a:extLst>
          </p:cNvPr>
          <p:cNvSpPr>
            <a:spLocks noGrp="1"/>
          </p:cNvSpPr>
          <p:nvPr/>
        </p:nvSpPr>
        <p:spPr>
          <a:xfrm>
            <a:off x="2959100" y="2959138"/>
            <a:ext cx="203200" cy="20320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36" name="Leg txt 5">
            <a:extLst>
              <a:ext uri="{FF2B5EF4-FFF2-40B4-BE49-F238E27FC236}">
                <a16:creationId xmlns:a16="http://schemas.microsoft.com/office/drawing/2014/main" id="{B8B5B7E1-683F-4222-39BB-C3D231715275}"/>
              </a:ext>
            </a:extLst>
          </p:cNvPr>
          <p:cNvSpPr txBox="1">
            <a:spLocks noGrp="1"/>
          </p:cNvSpPr>
          <p:nvPr/>
        </p:nvSpPr>
        <p:spPr>
          <a:xfrm>
            <a:off x="3213100" y="2921038"/>
            <a:ext cx="2413000" cy="279400"/>
          </a:xfrm>
          <a:prstGeom prst="rect">
            <a:avLst/>
          </a:prstGeom>
          <a:noFill/>
          <a:ln>
            <a:noFill/>
          </a:ln>
        </p:spPr>
        <p:txBody>
          <a:bodyPr wrap="square" anchor="ctr"/>
          <a:lstStyle/>
          <a:p>
            <a:r>
              <a:rPr lang="en-US" sz="900" dirty="0">
                <a:solidFill>
                  <a:srgbClr val="000000"/>
                </a:solidFill>
              </a:rPr>
              <a:t>Counterparty Credit Risk + Credit Valuation Adjustment (CCR+CVA): 1% (€0.2bn)</a:t>
            </a:r>
          </a:p>
        </p:txBody>
      </p:sp>
      <p:sp>
        <p:nvSpPr>
          <p:cNvPr id="37" name="MR note">
            <a:extLst>
              <a:ext uri="{FF2B5EF4-FFF2-40B4-BE49-F238E27FC236}">
                <a16:creationId xmlns:a16="http://schemas.microsoft.com/office/drawing/2014/main" id="{1F0CB32C-19A3-9AA4-7493-DCB9803A02ED}"/>
              </a:ext>
            </a:extLst>
          </p:cNvPr>
          <p:cNvSpPr txBox="1">
            <a:spLocks noGrp="1"/>
          </p:cNvSpPr>
          <p:nvPr/>
        </p:nvSpPr>
        <p:spPr>
          <a:xfrm>
            <a:off x="228600" y="3340138"/>
            <a:ext cx="5562600" cy="381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r>
              <a:rPr lang="en-US" sz="1100" b="1" dirty="0">
                <a:solidFill>
                  <a:srgbClr val="0B2B65"/>
                </a:solidFill>
              </a:rPr>
              <a:t>Market Risk Risk-Weighted Assets (RWA) = €0 </a:t>
            </a:r>
            <a:r>
              <a:rPr lang="en-US" sz="1100" dirty="0">
                <a:solidFill>
                  <a:srgbClr val="44546A"/>
                </a:solidFill>
              </a:rPr>
              <a:t>(No trading book - defining model feature)</a:t>
            </a:r>
          </a:p>
        </p:txBody>
      </p:sp>
      <p:sp>
        <p:nvSpPr>
          <p:cNvPr id="38" name="RHdr">
            <a:extLst>
              <a:ext uri="{FF2B5EF4-FFF2-40B4-BE49-F238E27FC236}">
                <a16:creationId xmlns:a16="http://schemas.microsoft.com/office/drawing/2014/main" id="{EC50CD0C-DC2D-9D16-F66D-B571A4A7166F}"/>
              </a:ext>
            </a:extLst>
          </p:cNvPr>
          <p:cNvSpPr>
            <a:spLocks noGrp="1"/>
          </p:cNvSpPr>
          <p:nvPr/>
        </p:nvSpPr>
        <p:spPr>
          <a:xfrm>
            <a:off x="5867400" y="736600"/>
            <a:ext cx="6159500" cy="355600"/>
          </a:xfrm>
          <a:prstGeom prst="rect">
            <a:avLst/>
          </a:prstGeom>
          <a:solidFill>
            <a:srgbClr val="0B2B65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39" name="RHdrT">
            <a:extLst>
              <a:ext uri="{FF2B5EF4-FFF2-40B4-BE49-F238E27FC236}">
                <a16:creationId xmlns:a16="http://schemas.microsoft.com/office/drawing/2014/main" id="{9F945276-B0DA-24E6-8379-24978E0E6A83}"/>
              </a:ext>
            </a:extLst>
          </p:cNvPr>
          <p:cNvSpPr txBox="1">
            <a:spLocks noGrp="1"/>
          </p:cNvSpPr>
          <p:nvPr/>
        </p:nvSpPr>
        <p:spPr>
          <a:xfrm>
            <a:off x="5867400" y="736600"/>
            <a:ext cx="6159500" cy="355600"/>
          </a:xfrm>
          <a:prstGeom prst="rect">
            <a:avLst/>
          </a:prstGeom>
          <a:noFill/>
          <a:ln>
            <a:noFill/>
          </a:ln>
        </p:spPr>
        <p:txBody>
          <a:bodyPr wrap="square" anchor="ctr"/>
          <a:lstStyle/>
          <a:p>
            <a:pPr algn="ctr"/>
            <a:r>
              <a:rPr lang="en-US" sz="1400" b="1" dirty="0">
                <a:solidFill>
                  <a:srgbClr val="FFFFFF"/>
                </a:solidFill>
              </a:rPr>
              <a:t>Risk Type Deep Dive</a:t>
            </a:r>
          </a:p>
        </p:txBody>
      </p:sp>
      <p:sp>
        <p:nvSpPr>
          <p:cNvPr id="40" name="Risk bg 0">
            <a:extLst>
              <a:ext uri="{FF2B5EF4-FFF2-40B4-BE49-F238E27FC236}">
                <a16:creationId xmlns:a16="http://schemas.microsoft.com/office/drawing/2014/main" id="{E1E5346D-1350-A458-7F24-2E96B5BEBECB}"/>
              </a:ext>
            </a:extLst>
          </p:cNvPr>
          <p:cNvSpPr>
            <a:spLocks noGrp="1"/>
          </p:cNvSpPr>
          <p:nvPr/>
        </p:nvSpPr>
        <p:spPr>
          <a:xfrm>
            <a:off x="5867400" y="1143000"/>
            <a:ext cx="6134100" cy="965200"/>
          </a:xfrm>
          <a:prstGeom prst="rect">
            <a:avLst/>
          </a:prstGeom>
          <a:solidFill>
            <a:srgbClr val="F8F9FB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41" name="Risk bar 0">
            <a:extLst>
              <a:ext uri="{FF2B5EF4-FFF2-40B4-BE49-F238E27FC236}">
                <a16:creationId xmlns:a16="http://schemas.microsoft.com/office/drawing/2014/main" id="{ABF5B01B-C0CD-81EB-3098-59A22B48E294}"/>
              </a:ext>
            </a:extLst>
          </p:cNvPr>
          <p:cNvSpPr>
            <a:spLocks noGrp="1"/>
          </p:cNvSpPr>
          <p:nvPr/>
        </p:nvSpPr>
        <p:spPr>
          <a:xfrm>
            <a:off x="5867400" y="1143000"/>
            <a:ext cx="76200" cy="965200"/>
          </a:xfrm>
          <a:prstGeom prst="rect">
            <a:avLst/>
          </a:prstGeom>
          <a:solidFill>
            <a:srgbClr val="0B2B65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42" name="Risk name 0">
            <a:extLst>
              <a:ext uri="{FF2B5EF4-FFF2-40B4-BE49-F238E27FC236}">
                <a16:creationId xmlns:a16="http://schemas.microsoft.com/office/drawing/2014/main" id="{38C4AC24-A40E-DB50-7E68-4304AC00F25B}"/>
              </a:ext>
            </a:extLst>
          </p:cNvPr>
          <p:cNvSpPr txBox="1">
            <a:spLocks noGrp="1"/>
          </p:cNvSpPr>
          <p:nvPr/>
        </p:nvSpPr>
        <p:spPr>
          <a:xfrm>
            <a:off x="6019800" y="1181100"/>
            <a:ext cx="3556000" cy="3302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r>
              <a:rPr lang="en-US" sz="1300" b="1" dirty="0">
                <a:solidFill>
                  <a:srgbClr val="0B2B65"/>
                </a:solidFill>
              </a:rPr>
              <a:t>Credit Risk</a:t>
            </a:r>
          </a:p>
        </p:txBody>
      </p:sp>
      <p:sp>
        <p:nvSpPr>
          <p:cNvPr id="43" name="Risk share 0">
            <a:extLst>
              <a:ext uri="{FF2B5EF4-FFF2-40B4-BE49-F238E27FC236}">
                <a16:creationId xmlns:a16="http://schemas.microsoft.com/office/drawing/2014/main" id="{33E0B2D8-F87B-81F5-BC25-3439BFEF9A3C}"/>
              </a:ext>
            </a:extLst>
          </p:cNvPr>
          <p:cNvSpPr txBox="1">
            <a:spLocks noGrp="1"/>
          </p:cNvSpPr>
          <p:nvPr/>
        </p:nvSpPr>
        <p:spPr>
          <a:xfrm>
            <a:off x="9613900" y="1181100"/>
            <a:ext cx="2311400" cy="3556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r"/>
            <a:r>
              <a:rPr lang="en-US" sz="1400" b="1" dirty="0">
                <a:solidFill>
                  <a:srgbClr val="0B2B65"/>
                </a:solidFill>
              </a:rPr>
              <a:t>71.0% | €16,049m</a:t>
            </a:r>
          </a:p>
        </p:txBody>
      </p:sp>
      <p:sp>
        <p:nvSpPr>
          <p:cNvPr id="44" name="Risk detail 0">
            <a:extLst>
              <a:ext uri="{FF2B5EF4-FFF2-40B4-BE49-F238E27FC236}">
                <a16:creationId xmlns:a16="http://schemas.microsoft.com/office/drawing/2014/main" id="{310CC4DD-61AB-585C-AF8D-176F91BF56EF}"/>
              </a:ext>
            </a:extLst>
          </p:cNvPr>
          <p:cNvSpPr txBox="1">
            <a:spLocks noGrp="1"/>
          </p:cNvSpPr>
          <p:nvPr/>
        </p:nvSpPr>
        <p:spPr>
          <a:xfrm>
            <a:off x="6019800" y="1435100"/>
            <a:ext cx="5930900" cy="5842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r>
              <a:rPr lang="en-US" sz="900" dirty="0">
                <a:solidFill>
                  <a:srgbClr val="44546A"/>
                </a:solidFill>
              </a:rPr>
              <a:t>Normative: Standardised Approach (SA) 54.8% + Foundation Internal Ratings-Based (F-IRB) 4.9% + Slotting 9.0%
Economic: Merton-Vasicek single-factor model at 99.9% confidence</a:t>
            </a:r>
          </a:p>
          <a:p>
            <a:r>
              <a:rPr lang="en-US" sz="900" b="1" dirty="0">
                <a:solidFill>
                  <a:srgbClr val="000000"/>
                </a:solidFill>
              </a:rPr>
              <a:t>Non-Performing Loans (NPL): 0.8%| Coverage ratio: 68% | Corporate NPL: 1.1%</a:t>
            </a:r>
          </a:p>
        </p:txBody>
      </p:sp>
      <p:sp>
        <p:nvSpPr>
          <p:cNvPr id="45" name="Risk bg 1">
            <a:extLst>
              <a:ext uri="{FF2B5EF4-FFF2-40B4-BE49-F238E27FC236}">
                <a16:creationId xmlns:a16="http://schemas.microsoft.com/office/drawing/2014/main" id="{7EC27C4C-4AA3-A213-E3A9-1FE46A7E44BD}"/>
              </a:ext>
            </a:extLst>
          </p:cNvPr>
          <p:cNvSpPr>
            <a:spLocks noGrp="1"/>
          </p:cNvSpPr>
          <p:nvPr/>
        </p:nvSpPr>
        <p:spPr>
          <a:xfrm>
            <a:off x="5867400" y="2159000"/>
            <a:ext cx="6134100" cy="965200"/>
          </a:xfrm>
          <a:prstGeom prst="rect">
            <a:avLst/>
          </a:prstGeom>
          <a:solidFill>
            <a:srgbClr val="F8F9FB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46" name="Risk bar 1">
            <a:extLst>
              <a:ext uri="{FF2B5EF4-FFF2-40B4-BE49-F238E27FC236}">
                <a16:creationId xmlns:a16="http://schemas.microsoft.com/office/drawing/2014/main" id="{9BE87DFA-F1C3-EE2C-5DA4-FD26FDC876EF}"/>
              </a:ext>
            </a:extLst>
          </p:cNvPr>
          <p:cNvSpPr>
            <a:spLocks noGrp="1"/>
          </p:cNvSpPr>
          <p:nvPr/>
        </p:nvSpPr>
        <p:spPr>
          <a:xfrm>
            <a:off x="5867400" y="2159000"/>
            <a:ext cx="76200" cy="965200"/>
          </a:xfrm>
          <a:prstGeom prst="rect">
            <a:avLst/>
          </a:prstGeom>
          <a:solidFill>
            <a:srgbClr val="44546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47" name="Risk name 1">
            <a:extLst>
              <a:ext uri="{FF2B5EF4-FFF2-40B4-BE49-F238E27FC236}">
                <a16:creationId xmlns:a16="http://schemas.microsoft.com/office/drawing/2014/main" id="{0CB385F9-FD1A-CAAD-1421-7D4DB3E82932}"/>
              </a:ext>
            </a:extLst>
          </p:cNvPr>
          <p:cNvSpPr txBox="1">
            <a:spLocks noGrp="1"/>
          </p:cNvSpPr>
          <p:nvPr/>
        </p:nvSpPr>
        <p:spPr>
          <a:xfrm>
            <a:off x="6019800" y="2197100"/>
            <a:ext cx="3556000" cy="3302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r>
              <a:rPr lang="en-US" sz="1300" b="1" dirty="0">
                <a:solidFill>
                  <a:srgbClr val="44546A"/>
                </a:solidFill>
              </a:rPr>
              <a:t>Operational Risk</a:t>
            </a:r>
          </a:p>
        </p:txBody>
      </p:sp>
      <p:sp>
        <p:nvSpPr>
          <p:cNvPr id="48" name="Risk share 1">
            <a:extLst>
              <a:ext uri="{FF2B5EF4-FFF2-40B4-BE49-F238E27FC236}">
                <a16:creationId xmlns:a16="http://schemas.microsoft.com/office/drawing/2014/main" id="{48414139-2A6D-D3E4-B890-20C012AE1C51}"/>
              </a:ext>
            </a:extLst>
          </p:cNvPr>
          <p:cNvSpPr txBox="1">
            <a:spLocks noGrp="1"/>
          </p:cNvSpPr>
          <p:nvPr/>
        </p:nvSpPr>
        <p:spPr>
          <a:xfrm>
            <a:off x="9613900" y="2184400"/>
            <a:ext cx="2311400" cy="3556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r"/>
            <a:r>
              <a:rPr lang="en-US" sz="1400" b="1" dirty="0">
                <a:solidFill>
                  <a:srgbClr val="44546A"/>
                </a:solidFill>
              </a:rPr>
              <a:t>18.4% | €4,160m</a:t>
            </a:r>
          </a:p>
        </p:txBody>
      </p:sp>
      <p:sp>
        <p:nvSpPr>
          <p:cNvPr id="49" name="Risk detail 1">
            <a:extLst>
              <a:ext uri="{FF2B5EF4-FFF2-40B4-BE49-F238E27FC236}">
                <a16:creationId xmlns:a16="http://schemas.microsoft.com/office/drawing/2014/main" id="{626FF906-F74E-8BF5-DA03-05242DFC92D4}"/>
              </a:ext>
            </a:extLst>
          </p:cNvPr>
          <p:cNvSpPr txBox="1">
            <a:spLocks noGrp="1"/>
          </p:cNvSpPr>
          <p:nvPr/>
        </p:nvSpPr>
        <p:spPr>
          <a:xfrm>
            <a:off x="6019800" y="2451100"/>
            <a:ext cx="5930900" cy="5842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r>
              <a:rPr lang="en-US" sz="900" dirty="0">
                <a:solidFill>
                  <a:srgbClr val="44546A"/>
                </a:solidFill>
              </a:rPr>
              <a:t>Normative: Standardised Measurement Approach (SMA)
Economic: SMA + expert overlays (legal, cyber, Environmental Social Governance (ESG))</a:t>
            </a:r>
          </a:p>
          <a:p>
            <a:r>
              <a:rPr lang="en-US" sz="900" b="1" dirty="0">
                <a:solidFill>
                  <a:srgbClr val="000000"/>
                </a:solidFill>
              </a:rPr>
              <a:t>Actual losses FY2025: €2m | Events above €20k threshold: 41</a:t>
            </a:r>
          </a:p>
        </p:txBody>
      </p:sp>
      <p:sp>
        <p:nvSpPr>
          <p:cNvPr id="50" name="Risk bg 2">
            <a:extLst>
              <a:ext uri="{FF2B5EF4-FFF2-40B4-BE49-F238E27FC236}">
                <a16:creationId xmlns:a16="http://schemas.microsoft.com/office/drawing/2014/main" id="{6C1877CA-ED0F-20AB-5593-0DA12651F1AE}"/>
              </a:ext>
            </a:extLst>
          </p:cNvPr>
          <p:cNvSpPr>
            <a:spLocks noGrp="1"/>
          </p:cNvSpPr>
          <p:nvPr/>
        </p:nvSpPr>
        <p:spPr>
          <a:xfrm>
            <a:off x="5867400" y="3175000"/>
            <a:ext cx="6134100" cy="965200"/>
          </a:xfrm>
          <a:prstGeom prst="rect">
            <a:avLst/>
          </a:prstGeom>
          <a:solidFill>
            <a:srgbClr val="F8F9FB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1" name="Risk bar 2">
            <a:extLst>
              <a:ext uri="{FF2B5EF4-FFF2-40B4-BE49-F238E27FC236}">
                <a16:creationId xmlns:a16="http://schemas.microsoft.com/office/drawing/2014/main" id="{389CED3A-B287-1425-9BA5-9B373754CC09}"/>
              </a:ext>
            </a:extLst>
          </p:cNvPr>
          <p:cNvSpPr>
            <a:spLocks noGrp="1"/>
          </p:cNvSpPr>
          <p:nvPr/>
        </p:nvSpPr>
        <p:spPr>
          <a:xfrm>
            <a:off x="5867400" y="3175000"/>
            <a:ext cx="76200" cy="965200"/>
          </a:xfrm>
          <a:prstGeom prst="rect">
            <a:avLst/>
          </a:prstGeom>
          <a:solidFill>
            <a:srgbClr val="1A5187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2" name="Risk name 2">
            <a:extLst>
              <a:ext uri="{FF2B5EF4-FFF2-40B4-BE49-F238E27FC236}">
                <a16:creationId xmlns:a16="http://schemas.microsoft.com/office/drawing/2014/main" id="{FE4A2DA4-C20E-1CCA-4C30-E2B459BEABB6}"/>
              </a:ext>
            </a:extLst>
          </p:cNvPr>
          <p:cNvSpPr txBox="1">
            <a:spLocks noGrp="1"/>
          </p:cNvSpPr>
          <p:nvPr/>
        </p:nvSpPr>
        <p:spPr>
          <a:xfrm>
            <a:off x="6019800" y="3213100"/>
            <a:ext cx="3556000" cy="3302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r>
              <a:rPr lang="en-US" sz="1300" b="1" dirty="0">
                <a:solidFill>
                  <a:srgbClr val="1A5187"/>
                </a:solidFill>
              </a:rPr>
              <a:t>Market Risk</a:t>
            </a:r>
          </a:p>
        </p:txBody>
      </p:sp>
      <p:sp>
        <p:nvSpPr>
          <p:cNvPr id="53" name="Risk share 2">
            <a:extLst>
              <a:ext uri="{FF2B5EF4-FFF2-40B4-BE49-F238E27FC236}">
                <a16:creationId xmlns:a16="http://schemas.microsoft.com/office/drawing/2014/main" id="{5188D70F-1CFC-10CF-7D67-655FF65B7968}"/>
              </a:ext>
            </a:extLst>
          </p:cNvPr>
          <p:cNvSpPr txBox="1">
            <a:spLocks noGrp="1"/>
          </p:cNvSpPr>
          <p:nvPr/>
        </p:nvSpPr>
        <p:spPr>
          <a:xfrm>
            <a:off x="9613900" y="3200400"/>
            <a:ext cx="2311400" cy="3556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r"/>
            <a:r>
              <a:rPr lang="en-US" sz="1400" b="1" dirty="0">
                <a:solidFill>
                  <a:srgbClr val="1A5187"/>
                </a:solidFill>
              </a:rPr>
              <a:t>0% | €0</a:t>
            </a:r>
          </a:p>
        </p:txBody>
      </p:sp>
      <p:sp>
        <p:nvSpPr>
          <p:cNvPr id="54" name="Risk detail 2">
            <a:extLst>
              <a:ext uri="{FF2B5EF4-FFF2-40B4-BE49-F238E27FC236}">
                <a16:creationId xmlns:a16="http://schemas.microsoft.com/office/drawing/2014/main" id="{DE5FEF45-1BB9-58D1-D6A8-491F2F13CB28}"/>
              </a:ext>
            </a:extLst>
          </p:cNvPr>
          <p:cNvSpPr txBox="1">
            <a:spLocks noGrp="1"/>
          </p:cNvSpPr>
          <p:nvPr/>
        </p:nvSpPr>
        <p:spPr>
          <a:xfrm>
            <a:off x="6019800" y="3428962"/>
            <a:ext cx="6070600" cy="609638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r>
              <a:rPr lang="en-US" sz="900" dirty="0">
                <a:solidFill>
                  <a:srgbClr val="44546A"/>
                </a:solidFill>
              </a:rPr>
              <a:t>No Pillar 1 Risk-Weighted Assets (RWA) - zero trading book
Interest Rate Risk in the Banking Book (IRRBB): Value-at-Risk (VaR) gen. hyperbolic, Economic Value of Equity (EVE) / Net Interest Income (NII)</a:t>
            </a:r>
          </a:p>
          <a:p>
            <a:r>
              <a:rPr lang="en-US" sz="900" b="1" dirty="0">
                <a:solidFill>
                  <a:srgbClr val="000000"/>
                </a:solidFill>
              </a:rPr>
              <a:t>Parallel Up shock: EVE -€406m (-12.4% of Tier 1 capital) - within Supervisory Outlier Test (SOT) limit</a:t>
            </a:r>
          </a:p>
        </p:txBody>
      </p:sp>
      <p:sp>
        <p:nvSpPr>
          <p:cNvPr id="55" name="Risk bg 3">
            <a:extLst>
              <a:ext uri="{FF2B5EF4-FFF2-40B4-BE49-F238E27FC236}">
                <a16:creationId xmlns:a16="http://schemas.microsoft.com/office/drawing/2014/main" id="{8A1B1249-487E-6E9D-C902-01A100141FFE}"/>
              </a:ext>
            </a:extLst>
          </p:cNvPr>
          <p:cNvSpPr>
            <a:spLocks noGrp="1"/>
          </p:cNvSpPr>
          <p:nvPr/>
        </p:nvSpPr>
        <p:spPr>
          <a:xfrm>
            <a:off x="5867400" y="4191000"/>
            <a:ext cx="6134100" cy="965200"/>
          </a:xfrm>
          <a:prstGeom prst="rect">
            <a:avLst/>
          </a:prstGeom>
          <a:solidFill>
            <a:srgbClr val="F8F9FB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6" name="Risk bar 3">
            <a:extLst>
              <a:ext uri="{FF2B5EF4-FFF2-40B4-BE49-F238E27FC236}">
                <a16:creationId xmlns:a16="http://schemas.microsoft.com/office/drawing/2014/main" id="{9C7B103F-5F51-FD91-4D42-C00E3F4CD0A4}"/>
              </a:ext>
            </a:extLst>
          </p:cNvPr>
          <p:cNvSpPr>
            <a:spLocks noGrp="1"/>
          </p:cNvSpPr>
          <p:nvPr/>
        </p:nvSpPr>
        <p:spPr>
          <a:xfrm>
            <a:off x="5867400" y="4191000"/>
            <a:ext cx="76200" cy="965200"/>
          </a:xfrm>
          <a:prstGeom prst="rect">
            <a:avLst/>
          </a:prstGeom>
          <a:solidFill>
            <a:srgbClr val="9BA7C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7" name="Risk name 3">
            <a:extLst>
              <a:ext uri="{FF2B5EF4-FFF2-40B4-BE49-F238E27FC236}">
                <a16:creationId xmlns:a16="http://schemas.microsoft.com/office/drawing/2014/main" id="{8C3EAFBC-DA81-3D4D-C7A4-BC67C13F0FA0}"/>
              </a:ext>
            </a:extLst>
          </p:cNvPr>
          <p:cNvSpPr txBox="1">
            <a:spLocks noGrp="1"/>
          </p:cNvSpPr>
          <p:nvPr/>
        </p:nvSpPr>
        <p:spPr>
          <a:xfrm>
            <a:off x="6019800" y="4229100"/>
            <a:ext cx="3556000" cy="3302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r>
              <a:rPr lang="en-US" sz="1300" b="1" dirty="0">
                <a:solidFill>
                  <a:srgbClr val="0B2B65"/>
                </a:solidFill>
              </a:rPr>
              <a:t>Liquidity Risk</a:t>
            </a:r>
          </a:p>
        </p:txBody>
      </p:sp>
      <p:sp>
        <p:nvSpPr>
          <p:cNvPr id="58" name="Risk share 3">
            <a:extLst>
              <a:ext uri="{FF2B5EF4-FFF2-40B4-BE49-F238E27FC236}">
                <a16:creationId xmlns:a16="http://schemas.microsoft.com/office/drawing/2014/main" id="{5403F83D-540E-A55D-2134-69070F145DE9}"/>
              </a:ext>
            </a:extLst>
          </p:cNvPr>
          <p:cNvSpPr txBox="1">
            <a:spLocks noGrp="1"/>
          </p:cNvSpPr>
          <p:nvPr/>
        </p:nvSpPr>
        <p:spPr>
          <a:xfrm>
            <a:off x="9613900" y="4216400"/>
            <a:ext cx="2311400" cy="3556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r"/>
            <a:r>
              <a:rPr lang="en-US" sz="1400" b="1" dirty="0">
                <a:solidFill>
                  <a:srgbClr val="44546A"/>
                </a:solidFill>
              </a:rPr>
              <a:t>N/A | LCR 218%</a:t>
            </a:r>
          </a:p>
        </p:txBody>
      </p:sp>
      <p:sp>
        <p:nvSpPr>
          <p:cNvPr id="59" name="Risk detail 3">
            <a:extLst>
              <a:ext uri="{FF2B5EF4-FFF2-40B4-BE49-F238E27FC236}">
                <a16:creationId xmlns:a16="http://schemas.microsoft.com/office/drawing/2014/main" id="{77E68FBF-B67B-4767-F41A-4EE53DB35748}"/>
              </a:ext>
            </a:extLst>
          </p:cNvPr>
          <p:cNvSpPr txBox="1">
            <a:spLocks noGrp="1"/>
          </p:cNvSpPr>
          <p:nvPr/>
        </p:nvSpPr>
        <p:spPr>
          <a:xfrm>
            <a:off x="6019800" y="4470400"/>
            <a:ext cx="5930900" cy="5842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r>
              <a:rPr lang="en-US" sz="900" dirty="0">
                <a:solidFill>
                  <a:srgbClr val="44546A"/>
                </a:solidFill>
              </a:rPr>
              <a:t>Liquidity Coverage Ratio (LCR) / Net Stable Funding Ratio (NSFR) (regulatory); Gap analysis + historical worst-case
Climate scenarios integrated into daily Net Liquidity Position (NLP) since 2024</a:t>
            </a:r>
          </a:p>
          <a:p>
            <a:r>
              <a:rPr lang="en-US" sz="900" b="1" dirty="0">
                <a:solidFill>
                  <a:srgbClr val="000000"/>
                </a:solidFill>
              </a:rPr>
              <a:t>High Quality Liquid Assets (HQLA): €14.5bn | Deposit beta: 37% (Q4 2025)</a:t>
            </a:r>
          </a:p>
        </p:txBody>
      </p:sp>
      <p:sp>
        <p:nvSpPr>
          <p:cNvPr id="60" name="Div">
            <a:extLst>
              <a:ext uri="{FF2B5EF4-FFF2-40B4-BE49-F238E27FC236}">
                <a16:creationId xmlns:a16="http://schemas.microsoft.com/office/drawing/2014/main" id="{21C4CF78-2A59-1B8C-A7BC-E98434589F52}"/>
              </a:ext>
            </a:extLst>
          </p:cNvPr>
          <p:cNvSpPr>
            <a:spLocks noGrp="1"/>
          </p:cNvSpPr>
          <p:nvPr/>
        </p:nvSpPr>
        <p:spPr>
          <a:xfrm>
            <a:off x="5791200" y="698500"/>
            <a:ext cx="25400" cy="5651500"/>
          </a:xfrm>
          <a:prstGeom prst="rect">
            <a:avLst/>
          </a:prstGeom>
          <a:solidFill>
            <a:srgbClr val="E7E6E6"/>
          </a:solidFill>
          <a:ln>
            <a:noFill/>
          </a:ln>
        </p:spPr>
        <p:txBody>
          <a:bodyPr/>
          <a:lstStyle/>
          <a:p>
            <a:endParaRPr/>
          </a:p>
        </p:txBody>
      </p:sp>
      <p:graphicFrame>
        <p:nvGraphicFramePr>
          <p:cNvPr id="4" name="Chart 3">
            <a:extLst>
              <a:ext uri="{FF2B5EF4-FFF2-40B4-BE49-F238E27FC236}">
                <a16:creationId xmlns:a16="http://schemas.microsoft.com/office/drawing/2014/main" id="{B4726797-219F-76A1-9E32-B70783CF5841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254066911"/>
              </p:ext>
            </p:extLst>
          </p:nvPr>
        </p:nvGraphicFramePr>
        <p:xfrm>
          <a:off x="177800" y="295791"/>
          <a:ext cx="5435600" cy="186320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211" name="ConcBg"/>
          <p:cNvSpPr>
            <a:spLocks noGrp="1"/>
          </p:cNvSpPr>
          <p:nvPr/>
        </p:nvSpPr>
        <p:spPr>
          <a:xfrm>
            <a:off x="190500" y="3822739"/>
            <a:ext cx="5386335" cy="1054100"/>
          </a:xfrm>
          <a:prstGeom prst="rect">
            <a:avLst/>
          </a:prstGeom>
          <a:solidFill>
            <a:srgbClr val="E7E6E6"/>
          </a:solidFill>
          <a:ln>
            <a:noFill/>
          </a:ln>
        </p:spPr>
        <p:txBody>
          <a:bodyPr anchor="ctr"/>
          <a:lstStyle/>
          <a:p>
            <a:r>
              <a:rPr lang="en-US" sz="1100" b="1" dirty="0">
                <a:solidFill>
                  <a:srgbClr val="0B2B65"/>
                </a:solidFill>
              </a:rPr>
              <a:t>Key Conclusions: </a:t>
            </a:r>
            <a:r>
              <a:rPr lang="en-US" sz="1100" dirty="0">
                <a:solidFill>
                  <a:srgbClr val="44546A"/>
                </a:solidFill>
              </a:rPr>
              <a:t>Credit risk dominates the Risk-Weighted Asset (RWA) base at 71% (€16bn), with a well-diversified regulatory framework combining </a:t>
            </a:r>
            <a:r>
              <a:rPr lang="en-US" sz="1100" dirty="0" err="1">
                <a:solidFill>
                  <a:srgbClr val="44546A"/>
                </a:solidFill>
              </a:rPr>
              <a:t>Standardised</a:t>
            </a:r>
            <a:r>
              <a:rPr lang="en-US" sz="1100" dirty="0">
                <a:solidFill>
                  <a:srgbClr val="44546A"/>
                </a:solidFill>
              </a:rPr>
              <a:t> Approach (SA), Foundation Internal Ratings-Based (F-IRB) and Slotting. The near-zero Non-Performing Loan (NPL) ratio (0.8%) and strong 68% coverage confirm asset quality discipline. </a:t>
            </a:r>
          </a:p>
        </p:txBody>
      </p:sp>
      <p:sp>
        <p:nvSpPr>
          <p:cNvPr id="210" name="ConcAcc"/>
          <p:cNvSpPr>
            <a:spLocks noGrp="1"/>
          </p:cNvSpPr>
          <p:nvPr/>
        </p:nvSpPr>
        <p:spPr>
          <a:xfrm>
            <a:off x="101600" y="3822739"/>
            <a:ext cx="84710" cy="1054099"/>
          </a:xfrm>
          <a:prstGeom prst="rect">
            <a:avLst/>
          </a:prstGeom>
          <a:solidFill>
            <a:srgbClr val="0B2B65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1" name="ConcBg">
            <a:extLst>
              <a:ext uri="{FF2B5EF4-FFF2-40B4-BE49-F238E27FC236}">
                <a16:creationId xmlns:a16="http://schemas.microsoft.com/office/drawing/2014/main" id="{C05D687C-B375-80FE-6ED3-A9F6F015BB74}"/>
              </a:ext>
            </a:extLst>
          </p:cNvPr>
          <p:cNvSpPr>
            <a:spLocks noGrp="1"/>
          </p:cNvSpPr>
          <p:nvPr/>
        </p:nvSpPr>
        <p:spPr>
          <a:xfrm>
            <a:off x="5958699" y="5448300"/>
            <a:ext cx="6042801" cy="609638"/>
          </a:xfrm>
          <a:prstGeom prst="rect">
            <a:avLst/>
          </a:prstGeom>
          <a:solidFill>
            <a:srgbClr val="E7E6E6"/>
          </a:solidFill>
          <a:ln>
            <a:noFill/>
          </a:ln>
        </p:spPr>
        <p:txBody>
          <a:bodyPr anchor="ctr"/>
          <a:lstStyle/>
          <a:p>
            <a:pPr algn="just">
              <a:buNone/>
            </a:pPr>
            <a:r>
              <a:rPr lang="en-US" sz="1100" dirty="0">
                <a:solidFill>
                  <a:srgbClr val="44546A"/>
                </a:solidFill>
              </a:rPr>
              <a:t>Liquidity is a clear structural strength: Liquidity Coverage Ratio (LCR) of 218% and High Quality Liquid Asset (HQLA) buffer of €14.5bn provide substantial stress resilience.</a:t>
            </a:r>
          </a:p>
        </p:txBody>
      </p:sp>
      <p:sp>
        <p:nvSpPr>
          <p:cNvPr id="12" name="ConcAcc">
            <a:extLst>
              <a:ext uri="{FF2B5EF4-FFF2-40B4-BE49-F238E27FC236}">
                <a16:creationId xmlns:a16="http://schemas.microsoft.com/office/drawing/2014/main" id="{6F73D01E-6DF6-3B00-88FF-047EBC176D30}"/>
              </a:ext>
            </a:extLst>
          </p:cNvPr>
          <p:cNvSpPr>
            <a:spLocks noGrp="1"/>
          </p:cNvSpPr>
          <p:nvPr/>
        </p:nvSpPr>
        <p:spPr>
          <a:xfrm flipH="1">
            <a:off x="5862021" y="5448300"/>
            <a:ext cx="96678" cy="609638"/>
          </a:xfrm>
          <a:prstGeom prst="rect">
            <a:avLst/>
          </a:prstGeom>
          <a:solidFill>
            <a:srgbClr val="0B2B65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2" name="ConcBg">
            <a:extLst>
              <a:ext uri="{FF2B5EF4-FFF2-40B4-BE49-F238E27FC236}">
                <a16:creationId xmlns:a16="http://schemas.microsoft.com/office/drawing/2014/main" id="{D2930C51-4C9B-D3F6-AC8C-AD98AD29FCD3}"/>
              </a:ext>
            </a:extLst>
          </p:cNvPr>
          <p:cNvSpPr>
            <a:spLocks noGrp="1"/>
          </p:cNvSpPr>
          <p:nvPr/>
        </p:nvSpPr>
        <p:spPr>
          <a:xfrm>
            <a:off x="190500" y="4948782"/>
            <a:ext cx="5386335" cy="1109156"/>
          </a:xfrm>
          <a:prstGeom prst="rect">
            <a:avLst/>
          </a:prstGeom>
          <a:solidFill>
            <a:srgbClr val="E7E6E6"/>
          </a:solidFill>
          <a:ln>
            <a:noFill/>
          </a:ln>
        </p:spPr>
        <p:txBody>
          <a:bodyPr anchor="ctr"/>
          <a:lstStyle/>
          <a:p>
            <a:r>
              <a:rPr lang="en-US" sz="1100" dirty="0">
                <a:solidFill>
                  <a:srgbClr val="44546A"/>
                </a:solidFill>
              </a:rPr>
              <a:t>Operational risk at 18.4% via </a:t>
            </a:r>
            <a:r>
              <a:rPr lang="en-US" sz="1100" dirty="0" err="1">
                <a:solidFill>
                  <a:srgbClr val="44546A"/>
                </a:solidFill>
              </a:rPr>
              <a:t>Standardised</a:t>
            </a:r>
            <a:r>
              <a:rPr lang="en-US" sz="1100" dirty="0">
                <a:solidFill>
                  <a:srgbClr val="44546A"/>
                </a:solidFill>
              </a:rPr>
              <a:t> Measurement Approach (SMA) is well-controlled with only €2m actual losses in FY2025. The absence of a trading book eliminates Pillar 1 Market Risk Risk-Weighted Assets (RWA) entirely; Interest Rate Risk in the Banking Book (IRRBB) exposure, while material (-€406m Economic Value of Equity (EVE) under parallel up), remains within the Supervisory Outlier Test (SOT) threshold.</a:t>
            </a:r>
            <a:endParaRPr sz="1100" dirty="0">
              <a:solidFill>
                <a:srgbClr val="44546A"/>
              </a:solidFill>
            </a:endParaRPr>
          </a:p>
        </p:txBody>
      </p:sp>
      <p:sp>
        <p:nvSpPr>
          <p:cNvPr id="24" name="ConcAcc">
            <a:extLst>
              <a:ext uri="{FF2B5EF4-FFF2-40B4-BE49-F238E27FC236}">
                <a16:creationId xmlns:a16="http://schemas.microsoft.com/office/drawing/2014/main" id="{C1D72E5C-3422-8BDE-BB7B-396F1FC61547}"/>
              </a:ext>
            </a:extLst>
          </p:cNvPr>
          <p:cNvSpPr>
            <a:spLocks noGrp="1"/>
          </p:cNvSpPr>
          <p:nvPr/>
        </p:nvSpPr>
        <p:spPr>
          <a:xfrm>
            <a:off x="101600" y="4948782"/>
            <a:ext cx="76200" cy="1109156"/>
          </a:xfrm>
          <a:prstGeom prst="rect">
            <a:avLst/>
          </a:prstGeom>
          <a:solidFill>
            <a:srgbClr val="0B2B65"/>
          </a:solidFill>
          <a:ln>
            <a:noFill/>
          </a:ln>
        </p:spPr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99812664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2420B8C9-E09F-4DC2-82E2-498E354423C2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D9D9D9">
              <a:alpha val="6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88516CC-A1E4-2796-C145-2B536C22EB5B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DA550350-8C73-2507-DC24-95CD87E9E371}"/>
              </a:ext>
            </a:extLst>
          </p:cNvPr>
          <p:cNvSpPr/>
          <p:nvPr/>
        </p:nvSpPr>
        <p:spPr>
          <a:xfrm>
            <a:off x="0" y="3962400"/>
            <a:ext cx="10639425" cy="1257300"/>
          </a:xfrm>
          <a:prstGeom prst="rect">
            <a:avLst/>
          </a:prstGeom>
          <a:solidFill>
            <a:srgbClr val="0B2A65"/>
          </a:solidFill>
          <a:ln w="285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b="1" dirty="0"/>
              <a:t>Business Model - BAWAG Group AG</a:t>
            </a:r>
          </a:p>
          <a:p>
            <a:pPr algn="ctr"/>
            <a:endParaRPr lang="en-US" sz="2000" b="1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9B451893-B10B-6882-64D1-9AB97335BFF2}"/>
              </a:ext>
            </a:extLst>
          </p:cNvPr>
          <p:cNvSpPr/>
          <p:nvPr/>
        </p:nvSpPr>
        <p:spPr>
          <a:xfrm>
            <a:off x="9721850" y="3333750"/>
            <a:ext cx="1552575" cy="1257300"/>
          </a:xfrm>
          <a:prstGeom prst="rect">
            <a:avLst/>
          </a:prstGeom>
          <a:ln w="28575">
            <a:solidFill>
              <a:schemeClr val="bg1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b="1"/>
              <a:t>1.</a:t>
            </a:r>
          </a:p>
        </p:txBody>
      </p:sp>
    </p:spTree>
    <p:extLst>
      <p:ext uri="{BB962C8B-B14F-4D97-AF65-F5344CB8AC3E}">
        <p14:creationId xmlns:p14="http://schemas.microsoft.com/office/powerpoint/2010/main" val="342730443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EE1E698-7FB0-80B4-0CF3-DEEB2B049C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521A0DB4-35B2-BD7B-C150-D72B763F1E45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b="1" dirty="0"/>
              <a:t>Business Model - BAWAG Group AG</a:t>
            </a:r>
          </a:p>
        </p:txBody>
      </p:sp>
      <p:sp>
        <p:nvSpPr>
          <p:cNvPr id="14" name="ColH1">
            <a:extLst>
              <a:ext uri="{FF2B5EF4-FFF2-40B4-BE49-F238E27FC236}">
                <a16:creationId xmlns:a16="http://schemas.microsoft.com/office/drawing/2014/main" id="{44B1E212-3866-8434-26FC-0F9FD14C0014}"/>
              </a:ext>
            </a:extLst>
          </p:cNvPr>
          <p:cNvSpPr>
            <a:spLocks noGrp="1"/>
          </p:cNvSpPr>
          <p:nvPr/>
        </p:nvSpPr>
        <p:spPr>
          <a:xfrm>
            <a:off x="190500" y="736600"/>
            <a:ext cx="3683000" cy="355600"/>
          </a:xfrm>
          <a:prstGeom prst="rect">
            <a:avLst/>
          </a:prstGeom>
          <a:solidFill>
            <a:srgbClr val="1A5187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5" name="ColT1">
            <a:extLst>
              <a:ext uri="{FF2B5EF4-FFF2-40B4-BE49-F238E27FC236}">
                <a16:creationId xmlns:a16="http://schemas.microsoft.com/office/drawing/2014/main" id="{FDF71102-AB7D-CA3A-D8BE-DA9C2AA14FFE}"/>
              </a:ext>
            </a:extLst>
          </p:cNvPr>
          <p:cNvSpPr txBox="1">
            <a:spLocks noGrp="1"/>
          </p:cNvSpPr>
          <p:nvPr/>
        </p:nvSpPr>
        <p:spPr>
          <a:xfrm>
            <a:off x="190500" y="736600"/>
            <a:ext cx="3683000" cy="3556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ctr"/>
            <a:r>
              <a:rPr lang="en-US" sz="1400" b="1" dirty="0">
                <a:solidFill>
                  <a:srgbClr val="FFFFFF"/>
                </a:solidFill>
              </a:rPr>
              <a:t>Strategic Positioning</a:t>
            </a:r>
          </a:p>
        </p:txBody>
      </p:sp>
      <p:sp>
        <p:nvSpPr>
          <p:cNvPr id="16" name="ColC1">
            <a:extLst>
              <a:ext uri="{FF2B5EF4-FFF2-40B4-BE49-F238E27FC236}">
                <a16:creationId xmlns:a16="http://schemas.microsoft.com/office/drawing/2014/main" id="{52CDE1B1-8647-C7B2-5B69-7DBC5AA7E20D}"/>
              </a:ext>
            </a:extLst>
          </p:cNvPr>
          <p:cNvSpPr txBox="1">
            <a:spLocks noGrp="1"/>
          </p:cNvSpPr>
          <p:nvPr/>
        </p:nvSpPr>
        <p:spPr>
          <a:xfrm>
            <a:off x="190500" y="1143000"/>
            <a:ext cx="3683000" cy="51816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marL="114300" indent="-114300">
              <a:spcBef>
                <a:spcPts val="100"/>
              </a:spcBef>
            </a:pPr>
            <a:r>
              <a:rPr lang="en-US" b="1" dirty="0">
                <a:solidFill>
                  <a:srgbClr val="0B2B65"/>
                </a:solidFill>
              </a:rPr>
              <a:t>Digital-First Pan-European Bank</a:t>
            </a:r>
          </a:p>
          <a:p>
            <a:pPr marL="114300" indent="-114300">
              <a:spcBef>
                <a:spcPts val="80"/>
              </a:spcBef>
            </a:pPr>
            <a:r>
              <a:rPr lang="en-US" sz="1600" dirty="0">
                <a:solidFill>
                  <a:srgbClr val="000000"/>
                </a:solidFill>
              </a:rPr>
              <a:t>Austria's 3rd-largest bank by total assets (€72.3bn)</a:t>
            </a:r>
          </a:p>
          <a:p>
            <a:pPr marL="114300" indent="-114300">
              <a:spcBef>
                <a:spcPts val="80"/>
              </a:spcBef>
            </a:pPr>
            <a:r>
              <a:rPr lang="en-US" sz="1600" dirty="0" err="1">
                <a:solidFill>
                  <a:srgbClr val="000000"/>
                </a:solidFill>
              </a:rPr>
              <a:t>Retail+SME</a:t>
            </a:r>
            <a:r>
              <a:rPr lang="en-US" sz="1600" dirty="0">
                <a:solidFill>
                  <a:srgbClr val="000000"/>
                </a:solidFill>
              </a:rPr>
              <a:t> = 85% of core revenues. </a:t>
            </a:r>
          </a:p>
          <a:p>
            <a:pPr marL="114300" indent="-114300">
              <a:spcBef>
                <a:spcPts val="80"/>
              </a:spcBef>
            </a:pPr>
            <a:r>
              <a:rPr lang="en-US" sz="1600" dirty="0">
                <a:solidFill>
                  <a:srgbClr val="000000"/>
                </a:solidFill>
              </a:rPr>
              <a:t>No proprietary trading book - zero Market Risk RWA.</a:t>
            </a:r>
          </a:p>
          <a:p>
            <a:pPr marL="114300" indent="-114300">
              <a:spcBef>
                <a:spcPts val="120"/>
              </a:spcBef>
            </a:pPr>
            <a:endParaRPr lang="en-US" b="1" dirty="0">
              <a:solidFill>
                <a:srgbClr val="0B2B65"/>
              </a:solidFill>
            </a:endParaRPr>
          </a:p>
          <a:p>
            <a:pPr marL="114300" indent="-114300">
              <a:spcBef>
                <a:spcPts val="120"/>
              </a:spcBef>
            </a:pPr>
            <a:r>
              <a:rPr lang="en-US" b="1" dirty="0">
                <a:solidFill>
                  <a:srgbClr val="0B2B65"/>
                </a:solidFill>
              </a:rPr>
              <a:t>Revenue Mix (FY2025)</a:t>
            </a:r>
          </a:p>
          <a:p>
            <a:pPr marL="114300" indent="-114300">
              <a:spcBef>
                <a:spcPts val="60"/>
              </a:spcBef>
            </a:pPr>
            <a:r>
              <a:rPr lang="en-US" sz="1600" dirty="0">
                <a:solidFill>
                  <a:srgbClr val="000000"/>
                </a:solidFill>
              </a:rPr>
              <a:t>NII: €1,836m (83% of revenues)</a:t>
            </a:r>
          </a:p>
          <a:p>
            <a:pPr marL="114300" indent="-114300">
              <a:spcBef>
                <a:spcPts val="40"/>
              </a:spcBef>
            </a:pPr>
            <a:r>
              <a:rPr lang="en-US" sz="1600" dirty="0">
                <a:solidFill>
                  <a:srgbClr val="000000"/>
                </a:solidFill>
              </a:rPr>
              <a:t>NCI: €371m (17% of revenues)</a:t>
            </a:r>
          </a:p>
          <a:p>
            <a:pPr marL="114300" indent="-114300">
              <a:spcBef>
                <a:spcPts val="40"/>
              </a:spcBef>
            </a:pPr>
            <a:r>
              <a:rPr lang="en-US" sz="1600" dirty="0">
                <a:solidFill>
                  <a:srgbClr val="000000"/>
                </a:solidFill>
              </a:rPr>
              <a:t>NIM: 3.29% | RoTCE: 26.9%</a:t>
            </a:r>
          </a:p>
          <a:p>
            <a:pPr marL="114300" indent="-114300">
              <a:spcBef>
                <a:spcPts val="120"/>
              </a:spcBef>
            </a:pPr>
            <a:endParaRPr lang="en-US" b="1" dirty="0">
              <a:solidFill>
                <a:srgbClr val="0B2B65"/>
              </a:solidFill>
            </a:endParaRPr>
          </a:p>
          <a:p>
            <a:pPr marL="114300" indent="-114300">
              <a:spcBef>
                <a:spcPts val="120"/>
              </a:spcBef>
            </a:pPr>
            <a:r>
              <a:rPr lang="en-US" b="1" dirty="0">
                <a:solidFill>
                  <a:srgbClr val="0B2B65"/>
                </a:solidFill>
              </a:rPr>
              <a:t>Geographic Focus</a:t>
            </a:r>
          </a:p>
          <a:p>
            <a:pPr marL="114300" indent="-114300">
              <a:spcBef>
                <a:spcPts val="60"/>
              </a:spcBef>
            </a:pPr>
            <a:r>
              <a:rPr lang="en-US" sz="1600" dirty="0">
                <a:solidFill>
                  <a:srgbClr val="000000"/>
                </a:solidFill>
              </a:rPr>
              <a:t>~85% Euro-area (AT, DE, NL, IE)</a:t>
            </a:r>
          </a:p>
          <a:p>
            <a:pPr marL="114300" indent="-114300">
              <a:spcBef>
                <a:spcPts val="40"/>
              </a:spcBef>
            </a:pPr>
            <a:r>
              <a:rPr lang="en-US" sz="1600" dirty="0">
                <a:solidFill>
                  <a:srgbClr val="000000"/>
                </a:solidFill>
              </a:rPr>
              <a:t>~15% non-EURO (UK / USA / Switzerland)</a:t>
            </a:r>
          </a:p>
          <a:p>
            <a:pPr marL="114300" indent="-114300">
              <a:spcBef>
                <a:spcPts val="40"/>
              </a:spcBef>
            </a:pPr>
            <a:r>
              <a:rPr lang="en-US" b="1" dirty="0">
                <a:solidFill>
                  <a:srgbClr val="0B2B65"/>
                </a:solidFill>
              </a:rPr>
              <a:t>NO CEE exposure </a:t>
            </a:r>
          </a:p>
          <a:p>
            <a:pPr marL="114300" indent="-114300">
              <a:spcBef>
                <a:spcPts val="40"/>
              </a:spcBef>
            </a:pPr>
            <a:r>
              <a:rPr lang="en-US" b="1" dirty="0">
                <a:solidFill>
                  <a:srgbClr val="0B2B65"/>
                </a:solidFill>
              </a:rPr>
              <a:t>(key risk differentiator)</a:t>
            </a:r>
          </a:p>
        </p:txBody>
      </p:sp>
      <p:sp>
        <p:nvSpPr>
          <p:cNvPr id="17" name="ColH2">
            <a:extLst>
              <a:ext uri="{FF2B5EF4-FFF2-40B4-BE49-F238E27FC236}">
                <a16:creationId xmlns:a16="http://schemas.microsoft.com/office/drawing/2014/main" id="{F7C98476-F087-B06E-159F-708F46704DBF}"/>
              </a:ext>
            </a:extLst>
          </p:cNvPr>
          <p:cNvSpPr>
            <a:spLocks noGrp="1"/>
          </p:cNvSpPr>
          <p:nvPr/>
        </p:nvSpPr>
        <p:spPr>
          <a:xfrm>
            <a:off x="4000500" y="736600"/>
            <a:ext cx="4191000" cy="355600"/>
          </a:xfrm>
          <a:prstGeom prst="rect">
            <a:avLst/>
          </a:prstGeom>
          <a:solidFill>
            <a:srgbClr val="1A5187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34" name="ColH3">
            <a:extLst>
              <a:ext uri="{FF2B5EF4-FFF2-40B4-BE49-F238E27FC236}">
                <a16:creationId xmlns:a16="http://schemas.microsoft.com/office/drawing/2014/main" id="{68DF74C4-193D-497C-57D2-3A7AD59D75AA}"/>
              </a:ext>
            </a:extLst>
          </p:cNvPr>
          <p:cNvSpPr>
            <a:spLocks noGrp="1"/>
          </p:cNvSpPr>
          <p:nvPr/>
        </p:nvSpPr>
        <p:spPr>
          <a:xfrm>
            <a:off x="8318500" y="736600"/>
            <a:ext cx="3708400" cy="355600"/>
          </a:xfrm>
          <a:prstGeom prst="rect">
            <a:avLst/>
          </a:prstGeom>
          <a:solidFill>
            <a:srgbClr val="1A5187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35" name="ColT3">
            <a:extLst>
              <a:ext uri="{FF2B5EF4-FFF2-40B4-BE49-F238E27FC236}">
                <a16:creationId xmlns:a16="http://schemas.microsoft.com/office/drawing/2014/main" id="{B7428879-DB2C-5C2C-EBBA-E8E5C7B192DF}"/>
              </a:ext>
            </a:extLst>
          </p:cNvPr>
          <p:cNvSpPr txBox="1">
            <a:spLocks noGrp="1"/>
          </p:cNvSpPr>
          <p:nvPr/>
        </p:nvSpPr>
        <p:spPr>
          <a:xfrm>
            <a:off x="8318500" y="736600"/>
            <a:ext cx="3708400" cy="3556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ctr"/>
            <a:r>
              <a:rPr lang="en-US" sz="1400" b="1" dirty="0">
                <a:solidFill>
                  <a:srgbClr val="FFFFFF"/>
                </a:solidFill>
              </a:rPr>
              <a:t>Business Model at a Glance</a:t>
            </a:r>
          </a:p>
        </p:txBody>
      </p:sp>
      <p:sp>
        <p:nvSpPr>
          <p:cNvPr id="36" name="KPI box 0">
            <a:extLst>
              <a:ext uri="{FF2B5EF4-FFF2-40B4-BE49-F238E27FC236}">
                <a16:creationId xmlns:a16="http://schemas.microsoft.com/office/drawing/2014/main" id="{8D189C89-4072-3489-B274-D44591E2255F}"/>
              </a:ext>
            </a:extLst>
          </p:cNvPr>
          <p:cNvSpPr>
            <a:spLocks noGrp="1"/>
          </p:cNvSpPr>
          <p:nvPr/>
        </p:nvSpPr>
        <p:spPr>
          <a:xfrm>
            <a:off x="8398640" y="1143000"/>
            <a:ext cx="1714500" cy="7620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37" name="KPI accent 0">
            <a:extLst>
              <a:ext uri="{FF2B5EF4-FFF2-40B4-BE49-F238E27FC236}">
                <a16:creationId xmlns:a16="http://schemas.microsoft.com/office/drawing/2014/main" id="{E413B2CB-31D8-8279-D235-21F374ECE577}"/>
              </a:ext>
            </a:extLst>
          </p:cNvPr>
          <p:cNvSpPr>
            <a:spLocks noGrp="1"/>
          </p:cNvSpPr>
          <p:nvPr/>
        </p:nvSpPr>
        <p:spPr>
          <a:xfrm>
            <a:off x="8398640" y="1143000"/>
            <a:ext cx="1714500" cy="38100"/>
          </a:xfrm>
          <a:prstGeom prst="rect">
            <a:avLst/>
          </a:prstGeom>
          <a:solidFill>
            <a:srgbClr val="1A5187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38" name="KPI text 0">
            <a:extLst>
              <a:ext uri="{FF2B5EF4-FFF2-40B4-BE49-F238E27FC236}">
                <a16:creationId xmlns:a16="http://schemas.microsoft.com/office/drawing/2014/main" id="{9EE3846B-BEED-73FD-F816-CEC163D19F16}"/>
              </a:ext>
            </a:extLst>
          </p:cNvPr>
          <p:cNvSpPr txBox="1">
            <a:spLocks noGrp="1"/>
          </p:cNvSpPr>
          <p:nvPr/>
        </p:nvSpPr>
        <p:spPr>
          <a:xfrm>
            <a:off x="8449440" y="1206500"/>
            <a:ext cx="1612900" cy="635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r>
              <a:rPr lang="en-US" sz="950" dirty="0">
                <a:solidFill>
                  <a:srgbClr val="44546A"/>
                </a:solidFill>
              </a:rPr>
              <a:t>Total Assets</a:t>
            </a:r>
          </a:p>
          <a:p>
            <a:r>
              <a:rPr lang="en-US" sz="1800" b="1" dirty="0">
                <a:solidFill>
                  <a:srgbClr val="0B2B65"/>
                </a:solidFill>
              </a:rPr>
              <a:t>€72.3bn</a:t>
            </a:r>
          </a:p>
          <a:p>
            <a:r>
              <a:rPr lang="en-US" sz="900" dirty="0">
                <a:solidFill>
                  <a:srgbClr val="44546A"/>
                </a:solidFill>
              </a:rPr>
              <a:t>FY2025</a:t>
            </a:r>
          </a:p>
        </p:txBody>
      </p:sp>
      <p:sp>
        <p:nvSpPr>
          <p:cNvPr id="39" name="KPI box 1">
            <a:extLst>
              <a:ext uri="{FF2B5EF4-FFF2-40B4-BE49-F238E27FC236}">
                <a16:creationId xmlns:a16="http://schemas.microsoft.com/office/drawing/2014/main" id="{F345DA8A-1CC3-B3F9-F7A3-B1D782EA2901}"/>
              </a:ext>
            </a:extLst>
          </p:cNvPr>
          <p:cNvSpPr>
            <a:spLocks noGrp="1"/>
          </p:cNvSpPr>
          <p:nvPr/>
        </p:nvSpPr>
        <p:spPr>
          <a:xfrm>
            <a:off x="10265540" y="1143000"/>
            <a:ext cx="1714500" cy="7620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40" name="KPI accent 1">
            <a:extLst>
              <a:ext uri="{FF2B5EF4-FFF2-40B4-BE49-F238E27FC236}">
                <a16:creationId xmlns:a16="http://schemas.microsoft.com/office/drawing/2014/main" id="{FC88FC3E-E32E-BF63-BC01-6D8BE7600D72}"/>
              </a:ext>
            </a:extLst>
          </p:cNvPr>
          <p:cNvSpPr>
            <a:spLocks noGrp="1"/>
          </p:cNvSpPr>
          <p:nvPr/>
        </p:nvSpPr>
        <p:spPr>
          <a:xfrm>
            <a:off x="10265540" y="1143000"/>
            <a:ext cx="1714500" cy="38100"/>
          </a:xfrm>
          <a:prstGeom prst="rect">
            <a:avLst/>
          </a:prstGeom>
          <a:solidFill>
            <a:srgbClr val="1A5187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41" name="KPI text 1">
            <a:extLst>
              <a:ext uri="{FF2B5EF4-FFF2-40B4-BE49-F238E27FC236}">
                <a16:creationId xmlns:a16="http://schemas.microsoft.com/office/drawing/2014/main" id="{0ABE95DD-8434-C61C-CC84-D89C00066BFB}"/>
              </a:ext>
            </a:extLst>
          </p:cNvPr>
          <p:cNvSpPr txBox="1">
            <a:spLocks noGrp="1"/>
          </p:cNvSpPr>
          <p:nvPr/>
        </p:nvSpPr>
        <p:spPr>
          <a:xfrm>
            <a:off x="10316340" y="1206500"/>
            <a:ext cx="1612900" cy="635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r>
              <a:rPr lang="en-US" sz="950" dirty="0">
                <a:solidFill>
                  <a:srgbClr val="44546A"/>
                </a:solidFill>
              </a:rPr>
              <a:t>Customer Loans</a:t>
            </a:r>
          </a:p>
          <a:p>
            <a:r>
              <a:rPr lang="en-US" sz="1800" b="1" dirty="0">
                <a:solidFill>
                  <a:srgbClr val="0B2B65"/>
                </a:solidFill>
              </a:rPr>
              <a:t>€50.7bn</a:t>
            </a:r>
          </a:p>
          <a:p>
            <a:r>
              <a:rPr lang="en-US" sz="900" dirty="0">
                <a:solidFill>
                  <a:srgbClr val="44546A"/>
                </a:solidFill>
              </a:rPr>
              <a:t>~80% secured</a:t>
            </a:r>
          </a:p>
        </p:txBody>
      </p:sp>
      <p:sp>
        <p:nvSpPr>
          <p:cNvPr id="42" name="KPI box 2">
            <a:extLst>
              <a:ext uri="{FF2B5EF4-FFF2-40B4-BE49-F238E27FC236}">
                <a16:creationId xmlns:a16="http://schemas.microsoft.com/office/drawing/2014/main" id="{E28CD9FF-4DE1-80B7-ABF8-82411F2B3F6D}"/>
              </a:ext>
            </a:extLst>
          </p:cNvPr>
          <p:cNvSpPr>
            <a:spLocks noGrp="1"/>
          </p:cNvSpPr>
          <p:nvPr/>
        </p:nvSpPr>
        <p:spPr>
          <a:xfrm>
            <a:off x="8398640" y="2006600"/>
            <a:ext cx="1714500" cy="7620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43" name="KPI accent 2">
            <a:extLst>
              <a:ext uri="{FF2B5EF4-FFF2-40B4-BE49-F238E27FC236}">
                <a16:creationId xmlns:a16="http://schemas.microsoft.com/office/drawing/2014/main" id="{01585759-FF2F-48FA-F78A-18F7859FCBCD}"/>
              </a:ext>
            </a:extLst>
          </p:cNvPr>
          <p:cNvSpPr>
            <a:spLocks noGrp="1"/>
          </p:cNvSpPr>
          <p:nvPr/>
        </p:nvSpPr>
        <p:spPr>
          <a:xfrm>
            <a:off x="8398640" y="2006600"/>
            <a:ext cx="1714500" cy="38100"/>
          </a:xfrm>
          <a:prstGeom prst="rect">
            <a:avLst/>
          </a:prstGeom>
          <a:solidFill>
            <a:srgbClr val="1A5187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44" name="KPI text 2">
            <a:extLst>
              <a:ext uri="{FF2B5EF4-FFF2-40B4-BE49-F238E27FC236}">
                <a16:creationId xmlns:a16="http://schemas.microsoft.com/office/drawing/2014/main" id="{A31EF61D-7768-9B96-81B0-0BB18AA16754}"/>
              </a:ext>
            </a:extLst>
          </p:cNvPr>
          <p:cNvSpPr txBox="1">
            <a:spLocks noGrp="1"/>
          </p:cNvSpPr>
          <p:nvPr/>
        </p:nvSpPr>
        <p:spPr>
          <a:xfrm>
            <a:off x="8449440" y="2070100"/>
            <a:ext cx="1612900" cy="635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r>
              <a:rPr lang="en-US" sz="950" dirty="0">
                <a:solidFill>
                  <a:srgbClr val="44546A"/>
                </a:solidFill>
              </a:rPr>
              <a:t>Net Profit</a:t>
            </a:r>
          </a:p>
          <a:p>
            <a:r>
              <a:rPr lang="en-US" sz="1800" b="1" dirty="0">
                <a:solidFill>
                  <a:srgbClr val="0B2B65"/>
                </a:solidFill>
              </a:rPr>
              <a:t>€859.9m</a:t>
            </a:r>
          </a:p>
          <a:p>
            <a:r>
              <a:rPr lang="en-US" sz="900" dirty="0">
                <a:solidFill>
                  <a:srgbClr val="44546A"/>
                </a:solidFill>
              </a:rPr>
              <a:t>After tax FY2025</a:t>
            </a:r>
          </a:p>
        </p:txBody>
      </p:sp>
      <p:sp>
        <p:nvSpPr>
          <p:cNvPr id="45" name="KPI box 3">
            <a:extLst>
              <a:ext uri="{FF2B5EF4-FFF2-40B4-BE49-F238E27FC236}">
                <a16:creationId xmlns:a16="http://schemas.microsoft.com/office/drawing/2014/main" id="{0EE430BB-FEA4-D5B0-E106-E573E93D6030}"/>
              </a:ext>
            </a:extLst>
          </p:cNvPr>
          <p:cNvSpPr>
            <a:spLocks noGrp="1"/>
          </p:cNvSpPr>
          <p:nvPr/>
        </p:nvSpPr>
        <p:spPr>
          <a:xfrm>
            <a:off x="10265540" y="2006600"/>
            <a:ext cx="1714500" cy="7620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46" name="KPI accent 3">
            <a:extLst>
              <a:ext uri="{FF2B5EF4-FFF2-40B4-BE49-F238E27FC236}">
                <a16:creationId xmlns:a16="http://schemas.microsoft.com/office/drawing/2014/main" id="{B70592F2-6169-F8FC-6C26-A769E0EBE3D9}"/>
              </a:ext>
            </a:extLst>
          </p:cNvPr>
          <p:cNvSpPr>
            <a:spLocks noGrp="1"/>
          </p:cNvSpPr>
          <p:nvPr/>
        </p:nvSpPr>
        <p:spPr>
          <a:xfrm>
            <a:off x="10265540" y="2006600"/>
            <a:ext cx="1714500" cy="38100"/>
          </a:xfrm>
          <a:prstGeom prst="rect">
            <a:avLst/>
          </a:prstGeom>
          <a:solidFill>
            <a:srgbClr val="1A5187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47" name="KPI text 3">
            <a:extLst>
              <a:ext uri="{FF2B5EF4-FFF2-40B4-BE49-F238E27FC236}">
                <a16:creationId xmlns:a16="http://schemas.microsoft.com/office/drawing/2014/main" id="{C923F53F-DF82-DFC3-279F-534DEDBBBB82}"/>
              </a:ext>
            </a:extLst>
          </p:cNvPr>
          <p:cNvSpPr txBox="1">
            <a:spLocks noGrp="1"/>
          </p:cNvSpPr>
          <p:nvPr/>
        </p:nvSpPr>
        <p:spPr>
          <a:xfrm>
            <a:off x="10316340" y="2070100"/>
            <a:ext cx="1612900" cy="635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r>
              <a:rPr lang="en-US" sz="950" dirty="0">
                <a:solidFill>
                  <a:srgbClr val="44546A"/>
                </a:solidFill>
              </a:rPr>
              <a:t>CIR</a:t>
            </a:r>
          </a:p>
          <a:p>
            <a:r>
              <a:rPr lang="en-US" sz="1800" b="1" dirty="0">
                <a:solidFill>
                  <a:srgbClr val="0B2B65"/>
                </a:solidFill>
              </a:rPr>
              <a:t>36.1%</a:t>
            </a:r>
          </a:p>
          <a:p>
            <a:r>
              <a:rPr lang="en-US" sz="900" dirty="0">
                <a:solidFill>
                  <a:srgbClr val="44546A"/>
                </a:solidFill>
              </a:rPr>
              <a:t>Cost-Income Ratio</a:t>
            </a:r>
          </a:p>
        </p:txBody>
      </p:sp>
      <p:sp>
        <p:nvSpPr>
          <p:cNvPr id="48" name="KPI box 4">
            <a:extLst>
              <a:ext uri="{FF2B5EF4-FFF2-40B4-BE49-F238E27FC236}">
                <a16:creationId xmlns:a16="http://schemas.microsoft.com/office/drawing/2014/main" id="{4DB2D00A-D301-FDBD-8C1F-47EE87058124}"/>
              </a:ext>
            </a:extLst>
          </p:cNvPr>
          <p:cNvSpPr>
            <a:spLocks noGrp="1"/>
          </p:cNvSpPr>
          <p:nvPr/>
        </p:nvSpPr>
        <p:spPr>
          <a:xfrm>
            <a:off x="8398640" y="2870200"/>
            <a:ext cx="1714500" cy="7620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49" name="KPI accent 4">
            <a:extLst>
              <a:ext uri="{FF2B5EF4-FFF2-40B4-BE49-F238E27FC236}">
                <a16:creationId xmlns:a16="http://schemas.microsoft.com/office/drawing/2014/main" id="{86D1B46E-6706-CA2B-87EE-717E18E3BED9}"/>
              </a:ext>
            </a:extLst>
          </p:cNvPr>
          <p:cNvSpPr>
            <a:spLocks noGrp="1"/>
          </p:cNvSpPr>
          <p:nvPr/>
        </p:nvSpPr>
        <p:spPr>
          <a:xfrm>
            <a:off x="8398640" y="2870200"/>
            <a:ext cx="1714500" cy="38100"/>
          </a:xfrm>
          <a:prstGeom prst="rect">
            <a:avLst/>
          </a:prstGeom>
          <a:solidFill>
            <a:srgbClr val="1A5187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" name="KPI text 4">
            <a:extLst>
              <a:ext uri="{FF2B5EF4-FFF2-40B4-BE49-F238E27FC236}">
                <a16:creationId xmlns:a16="http://schemas.microsoft.com/office/drawing/2014/main" id="{A5CFBC97-5475-A639-7182-567AF02599FB}"/>
              </a:ext>
            </a:extLst>
          </p:cNvPr>
          <p:cNvSpPr txBox="1">
            <a:spLocks noGrp="1"/>
          </p:cNvSpPr>
          <p:nvPr/>
        </p:nvSpPr>
        <p:spPr>
          <a:xfrm>
            <a:off x="8449440" y="2933700"/>
            <a:ext cx="1612900" cy="635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r>
              <a:rPr lang="en-US" sz="950" dirty="0">
                <a:solidFill>
                  <a:srgbClr val="44546A"/>
                </a:solidFill>
              </a:rPr>
              <a:t>Digital Share</a:t>
            </a:r>
          </a:p>
          <a:p>
            <a:r>
              <a:rPr lang="en-US" sz="1800" b="1" dirty="0">
                <a:solidFill>
                  <a:srgbClr val="0B2B65"/>
                </a:solidFill>
              </a:rPr>
              <a:t>~90%</a:t>
            </a:r>
          </a:p>
          <a:p>
            <a:r>
              <a:rPr lang="en-US" sz="900" dirty="0">
                <a:solidFill>
                  <a:srgbClr val="44546A"/>
                </a:solidFill>
              </a:rPr>
              <a:t>of originations</a:t>
            </a:r>
          </a:p>
        </p:txBody>
      </p:sp>
      <p:sp>
        <p:nvSpPr>
          <p:cNvPr id="51" name="KPI box 5">
            <a:extLst>
              <a:ext uri="{FF2B5EF4-FFF2-40B4-BE49-F238E27FC236}">
                <a16:creationId xmlns:a16="http://schemas.microsoft.com/office/drawing/2014/main" id="{14F20897-D8CC-5983-BE26-C40A3DAD1A2B}"/>
              </a:ext>
            </a:extLst>
          </p:cNvPr>
          <p:cNvSpPr>
            <a:spLocks noGrp="1"/>
          </p:cNvSpPr>
          <p:nvPr/>
        </p:nvSpPr>
        <p:spPr>
          <a:xfrm>
            <a:off x="10265540" y="2870200"/>
            <a:ext cx="1714500" cy="7620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2" name="KPI accent 5">
            <a:extLst>
              <a:ext uri="{FF2B5EF4-FFF2-40B4-BE49-F238E27FC236}">
                <a16:creationId xmlns:a16="http://schemas.microsoft.com/office/drawing/2014/main" id="{87373574-7E02-32E7-A130-12F17C7D9D63}"/>
              </a:ext>
            </a:extLst>
          </p:cNvPr>
          <p:cNvSpPr>
            <a:spLocks noGrp="1"/>
          </p:cNvSpPr>
          <p:nvPr/>
        </p:nvSpPr>
        <p:spPr>
          <a:xfrm>
            <a:off x="10265540" y="2870200"/>
            <a:ext cx="1714500" cy="38100"/>
          </a:xfrm>
          <a:prstGeom prst="rect">
            <a:avLst/>
          </a:prstGeom>
          <a:solidFill>
            <a:srgbClr val="1A5187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3" name="KPI text 5">
            <a:extLst>
              <a:ext uri="{FF2B5EF4-FFF2-40B4-BE49-F238E27FC236}">
                <a16:creationId xmlns:a16="http://schemas.microsoft.com/office/drawing/2014/main" id="{95400519-7374-F28D-52E9-06CAB0B4A7F1}"/>
              </a:ext>
            </a:extLst>
          </p:cNvPr>
          <p:cNvSpPr txBox="1">
            <a:spLocks noGrp="1"/>
          </p:cNvSpPr>
          <p:nvPr/>
        </p:nvSpPr>
        <p:spPr>
          <a:xfrm>
            <a:off x="10316340" y="2933700"/>
            <a:ext cx="1612900" cy="635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r>
              <a:rPr lang="en-US" sz="950" dirty="0">
                <a:solidFill>
                  <a:srgbClr val="44546A"/>
                </a:solidFill>
              </a:rPr>
              <a:t>NPL Ratio</a:t>
            </a:r>
          </a:p>
          <a:p>
            <a:r>
              <a:rPr lang="en-US" sz="1800" b="1" dirty="0">
                <a:solidFill>
                  <a:srgbClr val="0B2B65"/>
                </a:solidFill>
              </a:rPr>
              <a:t>~0.8%</a:t>
            </a:r>
          </a:p>
          <a:p>
            <a:r>
              <a:rPr lang="en-US" sz="900" dirty="0">
                <a:solidFill>
                  <a:srgbClr val="44546A"/>
                </a:solidFill>
              </a:rPr>
              <a:t>Low through-cycle</a:t>
            </a:r>
          </a:p>
        </p:txBody>
      </p:sp>
      <p:sp>
        <p:nvSpPr>
          <p:cNvPr id="55" name="FooterText">
            <a:extLst>
              <a:ext uri="{FF2B5EF4-FFF2-40B4-BE49-F238E27FC236}">
                <a16:creationId xmlns:a16="http://schemas.microsoft.com/office/drawing/2014/main" id="{60609B01-1A57-F88B-AAB5-DEFF2FE88F98}"/>
              </a:ext>
            </a:extLst>
          </p:cNvPr>
          <p:cNvSpPr txBox="1">
            <a:spLocks noGrp="1"/>
          </p:cNvSpPr>
          <p:nvPr/>
        </p:nvSpPr>
        <p:spPr>
          <a:xfrm>
            <a:off x="228600" y="6477000"/>
            <a:ext cx="11430000" cy="3175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r>
              <a:rPr lang="en-US" sz="1000" dirty="0"/>
              <a:t>Source: BAWAG FY2025 Results Presentation (Feb 2026); Pillar 3 Quantitative Report 2025</a:t>
            </a:r>
          </a:p>
        </p:txBody>
      </p:sp>
      <p:sp>
        <p:nvSpPr>
          <p:cNvPr id="56" name="Div1">
            <a:extLst>
              <a:ext uri="{FF2B5EF4-FFF2-40B4-BE49-F238E27FC236}">
                <a16:creationId xmlns:a16="http://schemas.microsoft.com/office/drawing/2014/main" id="{29806B54-D906-EA8E-0897-8A4883716E97}"/>
              </a:ext>
            </a:extLst>
          </p:cNvPr>
          <p:cNvSpPr>
            <a:spLocks noGrp="1"/>
          </p:cNvSpPr>
          <p:nvPr/>
        </p:nvSpPr>
        <p:spPr>
          <a:xfrm>
            <a:off x="3937000" y="698500"/>
            <a:ext cx="25400" cy="5651500"/>
          </a:xfrm>
          <a:prstGeom prst="rect">
            <a:avLst/>
          </a:prstGeom>
          <a:solidFill>
            <a:srgbClr val="E7E6E6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7" name="Div2">
            <a:extLst>
              <a:ext uri="{FF2B5EF4-FFF2-40B4-BE49-F238E27FC236}">
                <a16:creationId xmlns:a16="http://schemas.microsoft.com/office/drawing/2014/main" id="{AE65C41B-B7FF-8639-9C59-68A0BD150B46}"/>
              </a:ext>
            </a:extLst>
          </p:cNvPr>
          <p:cNvSpPr>
            <a:spLocks noGrp="1"/>
          </p:cNvSpPr>
          <p:nvPr/>
        </p:nvSpPr>
        <p:spPr>
          <a:xfrm>
            <a:off x="8267700" y="698500"/>
            <a:ext cx="25400" cy="5651500"/>
          </a:xfrm>
          <a:prstGeom prst="rect">
            <a:avLst/>
          </a:prstGeom>
          <a:solidFill>
            <a:srgbClr val="E7E6E6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8" name="KPI box 220">
            <a:extLst>
              <a:ext uri="{FF2B5EF4-FFF2-40B4-BE49-F238E27FC236}">
                <a16:creationId xmlns:a16="http://schemas.microsoft.com/office/drawing/2014/main" id="{2DDDDD81-13D0-8B6F-B0EB-00DE76C4DECF}"/>
              </a:ext>
            </a:extLst>
          </p:cNvPr>
          <p:cNvSpPr>
            <a:spLocks noGrp="1"/>
          </p:cNvSpPr>
          <p:nvPr/>
        </p:nvSpPr>
        <p:spPr>
          <a:xfrm>
            <a:off x="8398640" y="3733800"/>
            <a:ext cx="1714500" cy="762000"/>
          </a:xfrm>
          <a:prstGeom prst="rect">
            <a:avLst/>
          </a:prstGeom>
          <a:solidFill>
            <a:srgbClr val="F0F7FF"/>
          </a:solidFill>
          <a:ln>
            <a:solidFill>
              <a:srgbClr val="B2D1DD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59" name="KPI accent 220">
            <a:extLst>
              <a:ext uri="{FF2B5EF4-FFF2-40B4-BE49-F238E27FC236}">
                <a16:creationId xmlns:a16="http://schemas.microsoft.com/office/drawing/2014/main" id="{A2BDB3C1-57C8-8604-37C5-F044BE1C1E14}"/>
              </a:ext>
            </a:extLst>
          </p:cNvPr>
          <p:cNvSpPr>
            <a:spLocks noGrp="1"/>
          </p:cNvSpPr>
          <p:nvPr/>
        </p:nvSpPr>
        <p:spPr>
          <a:xfrm>
            <a:off x="8398640" y="3733800"/>
            <a:ext cx="1714500" cy="38100"/>
          </a:xfrm>
          <a:prstGeom prst="rect">
            <a:avLst/>
          </a:prstGeom>
          <a:solidFill>
            <a:srgbClr val="1A5187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60" name="KPI text 220">
            <a:extLst>
              <a:ext uri="{FF2B5EF4-FFF2-40B4-BE49-F238E27FC236}">
                <a16:creationId xmlns:a16="http://schemas.microsoft.com/office/drawing/2014/main" id="{9EEBD687-9FEE-BD60-AD32-92DBAB31EE40}"/>
              </a:ext>
            </a:extLst>
          </p:cNvPr>
          <p:cNvSpPr>
            <a:spLocks noGrp="1"/>
          </p:cNvSpPr>
          <p:nvPr/>
        </p:nvSpPr>
        <p:spPr>
          <a:xfrm>
            <a:off x="8449440" y="3797300"/>
            <a:ext cx="1612900" cy="635000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r>
              <a:rPr lang="en-US" sz="950" dirty="0">
                <a:solidFill>
                  <a:srgbClr val="44546A"/>
                </a:solidFill>
              </a:rPr>
              <a:t>NII</a:t>
            </a:r>
          </a:p>
          <a:p>
            <a:r>
              <a:rPr lang="en-US" sz="1800" b="1" dirty="0">
                <a:solidFill>
                  <a:srgbClr val="0B2B65"/>
                </a:solidFill>
              </a:rPr>
              <a:t>€1,836.5m</a:t>
            </a:r>
          </a:p>
          <a:p>
            <a:r>
              <a:rPr lang="en-US" sz="900" dirty="0">
                <a:solidFill>
                  <a:srgbClr val="44546A"/>
                </a:solidFill>
              </a:rPr>
              <a:t>83% of revenues</a:t>
            </a:r>
          </a:p>
        </p:txBody>
      </p:sp>
      <p:sp>
        <p:nvSpPr>
          <p:cNvPr id="61" name="KPI box 223">
            <a:extLst>
              <a:ext uri="{FF2B5EF4-FFF2-40B4-BE49-F238E27FC236}">
                <a16:creationId xmlns:a16="http://schemas.microsoft.com/office/drawing/2014/main" id="{FA10999C-9021-DC9E-DB15-C8BE9DDC30CA}"/>
              </a:ext>
            </a:extLst>
          </p:cNvPr>
          <p:cNvSpPr>
            <a:spLocks noGrp="1"/>
          </p:cNvSpPr>
          <p:nvPr/>
        </p:nvSpPr>
        <p:spPr>
          <a:xfrm>
            <a:off x="10265540" y="3733800"/>
            <a:ext cx="1714500" cy="762000"/>
          </a:xfrm>
          <a:prstGeom prst="rect">
            <a:avLst/>
          </a:prstGeom>
          <a:solidFill>
            <a:srgbClr val="F0F7FF"/>
          </a:solidFill>
          <a:ln>
            <a:solidFill>
              <a:srgbClr val="B2D1DD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62" name="KPI accent 223">
            <a:extLst>
              <a:ext uri="{FF2B5EF4-FFF2-40B4-BE49-F238E27FC236}">
                <a16:creationId xmlns:a16="http://schemas.microsoft.com/office/drawing/2014/main" id="{4D562945-3F67-E348-814F-0A15F06CB9CB}"/>
              </a:ext>
            </a:extLst>
          </p:cNvPr>
          <p:cNvSpPr>
            <a:spLocks noGrp="1"/>
          </p:cNvSpPr>
          <p:nvPr/>
        </p:nvSpPr>
        <p:spPr>
          <a:xfrm>
            <a:off x="10265540" y="3733800"/>
            <a:ext cx="1714500" cy="38100"/>
          </a:xfrm>
          <a:prstGeom prst="rect">
            <a:avLst/>
          </a:prstGeom>
          <a:solidFill>
            <a:srgbClr val="1A5187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63" name="KPI text 223">
            <a:extLst>
              <a:ext uri="{FF2B5EF4-FFF2-40B4-BE49-F238E27FC236}">
                <a16:creationId xmlns:a16="http://schemas.microsoft.com/office/drawing/2014/main" id="{98451FFD-AE37-2BC3-F90B-8259991D7EB6}"/>
              </a:ext>
            </a:extLst>
          </p:cNvPr>
          <p:cNvSpPr>
            <a:spLocks noGrp="1"/>
          </p:cNvSpPr>
          <p:nvPr/>
        </p:nvSpPr>
        <p:spPr>
          <a:xfrm>
            <a:off x="10316340" y="3797300"/>
            <a:ext cx="1612900" cy="635000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r>
              <a:rPr lang="en-US" sz="950" dirty="0">
                <a:solidFill>
                  <a:srgbClr val="44546A"/>
                </a:solidFill>
              </a:rPr>
              <a:t>NCI</a:t>
            </a:r>
          </a:p>
          <a:p>
            <a:r>
              <a:rPr lang="en-US" sz="1800" b="1" dirty="0">
                <a:solidFill>
                  <a:srgbClr val="0B2B65"/>
                </a:solidFill>
              </a:rPr>
              <a:t>€371m</a:t>
            </a:r>
          </a:p>
          <a:p>
            <a:r>
              <a:rPr lang="en-US" sz="900" dirty="0">
                <a:solidFill>
                  <a:srgbClr val="44546A"/>
                </a:solidFill>
              </a:rPr>
              <a:t>17% of revenues</a:t>
            </a:r>
          </a:p>
        </p:txBody>
      </p:sp>
      <p:sp>
        <p:nvSpPr>
          <p:cNvPr id="64" name="KPI box 226">
            <a:extLst>
              <a:ext uri="{FF2B5EF4-FFF2-40B4-BE49-F238E27FC236}">
                <a16:creationId xmlns:a16="http://schemas.microsoft.com/office/drawing/2014/main" id="{C8EF169D-91C0-9B94-6DA8-AE43C0853284}"/>
              </a:ext>
            </a:extLst>
          </p:cNvPr>
          <p:cNvSpPr>
            <a:spLocks noGrp="1"/>
          </p:cNvSpPr>
          <p:nvPr/>
        </p:nvSpPr>
        <p:spPr>
          <a:xfrm>
            <a:off x="8398640" y="4597400"/>
            <a:ext cx="1714500" cy="762000"/>
          </a:xfrm>
          <a:prstGeom prst="rect">
            <a:avLst/>
          </a:prstGeom>
          <a:solidFill>
            <a:srgbClr val="F0F7FF"/>
          </a:solidFill>
          <a:ln>
            <a:solidFill>
              <a:srgbClr val="B2D1DD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65" name="KPI accent 226">
            <a:extLst>
              <a:ext uri="{FF2B5EF4-FFF2-40B4-BE49-F238E27FC236}">
                <a16:creationId xmlns:a16="http://schemas.microsoft.com/office/drawing/2014/main" id="{9F24E52D-CFD0-AB64-F1E7-F6B6712FF6BC}"/>
              </a:ext>
            </a:extLst>
          </p:cNvPr>
          <p:cNvSpPr>
            <a:spLocks noGrp="1"/>
          </p:cNvSpPr>
          <p:nvPr/>
        </p:nvSpPr>
        <p:spPr>
          <a:xfrm>
            <a:off x="8398640" y="4597400"/>
            <a:ext cx="1714500" cy="38100"/>
          </a:xfrm>
          <a:prstGeom prst="rect">
            <a:avLst/>
          </a:prstGeom>
          <a:solidFill>
            <a:srgbClr val="1A5187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66" name="KPI text 226">
            <a:extLst>
              <a:ext uri="{FF2B5EF4-FFF2-40B4-BE49-F238E27FC236}">
                <a16:creationId xmlns:a16="http://schemas.microsoft.com/office/drawing/2014/main" id="{93B3E170-9129-95F1-3F1A-C4A5AC442393}"/>
              </a:ext>
            </a:extLst>
          </p:cNvPr>
          <p:cNvSpPr>
            <a:spLocks noGrp="1"/>
          </p:cNvSpPr>
          <p:nvPr/>
        </p:nvSpPr>
        <p:spPr>
          <a:xfrm>
            <a:off x="8449440" y="4660900"/>
            <a:ext cx="1612900" cy="635000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r>
              <a:rPr lang="en-US" sz="950" dirty="0">
                <a:solidFill>
                  <a:srgbClr val="44546A"/>
                </a:solidFill>
              </a:rPr>
              <a:t>NIM</a:t>
            </a:r>
          </a:p>
          <a:p>
            <a:r>
              <a:rPr lang="en-US" sz="1800" b="1" dirty="0">
                <a:solidFill>
                  <a:srgbClr val="0B2B65"/>
                </a:solidFill>
              </a:rPr>
              <a:t>3.29%</a:t>
            </a:r>
          </a:p>
          <a:p>
            <a:r>
              <a:rPr lang="en-US" sz="900" dirty="0">
                <a:solidFill>
                  <a:srgbClr val="44546A"/>
                </a:solidFill>
              </a:rPr>
              <a:t>Net Interest Margin</a:t>
            </a:r>
          </a:p>
        </p:txBody>
      </p:sp>
      <p:sp>
        <p:nvSpPr>
          <p:cNvPr id="67" name="KPI box 229">
            <a:extLst>
              <a:ext uri="{FF2B5EF4-FFF2-40B4-BE49-F238E27FC236}">
                <a16:creationId xmlns:a16="http://schemas.microsoft.com/office/drawing/2014/main" id="{B21B2736-3270-0B3A-B1E7-B9AC504E56D5}"/>
              </a:ext>
            </a:extLst>
          </p:cNvPr>
          <p:cNvSpPr>
            <a:spLocks noGrp="1"/>
          </p:cNvSpPr>
          <p:nvPr/>
        </p:nvSpPr>
        <p:spPr>
          <a:xfrm>
            <a:off x="10265540" y="4597400"/>
            <a:ext cx="1714500" cy="762000"/>
          </a:xfrm>
          <a:prstGeom prst="rect">
            <a:avLst/>
          </a:prstGeom>
          <a:solidFill>
            <a:srgbClr val="F0F7FF"/>
          </a:solidFill>
          <a:ln>
            <a:solidFill>
              <a:srgbClr val="B2D1DD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68" name="KPI accent 229">
            <a:extLst>
              <a:ext uri="{FF2B5EF4-FFF2-40B4-BE49-F238E27FC236}">
                <a16:creationId xmlns:a16="http://schemas.microsoft.com/office/drawing/2014/main" id="{977334B1-7552-08D5-F953-B74DC85ECC13}"/>
              </a:ext>
            </a:extLst>
          </p:cNvPr>
          <p:cNvSpPr>
            <a:spLocks noGrp="1"/>
          </p:cNvSpPr>
          <p:nvPr/>
        </p:nvSpPr>
        <p:spPr>
          <a:xfrm>
            <a:off x="10265540" y="4597400"/>
            <a:ext cx="1714500" cy="38100"/>
          </a:xfrm>
          <a:prstGeom prst="rect">
            <a:avLst/>
          </a:prstGeom>
          <a:solidFill>
            <a:srgbClr val="1A5187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69" name="KPI text 229">
            <a:extLst>
              <a:ext uri="{FF2B5EF4-FFF2-40B4-BE49-F238E27FC236}">
                <a16:creationId xmlns:a16="http://schemas.microsoft.com/office/drawing/2014/main" id="{1AB1D460-7DE2-BAE9-95D1-0661CA1455AE}"/>
              </a:ext>
            </a:extLst>
          </p:cNvPr>
          <p:cNvSpPr>
            <a:spLocks noGrp="1"/>
          </p:cNvSpPr>
          <p:nvPr/>
        </p:nvSpPr>
        <p:spPr>
          <a:xfrm>
            <a:off x="10316340" y="4660900"/>
            <a:ext cx="1612900" cy="635000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r>
              <a:rPr lang="en-US" sz="950" dirty="0">
                <a:solidFill>
                  <a:srgbClr val="44546A"/>
                </a:solidFill>
              </a:rPr>
              <a:t>RoTCE</a:t>
            </a:r>
          </a:p>
          <a:p>
            <a:r>
              <a:rPr lang="en-US" sz="1800" b="1" dirty="0">
                <a:solidFill>
                  <a:srgbClr val="0B2B65"/>
                </a:solidFill>
              </a:rPr>
              <a:t>26.9%</a:t>
            </a:r>
          </a:p>
          <a:p>
            <a:r>
              <a:rPr lang="en-US" sz="900" dirty="0">
                <a:solidFill>
                  <a:srgbClr val="44546A"/>
                </a:solidFill>
              </a:rPr>
              <a:t>Ret. on Tang. Cap. Eq.</a:t>
            </a:r>
          </a:p>
        </p:txBody>
      </p:sp>
      <p:graphicFrame>
        <p:nvGraphicFramePr>
          <p:cNvPr id="300" name="Loan Portfolio Chart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10691892"/>
              </p:ext>
            </p:extLst>
          </p:nvPr>
        </p:nvGraphicFramePr>
        <p:xfrm>
          <a:off x="4000500" y="1143000"/>
          <a:ext cx="4229100" cy="5207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18" name="ColT2"/>
          <p:cNvSpPr>
            <a:spLocks noGrp="1"/>
          </p:cNvSpPr>
          <p:nvPr/>
        </p:nvSpPr>
        <p:spPr>
          <a:xfrm>
            <a:off x="4000500" y="736600"/>
            <a:ext cx="4191000" cy="355600"/>
          </a:xfrm>
          <a:prstGeom prst="rect">
            <a:avLst/>
          </a:prstGeom>
          <a:noFill/>
        </p:spPr>
        <p:txBody>
          <a:bodyPr anchor="ctr"/>
          <a:lstStyle/>
          <a:p>
            <a:r>
              <a:rPr lang="en-US" sz="1400" b="1" dirty="0">
                <a:solidFill>
                  <a:srgbClr val="FFFFFF"/>
                </a:solidFill>
              </a:rPr>
              <a:t>Loan Portfolio (€52.9bn incl. off-balance items)</a:t>
            </a:r>
          </a:p>
        </p:txBody>
      </p:sp>
      <p:sp>
        <p:nvSpPr>
          <p:cNvPr id="400" name="BarLabel0"/>
          <p:cNvSpPr txBox="1">
            <a:spLocks noGrp="1"/>
          </p:cNvSpPr>
          <p:nvPr/>
        </p:nvSpPr>
        <p:spPr>
          <a:xfrm>
            <a:off x="7556500" y="1549400"/>
            <a:ext cx="558800" cy="254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r>
              <a:rPr lang="en-US" sz="950" b="1" dirty="0">
                <a:solidFill>
                  <a:srgbClr val="0B2B65"/>
                </a:solidFill>
              </a:rPr>
              <a:t>26.6 bn </a:t>
            </a:r>
          </a:p>
          <a:p>
            <a:r>
              <a:rPr lang="en-US" sz="950" b="1" dirty="0">
                <a:solidFill>
                  <a:srgbClr val="0B2B65"/>
                </a:solidFill>
              </a:rPr>
              <a:t>50.3%</a:t>
            </a:r>
          </a:p>
        </p:txBody>
      </p:sp>
      <p:sp>
        <p:nvSpPr>
          <p:cNvPr id="401" name="BarLabel1"/>
          <p:cNvSpPr txBox="1">
            <a:spLocks noGrp="1"/>
          </p:cNvSpPr>
          <p:nvPr/>
        </p:nvSpPr>
        <p:spPr>
          <a:xfrm>
            <a:off x="6377370" y="2584450"/>
            <a:ext cx="1270000" cy="254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r>
              <a:rPr lang="en-US" sz="950" b="1" dirty="0">
                <a:solidFill>
                  <a:srgbClr val="0B2B65"/>
                </a:solidFill>
              </a:rPr>
              <a:t>12.2 bn </a:t>
            </a:r>
          </a:p>
          <a:p>
            <a:r>
              <a:rPr lang="en-US" sz="950" b="1" dirty="0">
                <a:solidFill>
                  <a:srgbClr val="0B2B65"/>
                </a:solidFill>
              </a:rPr>
              <a:t>23.1%</a:t>
            </a:r>
          </a:p>
        </p:txBody>
      </p:sp>
      <p:sp>
        <p:nvSpPr>
          <p:cNvPr id="402" name="BarLabel2"/>
          <p:cNvSpPr txBox="1">
            <a:spLocks noGrp="1"/>
          </p:cNvSpPr>
          <p:nvPr/>
        </p:nvSpPr>
        <p:spPr>
          <a:xfrm>
            <a:off x="5860581" y="3619500"/>
            <a:ext cx="1270000" cy="254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r>
              <a:rPr lang="en-US" sz="950" b="1" dirty="0">
                <a:solidFill>
                  <a:srgbClr val="0B2B65"/>
                </a:solidFill>
              </a:rPr>
              <a:t>5.7 bn </a:t>
            </a:r>
          </a:p>
          <a:p>
            <a:r>
              <a:rPr lang="en-US" sz="950" b="1" dirty="0">
                <a:solidFill>
                  <a:srgbClr val="0B2B65"/>
                </a:solidFill>
              </a:rPr>
              <a:t>10.8%</a:t>
            </a:r>
          </a:p>
        </p:txBody>
      </p:sp>
      <p:sp>
        <p:nvSpPr>
          <p:cNvPr id="403" name="BarLabel3"/>
          <p:cNvSpPr txBox="1">
            <a:spLocks noGrp="1"/>
          </p:cNvSpPr>
          <p:nvPr/>
        </p:nvSpPr>
        <p:spPr>
          <a:xfrm>
            <a:off x="5860581" y="4597400"/>
            <a:ext cx="1270000" cy="254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r>
              <a:rPr lang="en-US" sz="950" b="1" dirty="0">
                <a:solidFill>
                  <a:srgbClr val="0B2B65"/>
                </a:solidFill>
              </a:rPr>
              <a:t>5.6 bn </a:t>
            </a:r>
          </a:p>
          <a:p>
            <a:r>
              <a:rPr lang="en-US" sz="950" b="1" dirty="0">
                <a:solidFill>
                  <a:srgbClr val="0B2B65"/>
                </a:solidFill>
              </a:rPr>
              <a:t>10.7%</a:t>
            </a:r>
          </a:p>
        </p:txBody>
      </p:sp>
      <p:sp>
        <p:nvSpPr>
          <p:cNvPr id="404" name="BarLabel4"/>
          <p:cNvSpPr txBox="1">
            <a:spLocks noGrp="1"/>
          </p:cNvSpPr>
          <p:nvPr/>
        </p:nvSpPr>
        <p:spPr>
          <a:xfrm>
            <a:off x="5660260" y="5632450"/>
            <a:ext cx="1270000" cy="254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r>
              <a:rPr lang="en-US" sz="950" b="1" dirty="0">
                <a:solidFill>
                  <a:srgbClr val="0B2B65"/>
                </a:solidFill>
              </a:rPr>
              <a:t>2.7 bn </a:t>
            </a:r>
          </a:p>
          <a:p>
            <a:r>
              <a:rPr lang="en-US" sz="950" b="1" dirty="0">
                <a:solidFill>
                  <a:srgbClr val="0B2B65"/>
                </a:solidFill>
              </a:rPr>
              <a:t>5.1%</a:t>
            </a:r>
          </a:p>
        </p:txBody>
      </p:sp>
    </p:spTree>
    <p:extLst>
      <p:ext uri="{BB962C8B-B14F-4D97-AF65-F5344CB8AC3E}">
        <p14:creationId xmlns:p14="http://schemas.microsoft.com/office/powerpoint/2010/main" val="153935958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CF13C9B-5295-E5FA-D9EE-C41A00B527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752CBED0-9E49-22BC-DEB6-7DF099CDF005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hu-HU" b="1" dirty="0"/>
              <a:t>Business </a:t>
            </a:r>
            <a:r>
              <a:rPr lang="hu-HU" b="1" dirty="0" err="1"/>
              <a:t>Model</a:t>
            </a:r>
            <a:r>
              <a:rPr lang="hu-HU" b="1" dirty="0"/>
              <a:t> - </a:t>
            </a:r>
            <a:r>
              <a:rPr lang="hu-HU" b="1" dirty="0" err="1"/>
              <a:t>Segments</a:t>
            </a:r>
            <a:r>
              <a:rPr lang="hu-HU" b="1" dirty="0"/>
              <a:t> &amp; Key </a:t>
            </a:r>
            <a:r>
              <a:rPr lang="hu-HU" b="1" dirty="0" err="1"/>
              <a:t>Financials</a:t>
            </a:r>
            <a:endParaRPr lang="hu-HU" b="1" dirty="0"/>
          </a:p>
        </p:txBody>
      </p:sp>
      <p:sp>
        <p:nvSpPr>
          <p:cNvPr id="3" name="Seg bg 0">
            <a:extLst>
              <a:ext uri="{FF2B5EF4-FFF2-40B4-BE49-F238E27FC236}">
                <a16:creationId xmlns:a16="http://schemas.microsoft.com/office/drawing/2014/main" id="{7BD50210-82E4-1EC5-A4BD-5C3E1DC4E287}"/>
              </a:ext>
            </a:extLst>
          </p:cNvPr>
          <p:cNvSpPr>
            <a:spLocks noGrp="1"/>
          </p:cNvSpPr>
          <p:nvPr/>
        </p:nvSpPr>
        <p:spPr>
          <a:xfrm>
            <a:off x="190500" y="895096"/>
            <a:ext cx="3746500" cy="25400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4" name="Seg hdr 0">
            <a:extLst>
              <a:ext uri="{FF2B5EF4-FFF2-40B4-BE49-F238E27FC236}">
                <a16:creationId xmlns:a16="http://schemas.microsoft.com/office/drawing/2014/main" id="{3AD92F46-CF52-81AC-9CA6-332D5EF43421}"/>
              </a:ext>
            </a:extLst>
          </p:cNvPr>
          <p:cNvSpPr>
            <a:spLocks noGrp="1"/>
          </p:cNvSpPr>
          <p:nvPr/>
        </p:nvSpPr>
        <p:spPr>
          <a:xfrm>
            <a:off x="190500" y="895096"/>
            <a:ext cx="3746500" cy="406400"/>
          </a:xfrm>
          <a:prstGeom prst="rect">
            <a:avLst/>
          </a:prstGeom>
          <a:solidFill>
            <a:srgbClr val="0B2B65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" name="Seg title 0">
            <a:extLst>
              <a:ext uri="{FF2B5EF4-FFF2-40B4-BE49-F238E27FC236}">
                <a16:creationId xmlns:a16="http://schemas.microsoft.com/office/drawing/2014/main" id="{945D52BE-BAF7-6DFD-921A-5B0D41143D93}"/>
              </a:ext>
            </a:extLst>
          </p:cNvPr>
          <p:cNvSpPr txBox="1">
            <a:spLocks noGrp="1"/>
          </p:cNvSpPr>
          <p:nvPr/>
        </p:nvSpPr>
        <p:spPr>
          <a:xfrm>
            <a:off x="292100" y="920496"/>
            <a:ext cx="3543300" cy="355600"/>
          </a:xfrm>
          <a:prstGeom prst="rect">
            <a:avLst/>
          </a:prstGeom>
          <a:noFill/>
          <a:ln>
            <a:noFill/>
          </a:ln>
        </p:spPr>
        <p:txBody>
          <a:bodyPr wrap="square" anchor="ctr"/>
          <a:lstStyle/>
          <a:p>
            <a:pPr algn="ctr"/>
            <a:r>
              <a:rPr lang="en-US" sz="1400" b="1" dirty="0">
                <a:solidFill>
                  <a:srgbClr val="FFFFFF"/>
                </a:solidFill>
              </a:rPr>
              <a:t>Retail &amp; SME</a:t>
            </a:r>
            <a:endParaRPr sz="1400" b="1" dirty="0">
              <a:solidFill>
                <a:srgbClr val="FFFFFF"/>
              </a:solidFill>
            </a:endParaRPr>
          </a:p>
        </p:txBody>
      </p:sp>
      <p:sp>
        <p:nvSpPr>
          <p:cNvPr id="6" name="Rev badge 0">
            <a:extLst>
              <a:ext uri="{FF2B5EF4-FFF2-40B4-BE49-F238E27FC236}">
                <a16:creationId xmlns:a16="http://schemas.microsoft.com/office/drawing/2014/main" id="{BD9012D5-BB98-CE23-2805-E9B903BB2A7F}"/>
              </a:ext>
            </a:extLst>
          </p:cNvPr>
          <p:cNvSpPr>
            <a:spLocks noGrp="1"/>
          </p:cNvSpPr>
          <p:nvPr/>
        </p:nvSpPr>
        <p:spPr>
          <a:xfrm>
            <a:off x="190500" y="1301496"/>
            <a:ext cx="3746500" cy="355600"/>
          </a:xfrm>
          <a:prstGeom prst="rect">
            <a:avLst/>
          </a:prstGeom>
          <a:solidFill>
            <a:srgbClr val="E8EDF5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7" name="Rev txt 0">
            <a:extLst>
              <a:ext uri="{FF2B5EF4-FFF2-40B4-BE49-F238E27FC236}">
                <a16:creationId xmlns:a16="http://schemas.microsoft.com/office/drawing/2014/main" id="{F2D45F85-9465-BD41-32A8-06454CEB4209}"/>
              </a:ext>
            </a:extLst>
          </p:cNvPr>
          <p:cNvSpPr txBox="1">
            <a:spLocks noGrp="1"/>
          </p:cNvSpPr>
          <p:nvPr/>
        </p:nvSpPr>
        <p:spPr>
          <a:xfrm>
            <a:off x="292100" y="1339596"/>
            <a:ext cx="3543300" cy="279400"/>
          </a:xfrm>
          <a:prstGeom prst="rect">
            <a:avLst/>
          </a:prstGeom>
          <a:noFill/>
          <a:ln>
            <a:noFill/>
          </a:ln>
        </p:spPr>
        <p:txBody>
          <a:bodyPr wrap="square" anchor="ctr"/>
          <a:lstStyle/>
          <a:p>
            <a:pPr algn="ctr"/>
            <a:r>
              <a:rPr lang="en-US" sz="1200" b="1" dirty="0">
                <a:solidFill>
                  <a:srgbClr val="0B2B65"/>
                </a:solidFill>
              </a:rPr>
              <a:t>Core Revenues: €1,876m</a:t>
            </a:r>
          </a:p>
        </p:txBody>
      </p:sp>
      <p:sp>
        <p:nvSpPr>
          <p:cNvPr id="8" name="Seg items 0">
            <a:extLst>
              <a:ext uri="{FF2B5EF4-FFF2-40B4-BE49-F238E27FC236}">
                <a16:creationId xmlns:a16="http://schemas.microsoft.com/office/drawing/2014/main" id="{72E8180F-7081-9225-D80E-1248F8C7C9D4}"/>
              </a:ext>
            </a:extLst>
          </p:cNvPr>
          <p:cNvSpPr txBox="1">
            <a:spLocks noGrp="1"/>
          </p:cNvSpPr>
          <p:nvPr/>
        </p:nvSpPr>
        <p:spPr>
          <a:xfrm>
            <a:off x="292100" y="1707896"/>
            <a:ext cx="3543300" cy="1651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marL="114300" indent="-114300">
              <a:spcBef>
                <a:spcPts val="60"/>
              </a:spcBef>
            </a:pPr>
            <a:r>
              <a:rPr lang="en-US" sz="1400" dirty="0">
                <a:solidFill>
                  <a:srgbClr val="000000"/>
                </a:solidFill>
              </a:rPr>
              <a:t>• Retail mortgages (€27bn)</a:t>
            </a:r>
          </a:p>
          <a:p>
            <a:pPr marL="114300" indent="-114300">
              <a:spcBef>
                <a:spcPts val="60"/>
              </a:spcBef>
            </a:pPr>
            <a:r>
              <a:rPr lang="en-US" sz="1400" dirty="0">
                <a:solidFill>
                  <a:srgbClr val="000000"/>
                </a:solidFill>
              </a:rPr>
              <a:t>• Consumer unsecured (€8bn)</a:t>
            </a:r>
          </a:p>
          <a:p>
            <a:pPr marL="114300" indent="-114300">
              <a:spcBef>
                <a:spcPts val="60"/>
              </a:spcBef>
            </a:pPr>
            <a:r>
              <a:rPr lang="en-US" sz="1400" dirty="0">
                <a:solidFill>
                  <a:srgbClr val="000000"/>
                </a:solidFill>
              </a:rPr>
              <a:t>• SME lending &amp; leasing</a:t>
            </a:r>
          </a:p>
          <a:p>
            <a:pPr marL="114300" indent="-114300">
              <a:spcBef>
                <a:spcPts val="60"/>
              </a:spcBef>
            </a:pPr>
            <a:r>
              <a:rPr lang="en-US" sz="1400" dirty="0">
                <a:solidFill>
                  <a:srgbClr val="000000"/>
                </a:solidFill>
              </a:rPr>
              <a:t>• 90% digital originations</a:t>
            </a:r>
          </a:p>
          <a:p>
            <a:pPr marL="114300" indent="-114300">
              <a:spcBef>
                <a:spcPts val="60"/>
              </a:spcBef>
            </a:pPr>
            <a:r>
              <a:rPr lang="en-US" sz="1400" dirty="0">
                <a:solidFill>
                  <a:srgbClr val="000000"/>
                </a:solidFill>
              </a:rPr>
              <a:t>• Deposit-funded model</a:t>
            </a:r>
          </a:p>
        </p:txBody>
      </p:sp>
      <p:sp>
        <p:nvSpPr>
          <p:cNvPr id="9" name="Seg bg 1">
            <a:extLst>
              <a:ext uri="{FF2B5EF4-FFF2-40B4-BE49-F238E27FC236}">
                <a16:creationId xmlns:a16="http://schemas.microsoft.com/office/drawing/2014/main" id="{83B1D668-FD68-8B55-458C-F8DF0B1BB17D}"/>
              </a:ext>
            </a:extLst>
          </p:cNvPr>
          <p:cNvSpPr>
            <a:spLocks noGrp="1"/>
          </p:cNvSpPr>
          <p:nvPr/>
        </p:nvSpPr>
        <p:spPr>
          <a:xfrm>
            <a:off x="4127500" y="895096"/>
            <a:ext cx="3746500" cy="25400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0" name="Seg hdr 1">
            <a:extLst>
              <a:ext uri="{FF2B5EF4-FFF2-40B4-BE49-F238E27FC236}">
                <a16:creationId xmlns:a16="http://schemas.microsoft.com/office/drawing/2014/main" id="{6556DD74-E8A3-DA54-21E0-FAF00954AEC3}"/>
              </a:ext>
            </a:extLst>
          </p:cNvPr>
          <p:cNvSpPr>
            <a:spLocks noGrp="1"/>
          </p:cNvSpPr>
          <p:nvPr/>
        </p:nvSpPr>
        <p:spPr>
          <a:xfrm>
            <a:off x="4127500" y="895096"/>
            <a:ext cx="3746500" cy="406400"/>
          </a:xfrm>
          <a:prstGeom prst="rect">
            <a:avLst/>
          </a:prstGeom>
          <a:solidFill>
            <a:srgbClr val="44546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1" name="Seg title 1">
            <a:extLst>
              <a:ext uri="{FF2B5EF4-FFF2-40B4-BE49-F238E27FC236}">
                <a16:creationId xmlns:a16="http://schemas.microsoft.com/office/drawing/2014/main" id="{0A4B0879-FDA2-1BC9-FD93-CA1074B26381}"/>
              </a:ext>
            </a:extLst>
          </p:cNvPr>
          <p:cNvSpPr txBox="1">
            <a:spLocks noGrp="1"/>
          </p:cNvSpPr>
          <p:nvPr/>
        </p:nvSpPr>
        <p:spPr>
          <a:xfrm>
            <a:off x="4229100" y="920496"/>
            <a:ext cx="3543300" cy="355600"/>
          </a:xfrm>
          <a:prstGeom prst="rect">
            <a:avLst/>
          </a:prstGeom>
          <a:noFill/>
          <a:ln>
            <a:noFill/>
          </a:ln>
        </p:spPr>
        <p:txBody>
          <a:bodyPr wrap="square" anchor="ctr"/>
          <a:lstStyle/>
          <a:p>
            <a:pPr algn="ctr"/>
            <a:r>
              <a:rPr lang="en-US" sz="1400" b="1" dirty="0">
                <a:solidFill>
                  <a:srgbClr val="FFFFFF"/>
                </a:solidFill>
              </a:rPr>
              <a:t>Corp / RE / Public</a:t>
            </a:r>
            <a:r>
              <a:rPr lang="en-US" sz="1200" dirty="0">
                <a:solidFill>
                  <a:srgbClr val="B2D1DD"/>
                </a:solidFill>
              </a:rPr>
              <a:t>  13% of revenues</a:t>
            </a:r>
          </a:p>
        </p:txBody>
      </p:sp>
      <p:sp>
        <p:nvSpPr>
          <p:cNvPr id="12" name="Rev badge 1">
            <a:extLst>
              <a:ext uri="{FF2B5EF4-FFF2-40B4-BE49-F238E27FC236}">
                <a16:creationId xmlns:a16="http://schemas.microsoft.com/office/drawing/2014/main" id="{498689EB-4DEA-5152-768C-FA83ECCFDBC5}"/>
              </a:ext>
            </a:extLst>
          </p:cNvPr>
          <p:cNvSpPr>
            <a:spLocks noGrp="1"/>
          </p:cNvSpPr>
          <p:nvPr/>
        </p:nvSpPr>
        <p:spPr>
          <a:xfrm>
            <a:off x="4127500" y="1301496"/>
            <a:ext cx="3746500" cy="355600"/>
          </a:xfrm>
          <a:prstGeom prst="rect">
            <a:avLst/>
          </a:prstGeom>
          <a:solidFill>
            <a:srgbClr val="E8EBF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3" name="Rev txt 1">
            <a:extLst>
              <a:ext uri="{FF2B5EF4-FFF2-40B4-BE49-F238E27FC236}">
                <a16:creationId xmlns:a16="http://schemas.microsoft.com/office/drawing/2014/main" id="{F0613805-8267-6F42-7981-BB41AE51775F}"/>
              </a:ext>
            </a:extLst>
          </p:cNvPr>
          <p:cNvSpPr txBox="1">
            <a:spLocks noGrp="1"/>
          </p:cNvSpPr>
          <p:nvPr/>
        </p:nvSpPr>
        <p:spPr>
          <a:xfrm>
            <a:off x="4229100" y="1339596"/>
            <a:ext cx="3543300" cy="279400"/>
          </a:xfrm>
          <a:prstGeom prst="rect">
            <a:avLst/>
          </a:prstGeom>
          <a:noFill/>
          <a:ln>
            <a:noFill/>
          </a:ln>
        </p:spPr>
        <p:txBody>
          <a:bodyPr wrap="square" anchor="ctr"/>
          <a:lstStyle/>
          <a:p>
            <a:pPr algn="ctr"/>
            <a:r>
              <a:rPr lang="en-US" sz="1200" b="1" dirty="0">
                <a:solidFill>
                  <a:srgbClr val="44546A"/>
                </a:solidFill>
              </a:rPr>
              <a:t>Core Revenues: €289m</a:t>
            </a:r>
          </a:p>
        </p:txBody>
      </p:sp>
      <p:sp>
        <p:nvSpPr>
          <p:cNvPr id="14" name="Seg items 1">
            <a:extLst>
              <a:ext uri="{FF2B5EF4-FFF2-40B4-BE49-F238E27FC236}">
                <a16:creationId xmlns:a16="http://schemas.microsoft.com/office/drawing/2014/main" id="{BEB64B83-8953-53AF-D53C-09BC0FC5DAB3}"/>
              </a:ext>
            </a:extLst>
          </p:cNvPr>
          <p:cNvSpPr txBox="1">
            <a:spLocks noGrp="1"/>
          </p:cNvSpPr>
          <p:nvPr/>
        </p:nvSpPr>
        <p:spPr>
          <a:xfrm>
            <a:off x="4229100" y="1707896"/>
            <a:ext cx="3543300" cy="1651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marL="114300" indent="-114300">
              <a:spcBef>
                <a:spcPts val="60"/>
              </a:spcBef>
            </a:pPr>
            <a:r>
              <a:rPr lang="en-US" sz="1400" dirty="0">
                <a:solidFill>
                  <a:srgbClr val="000000"/>
                </a:solidFill>
              </a:rPr>
              <a:t>• Corporate lending (€2.7bn)</a:t>
            </a:r>
          </a:p>
          <a:p>
            <a:pPr marL="114300" indent="-114300">
              <a:spcBef>
                <a:spcPts val="60"/>
              </a:spcBef>
            </a:pPr>
            <a:r>
              <a:rPr lang="en-US" sz="1400" dirty="0">
                <a:solidFill>
                  <a:srgbClr val="000000"/>
                </a:solidFill>
              </a:rPr>
              <a:t>• Commercial RE (€5.7bn)</a:t>
            </a:r>
          </a:p>
          <a:p>
            <a:pPr marL="114300" indent="-114300">
              <a:spcBef>
                <a:spcPts val="60"/>
              </a:spcBef>
            </a:pPr>
            <a:r>
              <a:rPr lang="en-US" sz="1400" dirty="0">
                <a:solidFill>
                  <a:srgbClr val="000000"/>
                </a:solidFill>
              </a:rPr>
              <a:t>• Public sector (€5.6bn)</a:t>
            </a:r>
          </a:p>
          <a:p>
            <a:pPr marL="114300" indent="-114300">
              <a:spcBef>
                <a:spcPts val="60"/>
              </a:spcBef>
            </a:pPr>
            <a:r>
              <a:rPr lang="en-US" sz="1400" dirty="0">
                <a:solidFill>
                  <a:srgbClr val="000000"/>
                </a:solidFill>
              </a:rPr>
              <a:t>• F-IRB + Slotting approach</a:t>
            </a:r>
          </a:p>
          <a:p>
            <a:pPr marL="114300" indent="-114300">
              <a:spcBef>
                <a:spcPts val="60"/>
              </a:spcBef>
            </a:pPr>
            <a:r>
              <a:rPr lang="en-US" sz="1400" dirty="0">
                <a:solidFill>
                  <a:srgbClr val="000000"/>
                </a:solidFill>
              </a:rPr>
              <a:t>• Non-cyclical industry focus</a:t>
            </a:r>
          </a:p>
        </p:txBody>
      </p:sp>
      <p:sp>
        <p:nvSpPr>
          <p:cNvPr id="15" name="TableHdr">
            <a:extLst>
              <a:ext uri="{FF2B5EF4-FFF2-40B4-BE49-F238E27FC236}">
                <a16:creationId xmlns:a16="http://schemas.microsoft.com/office/drawing/2014/main" id="{168F27E4-4090-BA55-9F78-98E56FBB3D17}"/>
              </a:ext>
            </a:extLst>
          </p:cNvPr>
          <p:cNvSpPr>
            <a:spLocks noGrp="1"/>
          </p:cNvSpPr>
          <p:nvPr/>
        </p:nvSpPr>
        <p:spPr>
          <a:xfrm>
            <a:off x="8001000" y="895096"/>
            <a:ext cx="4064000" cy="25400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6" name="TableHdrBg">
            <a:extLst>
              <a:ext uri="{FF2B5EF4-FFF2-40B4-BE49-F238E27FC236}">
                <a16:creationId xmlns:a16="http://schemas.microsoft.com/office/drawing/2014/main" id="{3A123299-579D-FD46-6CD1-E4725055E23E}"/>
              </a:ext>
            </a:extLst>
          </p:cNvPr>
          <p:cNvSpPr>
            <a:spLocks noGrp="1"/>
          </p:cNvSpPr>
          <p:nvPr/>
        </p:nvSpPr>
        <p:spPr>
          <a:xfrm>
            <a:off x="8001000" y="895096"/>
            <a:ext cx="4064000" cy="381000"/>
          </a:xfrm>
          <a:prstGeom prst="rect">
            <a:avLst/>
          </a:prstGeom>
          <a:solidFill>
            <a:srgbClr val="0B2B65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7" name="TableHdrTxt">
            <a:extLst>
              <a:ext uri="{FF2B5EF4-FFF2-40B4-BE49-F238E27FC236}">
                <a16:creationId xmlns:a16="http://schemas.microsoft.com/office/drawing/2014/main" id="{45DE64A4-BD59-85D6-49D0-0213495BD5E0}"/>
              </a:ext>
            </a:extLst>
          </p:cNvPr>
          <p:cNvSpPr txBox="1">
            <a:spLocks noGrp="1"/>
          </p:cNvSpPr>
          <p:nvPr/>
        </p:nvSpPr>
        <p:spPr>
          <a:xfrm>
            <a:off x="8102600" y="920496"/>
            <a:ext cx="3860800" cy="330200"/>
          </a:xfrm>
          <a:prstGeom prst="rect">
            <a:avLst/>
          </a:prstGeom>
          <a:noFill/>
          <a:ln>
            <a:noFill/>
          </a:ln>
        </p:spPr>
        <p:txBody>
          <a:bodyPr wrap="square" anchor="ctr"/>
          <a:lstStyle/>
          <a:p>
            <a:pPr algn="ctr"/>
            <a:r>
              <a:rPr lang="en-US" sz="1400" b="1" dirty="0">
                <a:solidFill>
                  <a:srgbClr val="FFFFFF"/>
                </a:solidFill>
              </a:rPr>
              <a:t>FY2025 Key Financials</a:t>
            </a:r>
          </a:p>
        </p:txBody>
      </p:sp>
      <p:sp>
        <p:nvSpPr>
          <p:cNvPr id="18" name="Row bg 0">
            <a:extLst>
              <a:ext uri="{FF2B5EF4-FFF2-40B4-BE49-F238E27FC236}">
                <a16:creationId xmlns:a16="http://schemas.microsoft.com/office/drawing/2014/main" id="{AD419D06-BC9D-5524-393A-488E84991315}"/>
              </a:ext>
            </a:extLst>
          </p:cNvPr>
          <p:cNvSpPr>
            <a:spLocks noGrp="1"/>
          </p:cNvSpPr>
          <p:nvPr/>
        </p:nvSpPr>
        <p:spPr>
          <a:xfrm>
            <a:off x="8001000" y="1276096"/>
            <a:ext cx="4064000" cy="431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9" name="Row label 0">
            <a:extLst>
              <a:ext uri="{FF2B5EF4-FFF2-40B4-BE49-F238E27FC236}">
                <a16:creationId xmlns:a16="http://schemas.microsoft.com/office/drawing/2014/main" id="{98FDEC78-822C-6ECE-AF83-DEBD1C865265}"/>
              </a:ext>
            </a:extLst>
          </p:cNvPr>
          <p:cNvSpPr txBox="1">
            <a:spLocks noGrp="1"/>
          </p:cNvSpPr>
          <p:nvPr/>
        </p:nvSpPr>
        <p:spPr>
          <a:xfrm>
            <a:off x="8102600" y="1339596"/>
            <a:ext cx="2286000" cy="304800"/>
          </a:xfrm>
          <a:prstGeom prst="rect">
            <a:avLst/>
          </a:prstGeom>
          <a:noFill/>
          <a:ln>
            <a:noFill/>
          </a:ln>
        </p:spPr>
        <p:txBody>
          <a:bodyPr wrap="square" anchor="ctr"/>
          <a:lstStyle/>
          <a:p>
            <a:r>
              <a:rPr lang="en-US" sz="1200" dirty="0">
                <a:solidFill>
                  <a:srgbClr val="000000"/>
                </a:solidFill>
              </a:rPr>
              <a:t>Net Interest Income</a:t>
            </a:r>
          </a:p>
        </p:txBody>
      </p:sp>
      <p:sp>
        <p:nvSpPr>
          <p:cNvPr id="20" name="Row val 0">
            <a:extLst>
              <a:ext uri="{FF2B5EF4-FFF2-40B4-BE49-F238E27FC236}">
                <a16:creationId xmlns:a16="http://schemas.microsoft.com/office/drawing/2014/main" id="{79796B9D-9C17-0A7C-F2FA-665B283D2487}"/>
              </a:ext>
            </a:extLst>
          </p:cNvPr>
          <p:cNvSpPr txBox="1">
            <a:spLocks noGrp="1"/>
          </p:cNvSpPr>
          <p:nvPr/>
        </p:nvSpPr>
        <p:spPr>
          <a:xfrm>
            <a:off x="10287000" y="1326896"/>
            <a:ext cx="1651000" cy="330200"/>
          </a:xfrm>
          <a:prstGeom prst="rect">
            <a:avLst/>
          </a:prstGeom>
          <a:noFill/>
          <a:ln>
            <a:noFill/>
          </a:ln>
        </p:spPr>
        <p:txBody>
          <a:bodyPr wrap="square" anchor="ctr"/>
          <a:lstStyle/>
          <a:p>
            <a:pPr algn="r"/>
            <a:r>
              <a:rPr lang="en-US" sz="1200" b="1" dirty="0">
                <a:solidFill>
                  <a:srgbClr val="0B2B65"/>
                </a:solidFill>
              </a:rPr>
              <a:t>€1,836.5m</a:t>
            </a:r>
          </a:p>
        </p:txBody>
      </p:sp>
      <p:sp>
        <p:nvSpPr>
          <p:cNvPr id="21" name="Row bg 1">
            <a:extLst>
              <a:ext uri="{FF2B5EF4-FFF2-40B4-BE49-F238E27FC236}">
                <a16:creationId xmlns:a16="http://schemas.microsoft.com/office/drawing/2014/main" id="{E734D67E-D0F5-1969-19EC-5EA86BBD5100}"/>
              </a:ext>
            </a:extLst>
          </p:cNvPr>
          <p:cNvSpPr>
            <a:spLocks noGrp="1"/>
          </p:cNvSpPr>
          <p:nvPr/>
        </p:nvSpPr>
        <p:spPr>
          <a:xfrm>
            <a:off x="8001000" y="1707896"/>
            <a:ext cx="4064000" cy="431800"/>
          </a:xfrm>
          <a:prstGeom prst="rect">
            <a:avLst/>
          </a:prstGeom>
          <a:solidFill>
            <a:srgbClr val="F0F2F8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2" name="Row label 1">
            <a:extLst>
              <a:ext uri="{FF2B5EF4-FFF2-40B4-BE49-F238E27FC236}">
                <a16:creationId xmlns:a16="http://schemas.microsoft.com/office/drawing/2014/main" id="{B2AFC129-4617-4AFF-57F6-2DF8C23860AD}"/>
              </a:ext>
            </a:extLst>
          </p:cNvPr>
          <p:cNvSpPr txBox="1">
            <a:spLocks noGrp="1"/>
          </p:cNvSpPr>
          <p:nvPr/>
        </p:nvSpPr>
        <p:spPr>
          <a:xfrm>
            <a:off x="8102600" y="1771396"/>
            <a:ext cx="2286000" cy="304800"/>
          </a:xfrm>
          <a:prstGeom prst="rect">
            <a:avLst/>
          </a:prstGeom>
          <a:noFill/>
          <a:ln>
            <a:noFill/>
          </a:ln>
        </p:spPr>
        <p:txBody>
          <a:bodyPr wrap="square" anchor="ctr"/>
          <a:lstStyle/>
          <a:p>
            <a:r>
              <a:rPr lang="en-US" sz="1200" dirty="0">
                <a:solidFill>
                  <a:srgbClr val="000000"/>
                </a:solidFill>
              </a:rPr>
              <a:t>Net Commission Income</a:t>
            </a:r>
          </a:p>
        </p:txBody>
      </p:sp>
      <p:sp>
        <p:nvSpPr>
          <p:cNvPr id="23" name="Row val 1">
            <a:extLst>
              <a:ext uri="{FF2B5EF4-FFF2-40B4-BE49-F238E27FC236}">
                <a16:creationId xmlns:a16="http://schemas.microsoft.com/office/drawing/2014/main" id="{ED5A0C0D-B665-22CD-4C97-B04204878F29}"/>
              </a:ext>
            </a:extLst>
          </p:cNvPr>
          <p:cNvSpPr txBox="1">
            <a:spLocks noGrp="1"/>
          </p:cNvSpPr>
          <p:nvPr/>
        </p:nvSpPr>
        <p:spPr>
          <a:xfrm>
            <a:off x="10287000" y="1758696"/>
            <a:ext cx="1651000" cy="330200"/>
          </a:xfrm>
          <a:prstGeom prst="rect">
            <a:avLst/>
          </a:prstGeom>
          <a:noFill/>
          <a:ln>
            <a:noFill/>
          </a:ln>
        </p:spPr>
        <p:txBody>
          <a:bodyPr wrap="square" anchor="ctr"/>
          <a:lstStyle/>
          <a:p>
            <a:pPr algn="r"/>
            <a:r>
              <a:rPr lang="en-US" sz="1200" b="1" dirty="0">
                <a:solidFill>
                  <a:srgbClr val="0B2B65"/>
                </a:solidFill>
              </a:rPr>
              <a:t>€371m</a:t>
            </a:r>
          </a:p>
        </p:txBody>
      </p:sp>
      <p:sp>
        <p:nvSpPr>
          <p:cNvPr id="24" name="Row bg 2">
            <a:extLst>
              <a:ext uri="{FF2B5EF4-FFF2-40B4-BE49-F238E27FC236}">
                <a16:creationId xmlns:a16="http://schemas.microsoft.com/office/drawing/2014/main" id="{A6DF15AD-0EA8-1D7D-1804-2D31C6F10C6F}"/>
              </a:ext>
            </a:extLst>
          </p:cNvPr>
          <p:cNvSpPr>
            <a:spLocks noGrp="1"/>
          </p:cNvSpPr>
          <p:nvPr/>
        </p:nvSpPr>
        <p:spPr>
          <a:xfrm>
            <a:off x="8001000" y="2139696"/>
            <a:ext cx="4064000" cy="431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5" name="Row label 2">
            <a:extLst>
              <a:ext uri="{FF2B5EF4-FFF2-40B4-BE49-F238E27FC236}">
                <a16:creationId xmlns:a16="http://schemas.microsoft.com/office/drawing/2014/main" id="{21D6BCC7-7E7C-FD5C-4E82-28BE36FDA9A5}"/>
              </a:ext>
            </a:extLst>
          </p:cNvPr>
          <p:cNvSpPr txBox="1">
            <a:spLocks noGrp="1"/>
          </p:cNvSpPr>
          <p:nvPr/>
        </p:nvSpPr>
        <p:spPr>
          <a:xfrm>
            <a:off x="8102600" y="2203196"/>
            <a:ext cx="2286000" cy="304800"/>
          </a:xfrm>
          <a:prstGeom prst="rect">
            <a:avLst/>
          </a:prstGeom>
          <a:noFill/>
          <a:ln>
            <a:noFill/>
          </a:ln>
        </p:spPr>
        <p:txBody>
          <a:bodyPr wrap="square" anchor="ctr"/>
          <a:lstStyle/>
          <a:p>
            <a:r>
              <a:rPr lang="en-US" sz="1200" dirty="0">
                <a:solidFill>
                  <a:srgbClr val="000000"/>
                </a:solidFill>
              </a:rPr>
              <a:t>Pre-Provision Profit</a:t>
            </a:r>
          </a:p>
        </p:txBody>
      </p:sp>
      <p:sp>
        <p:nvSpPr>
          <p:cNvPr id="26" name="Row val 2">
            <a:extLst>
              <a:ext uri="{FF2B5EF4-FFF2-40B4-BE49-F238E27FC236}">
                <a16:creationId xmlns:a16="http://schemas.microsoft.com/office/drawing/2014/main" id="{65C1147C-BAB6-1342-86E7-360459C43A66}"/>
              </a:ext>
            </a:extLst>
          </p:cNvPr>
          <p:cNvSpPr txBox="1">
            <a:spLocks noGrp="1"/>
          </p:cNvSpPr>
          <p:nvPr/>
        </p:nvSpPr>
        <p:spPr>
          <a:xfrm>
            <a:off x="10287000" y="2190496"/>
            <a:ext cx="1651000" cy="330200"/>
          </a:xfrm>
          <a:prstGeom prst="rect">
            <a:avLst/>
          </a:prstGeom>
          <a:noFill/>
          <a:ln>
            <a:noFill/>
          </a:ln>
        </p:spPr>
        <p:txBody>
          <a:bodyPr wrap="square" anchor="ctr"/>
          <a:lstStyle/>
          <a:p>
            <a:pPr algn="r"/>
            <a:r>
              <a:rPr lang="en-US" sz="1200" b="1" dirty="0">
                <a:solidFill>
                  <a:srgbClr val="0B2B65"/>
                </a:solidFill>
              </a:rPr>
              <a:t>€1,417m</a:t>
            </a:r>
          </a:p>
        </p:txBody>
      </p:sp>
      <p:sp>
        <p:nvSpPr>
          <p:cNvPr id="27" name="Row bg 3">
            <a:extLst>
              <a:ext uri="{FF2B5EF4-FFF2-40B4-BE49-F238E27FC236}">
                <a16:creationId xmlns:a16="http://schemas.microsoft.com/office/drawing/2014/main" id="{8E49E0F1-04AE-B00B-F8F4-88ACB549C9C7}"/>
              </a:ext>
            </a:extLst>
          </p:cNvPr>
          <p:cNvSpPr>
            <a:spLocks noGrp="1"/>
          </p:cNvSpPr>
          <p:nvPr/>
        </p:nvSpPr>
        <p:spPr>
          <a:xfrm>
            <a:off x="8001000" y="2571496"/>
            <a:ext cx="4064000" cy="431800"/>
          </a:xfrm>
          <a:prstGeom prst="rect">
            <a:avLst/>
          </a:prstGeom>
          <a:solidFill>
            <a:srgbClr val="F0F2F8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8" name="Row label 3">
            <a:extLst>
              <a:ext uri="{FF2B5EF4-FFF2-40B4-BE49-F238E27FC236}">
                <a16:creationId xmlns:a16="http://schemas.microsoft.com/office/drawing/2014/main" id="{EC536333-9D29-6792-6405-D87843C35445}"/>
              </a:ext>
            </a:extLst>
          </p:cNvPr>
          <p:cNvSpPr txBox="1">
            <a:spLocks noGrp="1"/>
          </p:cNvSpPr>
          <p:nvPr/>
        </p:nvSpPr>
        <p:spPr>
          <a:xfrm>
            <a:off x="8102600" y="2634996"/>
            <a:ext cx="2286000" cy="304800"/>
          </a:xfrm>
          <a:prstGeom prst="rect">
            <a:avLst/>
          </a:prstGeom>
          <a:noFill/>
          <a:ln>
            <a:noFill/>
          </a:ln>
        </p:spPr>
        <p:txBody>
          <a:bodyPr wrap="square" anchor="ctr"/>
          <a:lstStyle/>
          <a:p>
            <a:r>
              <a:rPr lang="en-US" sz="1200" dirty="0">
                <a:solidFill>
                  <a:srgbClr val="000000"/>
                </a:solidFill>
              </a:rPr>
              <a:t>Net Profit</a:t>
            </a:r>
          </a:p>
        </p:txBody>
      </p:sp>
      <p:sp>
        <p:nvSpPr>
          <p:cNvPr id="29" name="Row val 3">
            <a:extLst>
              <a:ext uri="{FF2B5EF4-FFF2-40B4-BE49-F238E27FC236}">
                <a16:creationId xmlns:a16="http://schemas.microsoft.com/office/drawing/2014/main" id="{66252BA2-2C95-4E0B-5189-F1BA12747D06}"/>
              </a:ext>
            </a:extLst>
          </p:cNvPr>
          <p:cNvSpPr txBox="1">
            <a:spLocks noGrp="1"/>
          </p:cNvSpPr>
          <p:nvPr/>
        </p:nvSpPr>
        <p:spPr>
          <a:xfrm>
            <a:off x="10287000" y="2622296"/>
            <a:ext cx="1651000" cy="330200"/>
          </a:xfrm>
          <a:prstGeom prst="rect">
            <a:avLst/>
          </a:prstGeom>
          <a:noFill/>
          <a:ln>
            <a:noFill/>
          </a:ln>
        </p:spPr>
        <p:txBody>
          <a:bodyPr wrap="square" anchor="ctr"/>
          <a:lstStyle/>
          <a:p>
            <a:pPr algn="r"/>
            <a:r>
              <a:rPr lang="en-US" sz="1200" b="1" dirty="0">
                <a:solidFill>
                  <a:srgbClr val="0B2B65"/>
                </a:solidFill>
              </a:rPr>
              <a:t>€860m</a:t>
            </a:r>
          </a:p>
        </p:txBody>
      </p:sp>
      <p:sp>
        <p:nvSpPr>
          <p:cNvPr id="30" name="Row bg 4">
            <a:extLst>
              <a:ext uri="{FF2B5EF4-FFF2-40B4-BE49-F238E27FC236}">
                <a16:creationId xmlns:a16="http://schemas.microsoft.com/office/drawing/2014/main" id="{B38329BB-C2C7-C394-4852-0F678AA5B60A}"/>
              </a:ext>
            </a:extLst>
          </p:cNvPr>
          <p:cNvSpPr>
            <a:spLocks noGrp="1"/>
          </p:cNvSpPr>
          <p:nvPr/>
        </p:nvSpPr>
        <p:spPr>
          <a:xfrm>
            <a:off x="8001000" y="3003296"/>
            <a:ext cx="4064000" cy="431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31" name="Row label 4">
            <a:extLst>
              <a:ext uri="{FF2B5EF4-FFF2-40B4-BE49-F238E27FC236}">
                <a16:creationId xmlns:a16="http://schemas.microsoft.com/office/drawing/2014/main" id="{437C47B5-7D19-B15B-E96E-C424DA356E76}"/>
              </a:ext>
            </a:extLst>
          </p:cNvPr>
          <p:cNvSpPr txBox="1">
            <a:spLocks noGrp="1"/>
          </p:cNvSpPr>
          <p:nvPr/>
        </p:nvSpPr>
        <p:spPr>
          <a:xfrm>
            <a:off x="8102600" y="3066796"/>
            <a:ext cx="2286000" cy="304800"/>
          </a:xfrm>
          <a:prstGeom prst="rect">
            <a:avLst/>
          </a:prstGeom>
          <a:noFill/>
          <a:ln>
            <a:noFill/>
          </a:ln>
        </p:spPr>
        <p:txBody>
          <a:bodyPr wrap="square" anchor="ctr"/>
          <a:lstStyle/>
          <a:p>
            <a:r>
              <a:rPr lang="en-US" sz="1200" dirty="0">
                <a:solidFill>
                  <a:srgbClr val="000000"/>
                </a:solidFill>
              </a:rPr>
              <a:t>Cost-Income Ratio</a:t>
            </a:r>
          </a:p>
        </p:txBody>
      </p:sp>
      <p:sp>
        <p:nvSpPr>
          <p:cNvPr id="32" name="Row val 4">
            <a:extLst>
              <a:ext uri="{FF2B5EF4-FFF2-40B4-BE49-F238E27FC236}">
                <a16:creationId xmlns:a16="http://schemas.microsoft.com/office/drawing/2014/main" id="{D65FB68B-545E-5647-BE1F-AFF47FE83098}"/>
              </a:ext>
            </a:extLst>
          </p:cNvPr>
          <p:cNvSpPr txBox="1">
            <a:spLocks noGrp="1"/>
          </p:cNvSpPr>
          <p:nvPr/>
        </p:nvSpPr>
        <p:spPr>
          <a:xfrm>
            <a:off x="10287000" y="3054096"/>
            <a:ext cx="1651000" cy="330200"/>
          </a:xfrm>
          <a:prstGeom prst="rect">
            <a:avLst/>
          </a:prstGeom>
          <a:noFill/>
          <a:ln>
            <a:noFill/>
          </a:ln>
        </p:spPr>
        <p:txBody>
          <a:bodyPr wrap="square" anchor="ctr"/>
          <a:lstStyle/>
          <a:p>
            <a:pPr algn="r"/>
            <a:r>
              <a:rPr lang="en-US" sz="1200" b="1" dirty="0">
                <a:solidFill>
                  <a:srgbClr val="0B2B65"/>
                </a:solidFill>
              </a:rPr>
              <a:t>36.1%</a:t>
            </a:r>
          </a:p>
        </p:txBody>
      </p:sp>
      <p:sp>
        <p:nvSpPr>
          <p:cNvPr id="33" name="BottomHdr">
            <a:extLst>
              <a:ext uri="{FF2B5EF4-FFF2-40B4-BE49-F238E27FC236}">
                <a16:creationId xmlns:a16="http://schemas.microsoft.com/office/drawing/2014/main" id="{CABA21C6-93FE-EB23-D048-CD14EB61E4AB}"/>
              </a:ext>
            </a:extLst>
          </p:cNvPr>
          <p:cNvSpPr>
            <a:spLocks noGrp="1"/>
          </p:cNvSpPr>
          <p:nvPr/>
        </p:nvSpPr>
        <p:spPr>
          <a:xfrm>
            <a:off x="190500" y="3684016"/>
            <a:ext cx="11874500" cy="355600"/>
          </a:xfrm>
          <a:prstGeom prst="rect">
            <a:avLst/>
          </a:prstGeom>
          <a:solidFill>
            <a:srgbClr val="0B2B65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34" name="BottomHdrTxt">
            <a:extLst>
              <a:ext uri="{FF2B5EF4-FFF2-40B4-BE49-F238E27FC236}">
                <a16:creationId xmlns:a16="http://schemas.microsoft.com/office/drawing/2014/main" id="{5B83DCCD-3D27-D7E1-8A59-9B1B48122407}"/>
              </a:ext>
            </a:extLst>
          </p:cNvPr>
          <p:cNvSpPr txBox="1">
            <a:spLocks noGrp="1"/>
          </p:cNvSpPr>
          <p:nvPr/>
        </p:nvSpPr>
        <p:spPr>
          <a:xfrm>
            <a:off x="228600" y="3709416"/>
            <a:ext cx="11430000" cy="304800"/>
          </a:xfrm>
          <a:prstGeom prst="rect">
            <a:avLst/>
          </a:prstGeom>
          <a:noFill/>
          <a:ln>
            <a:noFill/>
          </a:ln>
        </p:spPr>
        <p:txBody>
          <a:bodyPr wrap="square" anchor="ctr"/>
          <a:lstStyle/>
          <a:p>
            <a:r>
              <a:rPr lang="en-US" sz="1400" b="1" dirty="0">
                <a:solidFill>
                  <a:srgbClr val="FFFFFF"/>
                </a:solidFill>
              </a:rPr>
              <a:t>Key Differentiators vs. Austrian Peers</a:t>
            </a:r>
          </a:p>
        </p:txBody>
      </p:sp>
      <p:sp>
        <p:nvSpPr>
          <p:cNvPr id="35" name="Diff bg 0">
            <a:extLst>
              <a:ext uri="{FF2B5EF4-FFF2-40B4-BE49-F238E27FC236}">
                <a16:creationId xmlns:a16="http://schemas.microsoft.com/office/drawing/2014/main" id="{ACC8987A-C9D0-4CEF-BC78-FBB8236A3C04}"/>
              </a:ext>
            </a:extLst>
          </p:cNvPr>
          <p:cNvSpPr>
            <a:spLocks noGrp="1"/>
          </p:cNvSpPr>
          <p:nvPr/>
        </p:nvSpPr>
        <p:spPr>
          <a:xfrm>
            <a:off x="327130" y="4151376"/>
            <a:ext cx="2794000" cy="11430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36" name="Diff accent 0">
            <a:extLst>
              <a:ext uri="{FF2B5EF4-FFF2-40B4-BE49-F238E27FC236}">
                <a16:creationId xmlns:a16="http://schemas.microsoft.com/office/drawing/2014/main" id="{53704E67-6123-AA66-3BA7-544C393002DB}"/>
              </a:ext>
            </a:extLst>
          </p:cNvPr>
          <p:cNvSpPr>
            <a:spLocks noGrp="1"/>
          </p:cNvSpPr>
          <p:nvPr/>
        </p:nvSpPr>
        <p:spPr>
          <a:xfrm>
            <a:off x="327130" y="4151376"/>
            <a:ext cx="2794000" cy="50800"/>
          </a:xfrm>
          <a:prstGeom prst="rect">
            <a:avLst/>
          </a:prstGeom>
          <a:solidFill>
            <a:srgbClr val="1A5187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37" name="Diff title 0">
            <a:extLst>
              <a:ext uri="{FF2B5EF4-FFF2-40B4-BE49-F238E27FC236}">
                <a16:creationId xmlns:a16="http://schemas.microsoft.com/office/drawing/2014/main" id="{2663AC3B-4911-CB30-EFDD-2E0150B0DD82}"/>
              </a:ext>
            </a:extLst>
          </p:cNvPr>
          <p:cNvSpPr txBox="1">
            <a:spLocks noGrp="1"/>
          </p:cNvSpPr>
          <p:nvPr/>
        </p:nvSpPr>
        <p:spPr>
          <a:xfrm>
            <a:off x="428730" y="4252976"/>
            <a:ext cx="2590800" cy="3048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r>
              <a:rPr lang="en-US" sz="1400" b="1" dirty="0">
                <a:solidFill>
                  <a:srgbClr val="1A5187"/>
                </a:solidFill>
              </a:rPr>
              <a:t>No CEE Exposure</a:t>
            </a:r>
          </a:p>
        </p:txBody>
      </p:sp>
      <p:sp>
        <p:nvSpPr>
          <p:cNvPr id="38" name="Diff desc 0">
            <a:extLst>
              <a:ext uri="{FF2B5EF4-FFF2-40B4-BE49-F238E27FC236}">
                <a16:creationId xmlns:a16="http://schemas.microsoft.com/office/drawing/2014/main" id="{489E772F-7624-47E8-DD39-EF5ACE433052}"/>
              </a:ext>
            </a:extLst>
          </p:cNvPr>
          <p:cNvSpPr txBox="1">
            <a:spLocks noGrp="1"/>
          </p:cNvSpPr>
          <p:nvPr/>
        </p:nvSpPr>
        <p:spPr>
          <a:xfrm>
            <a:off x="428730" y="4532376"/>
            <a:ext cx="2590800" cy="6985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r>
              <a:rPr lang="en-US" sz="1200" dirty="0">
                <a:solidFill>
                  <a:srgbClr val="44546A"/>
                </a:solidFill>
              </a:rPr>
              <a:t>Unlike Erste, RBI, Raiffeisen - purely DACH + Benelux + UK + US</a:t>
            </a:r>
          </a:p>
        </p:txBody>
      </p:sp>
      <p:sp>
        <p:nvSpPr>
          <p:cNvPr id="39" name="Diff bg 1">
            <a:extLst>
              <a:ext uri="{FF2B5EF4-FFF2-40B4-BE49-F238E27FC236}">
                <a16:creationId xmlns:a16="http://schemas.microsoft.com/office/drawing/2014/main" id="{A072CA84-81A6-0601-F4A9-8F0CCBECE805}"/>
              </a:ext>
            </a:extLst>
          </p:cNvPr>
          <p:cNvSpPr>
            <a:spLocks noGrp="1"/>
          </p:cNvSpPr>
          <p:nvPr/>
        </p:nvSpPr>
        <p:spPr>
          <a:xfrm>
            <a:off x="3248130" y="4151376"/>
            <a:ext cx="2794000" cy="11430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40" name="Diff accent 1">
            <a:extLst>
              <a:ext uri="{FF2B5EF4-FFF2-40B4-BE49-F238E27FC236}">
                <a16:creationId xmlns:a16="http://schemas.microsoft.com/office/drawing/2014/main" id="{CDFB83B4-48E8-52CA-91CD-06C1C1178FD1}"/>
              </a:ext>
            </a:extLst>
          </p:cNvPr>
          <p:cNvSpPr>
            <a:spLocks noGrp="1"/>
          </p:cNvSpPr>
          <p:nvPr/>
        </p:nvSpPr>
        <p:spPr>
          <a:xfrm>
            <a:off x="3248130" y="4151376"/>
            <a:ext cx="2794000" cy="50800"/>
          </a:xfrm>
          <a:prstGeom prst="rect">
            <a:avLst/>
          </a:prstGeom>
          <a:solidFill>
            <a:srgbClr val="0B2B65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41" name="Diff title 1">
            <a:extLst>
              <a:ext uri="{FF2B5EF4-FFF2-40B4-BE49-F238E27FC236}">
                <a16:creationId xmlns:a16="http://schemas.microsoft.com/office/drawing/2014/main" id="{357DC342-DCDB-9B50-C872-5AA6625BDBCE}"/>
              </a:ext>
            </a:extLst>
          </p:cNvPr>
          <p:cNvSpPr txBox="1">
            <a:spLocks noGrp="1"/>
          </p:cNvSpPr>
          <p:nvPr/>
        </p:nvSpPr>
        <p:spPr>
          <a:xfrm>
            <a:off x="3349730" y="4252976"/>
            <a:ext cx="2590800" cy="3048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r>
              <a:rPr lang="en-US" sz="1400" b="1" dirty="0">
                <a:solidFill>
                  <a:srgbClr val="0B2B65"/>
                </a:solidFill>
              </a:rPr>
              <a:t>Zero Market Risk RWA</a:t>
            </a:r>
          </a:p>
        </p:txBody>
      </p:sp>
      <p:sp>
        <p:nvSpPr>
          <p:cNvPr id="42" name="Diff desc 1">
            <a:extLst>
              <a:ext uri="{FF2B5EF4-FFF2-40B4-BE49-F238E27FC236}">
                <a16:creationId xmlns:a16="http://schemas.microsoft.com/office/drawing/2014/main" id="{9A232B63-3277-709A-E5C4-41D68E75B8D9}"/>
              </a:ext>
            </a:extLst>
          </p:cNvPr>
          <p:cNvSpPr txBox="1">
            <a:spLocks noGrp="1"/>
          </p:cNvSpPr>
          <p:nvPr/>
        </p:nvSpPr>
        <p:spPr>
          <a:xfrm>
            <a:off x="3349730" y="4532376"/>
            <a:ext cx="2590800" cy="6985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r>
              <a:rPr lang="en-US" sz="1200" dirty="0">
                <a:solidFill>
                  <a:srgbClr val="44546A"/>
                </a:solidFill>
              </a:rPr>
              <a:t>No trading book - eliminates VaR-driven capital burden entirely</a:t>
            </a:r>
          </a:p>
        </p:txBody>
      </p:sp>
      <p:sp>
        <p:nvSpPr>
          <p:cNvPr id="43" name="Diff bg 2">
            <a:extLst>
              <a:ext uri="{FF2B5EF4-FFF2-40B4-BE49-F238E27FC236}">
                <a16:creationId xmlns:a16="http://schemas.microsoft.com/office/drawing/2014/main" id="{2FA1B4C6-6D85-E9B0-3AE4-BCB06D03AAAA}"/>
              </a:ext>
            </a:extLst>
          </p:cNvPr>
          <p:cNvSpPr>
            <a:spLocks noGrp="1"/>
          </p:cNvSpPr>
          <p:nvPr/>
        </p:nvSpPr>
        <p:spPr>
          <a:xfrm>
            <a:off x="6169130" y="4151376"/>
            <a:ext cx="2794000" cy="11430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44" name="Diff accent 2">
            <a:extLst>
              <a:ext uri="{FF2B5EF4-FFF2-40B4-BE49-F238E27FC236}">
                <a16:creationId xmlns:a16="http://schemas.microsoft.com/office/drawing/2014/main" id="{B2D43D8D-FBD7-A2A0-ED5A-516D36D1B98F}"/>
              </a:ext>
            </a:extLst>
          </p:cNvPr>
          <p:cNvSpPr>
            <a:spLocks noGrp="1"/>
          </p:cNvSpPr>
          <p:nvPr/>
        </p:nvSpPr>
        <p:spPr>
          <a:xfrm>
            <a:off x="6169130" y="4151376"/>
            <a:ext cx="2794000" cy="50800"/>
          </a:xfrm>
          <a:prstGeom prst="rect">
            <a:avLst/>
          </a:prstGeom>
          <a:solidFill>
            <a:srgbClr val="44546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45" name="Diff title 2">
            <a:extLst>
              <a:ext uri="{FF2B5EF4-FFF2-40B4-BE49-F238E27FC236}">
                <a16:creationId xmlns:a16="http://schemas.microsoft.com/office/drawing/2014/main" id="{C18A073A-DBF2-798C-CAA1-1F810BE4713A}"/>
              </a:ext>
            </a:extLst>
          </p:cNvPr>
          <p:cNvSpPr txBox="1">
            <a:spLocks noGrp="1"/>
          </p:cNvSpPr>
          <p:nvPr/>
        </p:nvSpPr>
        <p:spPr>
          <a:xfrm>
            <a:off x="6270730" y="4252976"/>
            <a:ext cx="2590800" cy="3048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r>
              <a:rPr lang="en-US" sz="1400" b="1" dirty="0">
                <a:solidFill>
                  <a:srgbClr val="44546A"/>
                </a:solidFill>
              </a:rPr>
              <a:t>M&amp;A Growth Engine</a:t>
            </a:r>
          </a:p>
        </p:txBody>
      </p:sp>
      <p:sp>
        <p:nvSpPr>
          <p:cNvPr id="46" name="Diff desc 2">
            <a:extLst>
              <a:ext uri="{FF2B5EF4-FFF2-40B4-BE49-F238E27FC236}">
                <a16:creationId xmlns:a16="http://schemas.microsoft.com/office/drawing/2014/main" id="{B3D80657-FDBD-D9DB-446B-38211A34E7B0}"/>
              </a:ext>
            </a:extLst>
          </p:cNvPr>
          <p:cNvSpPr txBox="1">
            <a:spLocks noGrp="1"/>
          </p:cNvSpPr>
          <p:nvPr/>
        </p:nvSpPr>
        <p:spPr>
          <a:xfrm>
            <a:off x="6270730" y="4532376"/>
            <a:ext cx="2590800" cy="6985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r>
              <a:rPr lang="en-US" sz="1200" dirty="0">
                <a:solidFill>
                  <a:srgbClr val="44546A"/>
                </a:solidFill>
              </a:rPr>
              <a:t>14 acquisitions since 2015; Knab (NL) added €7bn in 2024</a:t>
            </a:r>
          </a:p>
        </p:txBody>
      </p:sp>
      <p:sp>
        <p:nvSpPr>
          <p:cNvPr id="47" name="Diff bg 3">
            <a:extLst>
              <a:ext uri="{FF2B5EF4-FFF2-40B4-BE49-F238E27FC236}">
                <a16:creationId xmlns:a16="http://schemas.microsoft.com/office/drawing/2014/main" id="{A772BCCD-3442-F78F-285F-26F37C6E632A}"/>
              </a:ext>
            </a:extLst>
          </p:cNvPr>
          <p:cNvSpPr>
            <a:spLocks noGrp="1"/>
          </p:cNvSpPr>
          <p:nvPr/>
        </p:nvSpPr>
        <p:spPr>
          <a:xfrm>
            <a:off x="9090130" y="4151376"/>
            <a:ext cx="2794000" cy="11430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48" name="Diff accent 3">
            <a:extLst>
              <a:ext uri="{FF2B5EF4-FFF2-40B4-BE49-F238E27FC236}">
                <a16:creationId xmlns:a16="http://schemas.microsoft.com/office/drawing/2014/main" id="{A7DC1370-4A9E-C1CE-9275-80CC42E7CCBE}"/>
              </a:ext>
            </a:extLst>
          </p:cNvPr>
          <p:cNvSpPr>
            <a:spLocks noGrp="1"/>
          </p:cNvSpPr>
          <p:nvPr/>
        </p:nvSpPr>
        <p:spPr>
          <a:xfrm>
            <a:off x="9090130" y="4151376"/>
            <a:ext cx="2794000" cy="50800"/>
          </a:xfrm>
          <a:prstGeom prst="rect">
            <a:avLst/>
          </a:prstGeom>
          <a:solidFill>
            <a:srgbClr val="9BA7C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49" name="Diff title 3">
            <a:extLst>
              <a:ext uri="{FF2B5EF4-FFF2-40B4-BE49-F238E27FC236}">
                <a16:creationId xmlns:a16="http://schemas.microsoft.com/office/drawing/2014/main" id="{C79FE766-9373-844A-B2EB-2519E788EBD9}"/>
              </a:ext>
            </a:extLst>
          </p:cNvPr>
          <p:cNvSpPr txBox="1">
            <a:spLocks noGrp="1"/>
          </p:cNvSpPr>
          <p:nvPr/>
        </p:nvSpPr>
        <p:spPr>
          <a:xfrm>
            <a:off x="9191730" y="4252976"/>
            <a:ext cx="2590800" cy="3048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r>
              <a:rPr lang="en-US" sz="1400" b="1" dirty="0">
                <a:solidFill>
                  <a:srgbClr val="9BA7C0"/>
                </a:solidFill>
              </a:rPr>
              <a:t>Digital-First</a:t>
            </a:r>
          </a:p>
        </p:txBody>
      </p:sp>
      <p:sp>
        <p:nvSpPr>
          <p:cNvPr id="50" name="Diff desc 3">
            <a:extLst>
              <a:ext uri="{FF2B5EF4-FFF2-40B4-BE49-F238E27FC236}">
                <a16:creationId xmlns:a16="http://schemas.microsoft.com/office/drawing/2014/main" id="{682DDE93-E431-E16E-2BCC-230315F8B3EC}"/>
              </a:ext>
            </a:extLst>
          </p:cNvPr>
          <p:cNvSpPr txBox="1">
            <a:spLocks noGrp="1"/>
          </p:cNvSpPr>
          <p:nvPr/>
        </p:nvSpPr>
        <p:spPr>
          <a:xfrm>
            <a:off x="9191730" y="4532376"/>
            <a:ext cx="2590800" cy="6985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r>
              <a:rPr lang="en-US" sz="1200" dirty="0">
                <a:solidFill>
                  <a:srgbClr val="44546A"/>
                </a:solidFill>
              </a:rPr>
              <a:t>~90% of all loan originations executed digitally</a:t>
            </a:r>
          </a:p>
        </p:txBody>
      </p:sp>
      <p:sp>
        <p:nvSpPr>
          <p:cNvPr id="51" name="Takeaway bg">
            <a:extLst>
              <a:ext uri="{FF2B5EF4-FFF2-40B4-BE49-F238E27FC236}">
                <a16:creationId xmlns:a16="http://schemas.microsoft.com/office/drawing/2014/main" id="{FD24E7CB-7C57-A733-D711-0CCBA3ECC943}"/>
              </a:ext>
            </a:extLst>
          </p:cNvPr>
          <p:cNvSpPr>
            <a:spLocks noGrp="1"/>
          </p:cNvSpPr>
          <p:nvPr/>
        </p:nvSpPr>
        <p:spPr>
          <a:xfrm>
            <a:off x="190500" y="5640832"/>
            <a:ext cx="11874500" cy="584200"/>
          </a:xfrm>
          <a:prstGeom prst="rect">
            <a:avLst/>
          </a:prstGeom>
          <a:solidFill>
            <a:srgbClr val="F0F8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b="1"/>
          </a:p>
        </p:txBody>
      </p:sp>
      <p:sp>
        <p:nvSpPr>
          <p:cNvPr id="52" name="Takeaway accent">
            <a:extLst>
              <a:ext uri="{FF2B5EF4-FFF2-40B4-BE49-F238E27FC236}">
                <a16:creationId xmlns:a16="http://schemas.microsoft.com/office/drawing/2014/main" id="{806E03E0-9822-44A3-DD1E-DA961EBB50FB}"/>
              </a:ext>
            </a:extLst>
          </p:cNvPr>
          <p:cNvSpPr>
            <a:spLocks noGrp="1"/>
          </p:cNvSpPr>
          <p:nvPr/>
        </p:nvSpPr>
        <p:spPr>
          <a:xfrm>
            <a:off x="190500" y="5640832"/>
            <a:ext cx="63500" cy="584200"/>
          </a:xfrm>
          <a:prstGeom prst="rect">
            <a:avLst/>
          </a:prstGeom>
          <a:solidFill>
            <a:srgbClr val="1A5187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3" name="Takeaway text">
            <a:extLst>
              <a:ext uri="{FF2B5EF4-FFF2-40B4-BE49-F238E27FC236}">
                <a16:creationId xmlns:a16="http://schemas.microsoft.com/office/drawing/2014/main" id="{D9F13343-66E6-B186-41D6-E3E3877E5FCB}"/>
              </a:ext>
            </a:extLst>
          </p:cNvPr>
          <p:cNvSpPr txBox="1">
            <a:spLocks noGrp="1"/>
          </p:cNvSpPr>
          <p:nvPr/>
        </p:nvSpPr>
        <p:spPr>
          <a:xfrm>
            <a:off x="250930" y="5717818"/>
            <a:ext cx="11582400" cy="457200"/>
          </a:xfrm>
          <a:prstGeom prst="rect">
            <a:avLst/>
          </a:prstGeom>
          <a:noFill/>
          <a:ln>
            <a:noFill/>
          </a:ln>
        </p:spPr>
        <p:txBody>
          <a:bodyPr wrap="square" anchor="ctr"/>
          <a:lstStyle/>
          <a:p>
            <a:pPr algn="ctr"/>
            <a:r>
              <a:rPr lang="en-US" sz="1600" b="1" dirty="0">
                <a:solidFill>
                  <a:schemeClr val="accent6"/>
                </a:solidFill>
              </a:rPr>
              <a:t>Verdict: Low-risk, retail-heavy, NII-dominant, deposit-funded, digitally-led pan-European bank - no CEE, no trading book, no FX structural mismatch.</a:t>
            </a:r>
          </a:p>
        </p:txBody>
      </p:sp>
      <p:sp>
        <p:nvSpPr>
          <p:cNvPr id="55" name="FooterText">
            <a:extLst>
              <a:ext uri="{FF2B5EF4-FFF2-40B4-BE49-F238E27FC236}">
                <a16:creationId xmlns:a16="http://schemas.microsoft.com/office/drawing/2014/main" id="{A8EEC276-4D0C-F5C9-B696-10DA173C62DC}"/>
              </a:ext>
            </a:extLst>
          </p:cNvPr>
          <p:cNvSpPr txBox="1">
            <a:spLocks noGrp="1"/>
          </p:cNvSpPr>
          <p:nvPr/>
        </p:nvSpPr>
        <p:spPr>
          <a:xfrm>
            <a:off x="228600" y="6477000"/>
            <a:ext cx="11430000" cy="317500"/>
          </a:xfrm>
          <a:prstGeom prst="rect">
            <a:avLst/>
          </a:prstGeom>
          <a:noFill/>
          <a:ln>
            <a:noFill/>
          </a:ln>
        </p:spPr>
        <p:txBody>
          <a:bodyPr wrap="square" anchor="ctr"/>
          <a:lstStyle/>
          <a:p>
            <a:r>
              <a:rPr lang="en-US" sz="1000" dirty="0"/>
              <a:t>Source: BAWAG FY2025 Results Presentation (Feb 2026); Pillar 3 Qualitative Report 2025</a:t>
            </a:r>
          </a:p>
        </p:txBody>
      </p:sp>
    </p:spTree>
    <p:extLst>
      <p:ext uri="{BB962C8B-B14F-4D97-AF65-F5344CB8AC3E}">
        <p14:creationId xmlns:p14="http://schemas.microsoft.com/office/powerpoint/2010/main" val="360625117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41058B-3021-A8C0-F6C9-85C41FF751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139659CD-A50F-965B-835D-81C449E2070E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D9D9D9">
              <a:alpha val="6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9D6C4D9-2DE1-2DF8-99C1-DEC81A0C1A44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79EC0120-204A-5438-13B7-3DFAE6570382}"/>
              </a:ext>
            </a:extLst>
          </p:cNvPr>
          <p:cNvSpPr/>
          <p:nvPr/>
        </p:nvSpPr>
        <p:spPr>
          <a:xfrm>
            <a:off x="0" y="3962400"/>
            <a:ext cx="10639425" cy="1257300"/>
          </a:xfrm>
          <a:prstGeom prst="rect">
            <a:avLst/>
          </a:prstGeom>
          <a:solidFill>
            <a:srgbClr val="0B2A65"/>
          </a:solidFill>
          <a:ln w="285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b="1" dirty="0"/>
              <a:t>Main Risk Types &amp; Measurement Approaches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0CEB2341-3628-F279-4F0B-F5B9CDB045DC}"/>
              </a:ext>
            </a:extLst>
          </p:cNvPr>
          <p:cNvSpPr/>
          <p:nvPr/>
        </p:nvSpPr>
        <p:spPr>
          <a:xfrm>
            <a:off x="9721850" y="3333750"/>
            <a:ext cx="1552575" cy="1257300"/>
          </a:xfrm>
          <a:prstGeom prst="rect">
            <a:avLst/>
          </a:prstGeom>
          <a:ln w="28575">
            <a:solidFill>
              <a:schemeClr val="bg1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b="1" dirty="0"/>
              <a:t>2.</a:t>
            </a:r>
          </a:p>
        </p:txBody>
      </p:sp>
    </p:spTree>
    <p:extLst>
      <p:ext uri="{BB962C8B-B14F-4D97-AF65-F5344CB8AC3E}">
        <p14:creationId xmlns:p14="http://schemas.microsoft.com/office/powerpoint/2010/main" val="228292719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ADCEBA2-5898-4D37-2A42-AA2C3C13FE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399DE949-59C0-5E0D-DD1F-24AFE87D641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b="1" dirty="0"/>
              <a:t>Main Risk Types &amp; Measurement Approaches</a:t>
            </a:r>
          </a:p>
        </p:txBody>
      </p:sp>
      <p:sp>
        <p:nvSpPr>
          <p:cNvPr id="3" name="LHdr">
            <a:extLst>
              <a:ext uri="{FF2B5EF4-FFF2-40B4-BE49-F238E27FC236}">
                <a16:creationId xmlns:a16="http://schemas.microsoft.com/office/drawing/2014/main" id="{B7BEE1A1-CF82-DF19-41B0-EE13E5A8CEF5}"/>
              </a:ext>
            </a:extLst>
          </p:cNvPr>
          <p:cNvSpPr>
            <a:spLocks noGrp="1"/>
          </p:cNvSpPr>
          <p:nvPr/>
        </p:nvSpPr>
        <p:spPr>
          <a:xfrm>
            <a:off x="190500" y="736600"/>
            <a:ext cx="5588000" cy="355600"/>
          </a:xfrm>
          <a:prstGeom prst="rect">
            <a:avLst/>
          </a:prstGeom>
          <a:solidFill>
            <a:srgbClr val="0B2B65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4" name="LHdrT">
            <a:extLst>
              <a:ext uri="{FF2B5EF4-FFF2-40B4-BE49-F238E27FC236}">
                <a16:creationId xmlns:a16="http://schemas.microsoft.com/office/drawing/2014/main" id="{55CC686C-03BE-BBEB-8032-F33504F2F87E}"/>
              </a:ext>
            </a:extLst>
          </p:cNvPr>
          <p:cNvSpPr txBox="1">
            <a:spLocks noGrp="1"/>
          </p:cNvSpPr>
          <p:nvPr/>
        </p:nvSpPr>
        <p:spPr>
          <a:xfrm>
            <a:off x="190500" y="736600"/>
            <a:ext cx="5588000" cy="355600"/>
          </a:xfrm>
          <a:prstGeom prst="rect">
            <a:avLst/>
          </a:prstGeom>
          <a:noFill/>
          <a:ln>
            <a:noFill/>
          </a:ln>
        </p:spPr>
        <p:txBody>
          <a:bodyPr wrap="square" anchor="ctr"/>
          <a:lstStyle/>
          <a:p>
            <a:pPr algn="ctr"/>
            <a:r>
              <a:rPr lang="en-US" sz="1400" b="1" dirty="0">
                <a:solidFill>
                  <a:srgbClr val="FFFFFF"/>
                </a:solidFill>
              </a:rPr>
              <a:t>RWA Composition - Total €22,594m (Dec 2025)</a:t>
            </a:r>
          </a:p>
        </p:txBody>
      </p:sp>
      <p:sp>
        <p:nvSpPr>
          <p:cNvPr id="23" name="MR note">
            <a:extLst>
              <a:ext uri="{FF2B5EF4-FFF2-40B4-BE49-F238E27FC236}">
                <a16:creationId xmlns:a16="http://schemas.microsoft.com/office/drawing/2014/main" id="{FD5A2D3B-99E6-7CE7-FE85-2AF3A267F758}"/>
              </a:ext>
            </a:extLst>
          </p:cNvPr>
          <p:cNvSpPr txBox="1">
            <a:spLocks noGrp="1"/>
          </p:cNvSpPr>
          <p:nvPr/>
        </p:nvSpPr>
        <p:spPr>
          <a:xfrm>
            <a:off x="178725" y="2981468"/>
            <a:ext cx="5791200" cy="341787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r>
              <a:rPr lang="en-US" sz="1400" b="1" dirty="0">
                <a:solidFill>
                  <a:srgbClr val="0B2B65"/>
                </a:solidFill>
              </a:rPr>
              <a:t>Market Risk RWA = €0 </a:t>
            </a:r>
            <a:r>
              <a:rPr lang="en-US" sz="1400" dirty="0">
                <a:solidFill>
                  <a:srgbClr val="44546A"/>
                </a:solidFill>
              </a:rPr>
              <a:t>(No trading book - defining model feature)</a:t>
            </a:r>
          </a:p>
        </p:txBody>
      </p:sp>
      <p:sp>
        <p:nvSpPr>
          <p:cNvPr id="24" name="RHdr">
            <a:extLst>
              <a:ext uri="{FF2B5EF4-FFF2-40B4-BE49-F238E27FC236}">
                <a16:creationId xmlns:a16="http://schemas.microsoft.com/office/drawing/2014/main" id="{A89EA475-5686-1DBC-014C-0A1FE8AA3454}"/>
              </a:ext>
            </a:extLst>
          </p:cNvPr>
          <p:cNvSpPr>
            <a:spLocks noGrp="1"/>
          </p:cNvSpPr>
          <p:nvPr/>
        </p:nvSpPr>
        <p:spPr>
          <a:xfrm>
            <a:off x="5867400" y="736600"/>
            <a:ext cx="6159500" cy="355600"/>
          </a:xfrm>
          <a:prstGeom prst="rect">
            <a:avLst/>
          </a:prstGeom>
          <a:solidFill>
            <a:srgbClr val="0B2B65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5" name="RHdrT">
            <a:extLst>
              <a:ext uri="{FF2B5EF4-FFF2-40B4-BE49-F238E27FC236}">
                <a16:creationId xmlns:a16="http://schemas.microsoft.com/office/drawing/2014/main" id="{50C0679F-ED33-1924-D83A-839A2D678202}"/>
              </a:ext>
            </a:extLst>
          </p:cNvPr>
          <p:cNvSpPr txBox="1">
            <a:spLocks noGrp="1"/>
          </p:cNvSpPr>
          <p:nvPr/>
        </p:nvSpPr>
        <p:spPr>
          <a:xfrm>
            <a:off x="5867400" y="736600"/>
            <a:ext cx="6159500" cy="355600"/>
          </a:xfrm>
          <a:prstGeom prst="rect">
            <a:avLst/>
          </a:prstGeom>
          <a:noFill/>
          <a:ln>
            <a:noFill/>
          </a:ln>
        </p:spPr>
        <p:txBody>
          <a:bodyPr wrap="square" anchor="ctr"/>
          <a:lstStyle/>
          <a:p>
            <a:pPr algn="ctr"/>
            <a:r>
              <a:rPr lang="en-US" sz="1400" b="1" dirty="0">
                <a:solidFill>
                  <a:srgbClr val="FFFFFF"/>
                </a:solidFill>
              </a:rPr>
              <a:t>Risk Type Deep Dive</a:t>
            </a:r>
          </a:p>
        </p:txBody>
      </p:sp>
      <p:sp>
        <p:nvSpPr>
          <p:cNvPr id="26" name="Risk bg 0">
            <a:extLst>
              <a:ext uri="{FF2B5EF4-FFF2-40B4-BE49-F238E27FC236}">
                <a16:creationId xmlns:a16="http://schemas.microsoft.com/office/drawing/2014/main" id="{E8FF3C9F-6BED-BF01-FF7D-FD16F0EF955C}"/>
              </a:ext>
            </a:extLst>
          </p:cNvPr>
          <p:cNvSpPr>
            <a:spLocks noGrp="1"/>
          </p:cNvSpPr>
          <p:nvPr/>
        </p:nvSpPr>
        <p:spPr>
          <a:xfrm>
            <a:off x="5867400" y="1143000"/>
            <a:ext cx="6134100" cy="1219200"/>
          </a:xfrm>
          <a:prstGeom prst="rect">
            <a:avLst/>
          </a:prstGeom>
          <a:solidFill>
            <a:srgbClr val="F8F9FB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7" name="Risk bar 0">
            <a:extLst>
              <a:ext uri="{FF2B5EF4-FFF2-40B4-BE49-F238E27FC236}">
                <a16:creationId xmlns:a16="http://schemas.microsoft.com/office/drawing/2014/main" id="{BFFE0D27-D9AC-3871-911B-773036DA7BF1}"/>
              </a:ext>
            </a:extLst>
          </p:cNvPr>
          <p:cNvSpPr>
            <a:spLocks noGrp="1"/>
          </p:cNvSpPr>
          <p:nvPr/>
        </p:nvSpPr>
        <p:spPr>
          <a:xfrm>
            <a:off x="5867400" y="1143000"/>
            <a:ext cx="76200" cy="1219200"/>
          </a:xfrm>
          <a:prstGeom prst="rect">
            <a:avLst/>
          </a:prstGeom>
          <a:solidFill>
            <a:srgbClr val="0B2B65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8" name="Risk name 0">
            <a:extLst>
              <a:ext uri="{FF2B5EF4-FFF2-40B4-BE49-F238E27FC236}">
                <a16:creationId xmlns:a16="http://schemas.microsoft.com/office/drawing/2014/main" id="{651098CD-56B6-0229-BB71-96C446EE327B}"/>
              </a:ext>
            </a:extLst>
          </p:cNvPr>
          <p:cNvSpPr txBox="1">
            <a:spLocks noGrp="1"/>
          </p:cNvSpPr>
          <p:nvPr/>
        </p:nvSpPr>
        <p:spPr>
          <a:xfrm>
            <a:off x="6019800" y="1206500"/>
            <a:ext cx="3556000" cy="3302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r>
              <a:rPr lang="en-US" sz="1400" b="1" dirty="0">
                <a:solidFill>
                  <a:srgbClr val="0B2B65"/>
                </a:solidFill>
              </a:rPr>
              <a:t>Credit Risk</a:t>
            </a:r>
          </a:p>
        </p:txBody>
      </p:sp>
      <p:sp>
        <p:nvSpPr>
          <p:cNvPr id="29" name="Risk share 0">
            <a:extLst>
              <a:ext uri="{FF2B5EF4-FFF2-40B4-BE49-F238E27FC236}">
                <a16:creationId xmlns:a16="http://schemas.microsoft.com/office/drawing/2014/main" id="{6ACBF76E-A428-0505-4839-CD61B62BDF29}"/>
              </a:ext>
            </a:extLst>
          </p:cNvPr>
          <p:cNvSpPr txBox="1">
            <a:spLocks noGrp="1"/>
          </p:cNvSpPr>
          <p:nvPr/>
        </p:nvSpPr>
        <p:spPr>
          <a:xfrm>
            <a:off x="9613900" y="1193800"/>
            <a:ext cx="2311400" cy="3556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r"/>
            <a:r>
              <a:rPr lang="en-US" sz="1400" b="1" dirty="0">
                <a:solidFill>
                  <a:srgbClr val="0B2B65"/>
                </a:solidFill>
              </a:rPr>
              <a:t>71.0% | €16,049m</a:t>
            </a:r>
          </a:p>
        </p:txBody>
      </p:sp>
      <p:sp>
        <p:nvSpPr>
          <p:cNvPr id="30" name="Risk detail 0">
            <a:extLst>
              <a:ext uri="{FF2B5EF4-FFF2-40B4-BE49-F238E27FC236}">
                <a16:creationId xmlns:a16="http://schemas.microsoft.com/office/drawing/2014/main" id="{7D777C95-3A32-D376-F0AD-673B98C4AFBC}"/>
              </a:ext>
            </a:extLst>
          </p:cNvPr>
          <p:cNvSpPr txBox="1">
            <a:spLocks noGrp="1"/>
          </p:cNvSpPr>
          <p:nvPr/>
        </p:nvSpPr>
        <p:spPr>
          <a:xfrm>
            <a:off x="6019800" y="1524000"/>
            <a:ext cx="5930900" cy="7874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r>
              <a:rPr lang="en-US" sz="1200" dirty="0">
                <a:solidFill>
                  <a:srgbClr val="44546A"/>
                </a:solidFill>
              </a:rPr>
              <a:t>Normative: SA (54.8%) + F-IRB (4.9%) + Slotting (9.0%)
Economic: Merton-Vasicek single-factor model @ 99.9%</a:t>
            </a:r>
          </a:p>
          <a:p>
            <a:r>
              <a:rPr lang="en-US" sz="1400" b="1" dirty="0">
                <a:solidFill>
                  <a:srgbClr val="000000"/>
                </a:solidFill>
              </a:rPr>
              <a:t>NPL: 0.8%| Coverage: 67% | Corp NPL: 1.1%</a:t>
            </a:r>
          </a:p>
        </p:txBody>
      </p:sp>
      <p:sp>
        <p:nvSpPr>
          <p:cNvPr id="31" name="Risk bg 1">
            <a:extLst>
              <a:ext uri="{FF2B5EF4-FFF2-40B4-BE49-F238E27FC236}">
                <a16:creationId xmlns:a16="http://schemas.microsoft.com/office/drawing/2014/main" id="{A1926C3C-5A89-935D-65D3-4BA8801AB0C4}"/>
              </a:ext>
            </a:extLst>
          </p:cNvPr>
          <p:cNvSpPr>
            <a:spLocks noGrp="1"/>
          </p:cNvSpPr>
          <p:nvPr/>
        </p:nvSpPr>
        <p:spPr>
          <a:xfrm>
            <a:off x="5867400" y="2413000"/>
            <a:ext cx="6134100" cy="1219200"/>
          </a:xfrm>
          <a:prstGeom prst="rect">
            <a:avLst/>
          </a:prstGeom>
          <a:solidFill>
            <a:srgbClr val="F8F9FB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32" name="Risk bar 1">
            <a:extLst>
              <a:ext uri="{FF2B5EF4-FFF2-40B4-BE49-F238E27FC236}">
                <a16:creationId xmlns:a16="http://schemas.microsoft.com/office/drawing/2014/main" id="{C82E720E-945B-253B-F448-2FC249B60C12}"/>
              </a:ext>
            </a:extLst>
          </p:cNvPr>
          <p:cNvSpPr>
            <a:spLocks noGrp="1"/>
          </p:cNvSpPr>
          <p:nvPr/>
        </p:nvSpPr>
        <p:spPr>
          <a:xfrm>
            <a:off x="5867400" y="2413000"/>
            <a:ext cx="76200" cy="1219200"/>
          </a:xfrm>
          <a:prstGeom prst="rect">
            <a:avLst/>
          </a:prstGeom>
          <a:solidFill>
            <a:srgbClr val="44546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33" name="Risk name 1">
            <a:extLst>
              <a:ext uri="{FF2B5EF4-FFF2-40B4-BE49-F238E27FC236}">
                <a16:creationId xmlns:a16="http://schemas.microsoft.com/office/drawing/2014/main" id="{0991A6B6-322B-6E1D-91B4-F16495296B9C}"/>
              </a:ext>
            </a:extLst>
          </p:cNvPr>
          <p:cNvSpPr txBox="1">
            <a:spLocks noGrp="1"/>
          </p:cNvSpPr>
          <p:nvPr/>
        </p:nvSpPr>
        <p:spPr>
          <a:xfrm>
            <a:off x="6019800" y="2476500"/>
            <a:ext cx="3556000" cy="3302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r>
              <a:rPr lang="en-US" sz="1400" b="1" dirty="0">
                <a:solidFill>
                  <a:srgbClr val="44546A"/>
                </a:solidFill>
              </a:rPr>
              <a:t>Operational Risk</a:t>
            </a:r>
          </a:p>
        </p:txBody>
      </p:sp>
      <p:sp>
        <p:nvSpPr>
          <p:cNvPr id="34" name="Risk share 1">
            <a:extLst>
              <a:ext uri="{FF2B5EF4-FFF2-40B4-BE49-F238E27FC236}">
                <a16:creationId xmlns:a16="http://schemas.microsoft.com/office/drawing/2014/main" id="{B790F89F-5C71-F5DA-857E-0813B54B5F24}"/>
              </a:ext>
            </a:extLst>
          </p:cNvPr>
          <p:cNvSpPr txBox="1">
            <a:spLocks noGrp="1"/>
          </p:cNvSpPr>
          <p:nvPr/>
        </p:nvSpPr>
        <p:spPr>
          <a:xfrm>
            <a:off x="9613900" y="2463800"/>
            <a:ext cx="2311400" cy="3556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r"/>
            <a:r>
              <a:rPr lang="en-US" sz="1400" b="1" dirty="0">
                <a:solidFill>
                  <a:srgbClr val="44546A"/>
                </a:solidFill>
              </a:rPr>
              <a:t>18.4% | €4,160m</a:t>
            </a:r>
          </a:p>
        </p:txBody>
      </p:sp>
      <p:sp>
        <p:nvSpPr>
          <p:cNvPr id="35" name="Risk detail 1">
            <a:extLst>
              <a:ext uri="{FF2B5EF4-FFF2-40B4-BE49-F238E27FC236}">
                <a16:creationId xmlns:a16="http://schemas.microsoft.com/office/drawing/2014/main" id="{9BB350A0-23EE-B4D0-FB99-6443DE254EED}"/>
              </a:ext>
            </a:extLst>
          </p:cNvPr>
          <p:cNvSpPr txBox="1">
            <a:spLocks noGrp="1"/>
          </p:cNvSpPr>
          <p:nvPr/>
        </p:nvSpPr>
        <p:spPr>
          <a:xfrm>
            <a:off x="6019800" y="2794000"/>
            <a:ext cx="5930900" cy="7874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r>
              <a:rPr lang="en-US" sz="1200" dirty="0">
                <a:solidFill>
                  <a:srgbClr val="44546A"/>
                </a:solidFill>
              </a:rPr>
              <a:t>Normative: Standardised Measurement Approach (SMA)
Economic: SMA + expert overlays (legal, cyber, ESG)</a:t>
            </a:r>
          </a:p>
          <a:p>
            <a:r>
              <a:rPr lang="en-US" sz="1400" b="1" dirty="0">
                <a:solidFill>
                  <a:srgbClr val="000000"/>
                </a:solidFill>
              </a:rPr>
              <a:t>Actual losses FY2025: €2m | Events: 41 above €20k</a:t>
            </a:r>
          </a:p>
        </p:txBody>
      </p:sp>
      <p:sp>
        <p:nvSpPr>
          <p:cNvPr id="36" name="Risk bg 2">
            <a:extLst>
              <a:ext uri="{FF2B5EF4-FFF2-40B4-BE49-F238E27FC236}">
                <a16:creationId xmlns:a16="http://schemas.microsoft.com/office/drawing/2014/main" id="{0BE430B0-4FFF-B2F3-0CE3-C9BCEF0F0320}"/>
              </a:ext>
            </a:extLst>
          </p:cNvPr>
          <p:cNvSpPr>
            <a:spLocks noGrp="1"/>
          </p:cNvSpPr>
          <p:nvPr/>
        </p:nvSpPr>
        <p:spPr>
          <a:xfrm>
            <a:off x="5867400" y="3683000"/>
            <a:ext cx="6134100" cy="1219200"/>
          </a:xfrm>
          <a:prstGeom prst="rect">
            <a:avLst/>
          </a:prstGeom>
          <a:solidFill>
            <a:srgbClr val="F8F9FB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37" name="Risk bar 2">
            <a:extLst>
              <a:ext uri="{FF2B5EF4-FFF2-40B4-BE49-F238E27FC236}">
                <a16:creationId xmlns:a16="http://schemas.microsoft.com/office/drawing/2014/main" id="{313E7D25-884E-D821-9CD0-96BC6BD84206}"/>
              </a:ext>
            </a:extLst>
          </p:cNvPr>
          <p:cNvSpPr>
            <a:spLocks noGrp="1"/>
          </p:cNvSpPr>
          <p:nvPr/>
        </p:nvSpPr>
        <p:spPr>
          <a:xfrm>
            <a:off x="5867400" y="3683000"/>
            <a:ext cx="76200" cy="1219200"/>
          </a:xfrm>
          <a:prstGeom prst="rect">
            <a:avLst/>
          </a:prstGeom>
          <a:solidFill>
            <a:srgbClr val="1A5187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38" name="Risk name 2">
            <a:extLst>
              <a:ext uri="{FF2B5EF4-FFF2-40B4-BE49-F238E27FC236}">
                <a16:creationId xmlns:a16="http://schemas.microsoft.com/office/drawing/2014/main" id="{0C340742-672D-15A3-9AD6-514C82E13169}"/>
              </a:ext>
            </a:extLst>
          </p:cNvPr>
          <p:cNvSpPr txBox="1">
            <a:spLocks noGrp="1"/>
          </p:cNvSpPr>
          <p:nvPr/>
        </p:nvSpPr>
        <p:spPr>
          <a:xfrm>
            <a:off x="6019800" y="3746500"/>
            <a:ext cx="3556000" cy="3302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r>
              <a:rPr lang="en-US" sz="1400" b="1" dirty="0">
                <a:solidFill>
                  <a:srgbClr val="1A5187"/>
                </a:solidFill>
              </a:rPr>
              <a:t>Market Risk</a:t>
            </a:r>
          </a:p>
        </p:txBody>
      </p:sp>
      <p:sp>
        <p:nvSpPr>
          <p:cNvPr id="39" name="Risk share 2">
            <a:extLst>
              <a:ext uri="{FF2B5EF4-FFF2-40B4-BE49-F238E27FC236}">
                <a16:creationId xmlns:a16="http://schemas.microsoft.com/office/drawing/2014/main" id="{24C593BD-504D-E00F-C683-F052501B05F0}"/>
              </a:ext>
            </a:extLst>
          </p:cNvPr>
          <p:cNvSpPr txBox="1">
            <a:spLocks noGrp="1"/>
          </p:cNvSpPr>
          <p:nvPr/>
        </p:nvSpPr>
        <p:spPr>
          <a:xfrm>
            <a:off x="9613900" y="3733800"/>
            <a:ext cx="2311400" cy="3556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r"/>
            <a:r>
              <a:rPr lang="en-US" sz="1400" b="1" dirty="0">
                <a:solidFill>
                  <a:srgbClr val="1A5187"/>
                </a:solidFill>
              </a:rPr>
              <a:t>0% | €0</a:t>
            </a:r>
          </a:p>
        </p:txBody>
      </p:sp>
      <p:sp>
        <p:nvSpPr>
          <p:cNvPr id="40" name="Risk detail 2">
            <a:extLst>
              <a:ext uri="{FF2B5EF4-FFF2-40B4-BE49-F238E27FC236}">
                <a16:creationId xmlns:a16="http://schemas.microsoft.com/office/drawing/2014/main" id="{0BCE41B1-2F19-F298-D4B6-928C5F815C0C}"/>
              </a:ext>
            </a:extLst>
          </p:cNvPr>
          <p:cNvSpPr txBox="1">
            <a:spLocks noGrp="1"/>
          </p:cNvSpPr>
          <p:nvPr/>
        </p:nvSpPr>
        <p:spPr>
          <a:xfrm>
            <a:off x="6019800" y="4064000"/>
            <a:ext cx="5930900" cy="7874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r>
              <a:rPr lang="en-US" sz="1200" dirty="0">
                <a:solidFill>
                  <a:srgbClr val="44546A"/>
                </a:solidFill>
              </a:rPr>
              <a:t>No Pillar 1 RWA - zero trading book
IRRBB (banking book only): VaR gen. hyperbolic, EVE/NII</a:t>
            </a:r>
          </a:p>
          <a:p>
            <a:r>
              <a:rPr lang="en-US" sz="1400" b="1" dirty="0">
                <a:solidFill>
                  <a:srgbClr val="000000"/>
                </a:solidFill>
              </a:rPr>
              <a:t>Parallel Up: EVE -€406m (-12.4% Tier 1 capital) - within SOT limit</a:t>
            </a:r>
          </a:p>
        </p:txBody>
      </p:sp>
      <p:sp>
        <p:nvSpPr>
          <p:cNvPr id="41" name="Risk bg 3">
            <a:extLst>
              <a:ext uri="{FF2B5EF4-FFF2-40B4-BE49-F238E27FC236}">
                <a16:creationId xmlns:a16="http://schemas.microsoft.com/office/drawing/2014/main" id="{E5776E74-7766-062E-3FFF-C28478326757}"/>
              </a:ext>
            </a:extLst>
          </p:cNvPr>
          <p:cNvSpPr>
            <a:spLocks noGrp="1"/>
          </p:cNvSpPr>
          <p:nvPr/>
        </p:nvSpPr>
        <p:spPr>
          <a:xfrm>
            <a:off x="5867400" y="4953000"/>
            <a:ext cx="6134100" cy="1219200"/>
          </a:xfrm>
          <a:prstGeom prst="rect">
            <a:avLst/>
          </a:prstGeom>
          <a:solidFill>
            <a:srgbClr val="F8F9FB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42" name="Risk bar 3">
            <a:extLst>
              <a:ext uri="{FF2B5EF4-FFF2-40B4-BE49-F238E27FC236}">
                <a16:creationId xmlns:a16="http://schemas.microsoft.com/office/drawing/2014/main" id="{F0802B61-B1B6-E642-9F28-925CBAB7FC38}"/>
              </a:ext>
            </a:extLst>
          </p:cNvPr>
          <p:cNvSpPr>
            <a:spLocks noGrp="1"/>
          </p:cNvSpPr>
          <p:nvPr/>
        </p:nvSpPr>
        <p:spPr>
          <a:xfrm>
            <a:off x="5867400" y="4953000"/>
            <a:ext cx="76200" cy="1219200"/>
          </a:xfrm>
          <a:prstGeom prst="rect">
            <a:avLst/>
          </a:prstGeom>
          <a:solidFill>
            <a:srgbClr val="9BA7C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43" name="Risk name 3">
            <a:extLst>
              <a:ext uri="{FF2B5EF4-FFF2-40B4-BE49-F238E27FC236}">
                <a16:creationId xmlns:a16="http://schemas.microsoft.com/office/drawing/2014/main" id="{CE2E60A7-97B2-7D8E-A1C1-C8B8D5A96C08}"/>
              </a:ext>
            </a:extLst>
          </p:cNvPr>
          <p:cNvSpPr txBox="1">
            <a:spLocks noGrp="1"/>
          </p:cNvSpPr>
          <p:nvPr/>
        </p:nvSpPr>
        <p:spPr>
          <a:xfrm>
            <a:off x="6019800" y="5016500"/>
            <a:ext cx="3556000" cy="3302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r>
              <a:rPr lang="en-US" sz="1400" b="1" dirty="0">
                <a:solidFill>
                  <a:srgbClr val="0B2B65"/>
                </a:solidFill>
              </a:rPr>
              <a:t>Liquidity Risk</a:t>
            </a:r>
          </a:p>
        </p:txBody>
      </p:sp>
      <p:sp>
        <p:nvSpPr>
          <p:cNvPr id="44" name="Risk share 3">
            <a:extLst>
              <a:ext uri="{FF2B5EF4-FFF2-40B4-BE49-F238E27FC236}">
                <a16:creationId xmlns:a16="http://schemas.microsoft.com/office/drawing/2014/main" id="{F1F5E166-BBF3-1D80-CFD3-F07DEC390D4F}"/>
              </a:ext>
            </a:extLst>
          </p:cNvPr>
          <p:cNvSpPr txBox="1">
            <a:spLocks noGrp="1"/>
          </p:cNvSpPr>
          <p:nvPr/>
        </p:nvSpPr>
        <p:spPr>
          <a:xfrm>
            <a:off x="9613900" y="5003800"/>
            <a:ext cx="2311400" cy="3556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r"/>
            <a:r>
              <a:rPr lang="en-US" sz="1400" b="1" dirty="0">
                <a:solidFill>
                  <a:srgbClr val="44546A"/>
                </a:solidFill>
              </a:rPr>
              <a:t>N/A | LCR 218%</a:t>
            </a:r>
          </a:p>
        </p:txBody>
      </p:sp>
      <p:sp>
        <p:nvSpPr>
          <p:cNvPr id="45" name="Risk detail 3">
            <a:extLst>
              <a:ext uri="{FF2B5EF4-FFF2-40B4-BE49-F238E27FC236}">
                <a16:creationId xmlns:a16="http://schemas.microsoft.com/office/drawing/2014/main" id="{7F4F3967-9567-B11F-2446-7F13A3518089}"/>
              </a:ext>
            </a:extLst>
          </p:cNvPr>
          <p:cNvSpPr txBox="1">
            <a:spLocks noGrp="1"/>
          </p:cNvSpPr>
          <p:nvPr/>
        </p:nvSpPr>
        <p:spPr>
          <a:xfrm>
            <a:off x="6019800" y="5334000"/>
            <a:ext cx="5930900" cy="7874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r>
              <a:rPr lang="en-US" sz="1200" dirty="0">
                <a:solidFill>
                  <a:srgbClr val="44546A"/>
                </a:solidFill>
              </a:rPr>
              <a:t>LCR/NSFR (regulatory); Gap analysis + historical worst-case
Climate scenarios integrated into daily NLP since 2024</a:t>
            </a:r>
          </a:p>
          <a:p>
            <a:r>
              <a:rPr lang="en-US" sz="1400" b="1" dirty="0">
                <a:solidFill>
                  <a:srgbClr val="000000"/>
                </a:solidFill>
              </a:rPr>
              <a:t>HQLA: €14.5bn | Deposit beta: 37% (Q4 2025)</a:t>
            </a:r>
          </a:p>
        </p:txBody>
      </p:sp>
      <p:sp>
        <p:nvSpPr>
          <p:cNvPr id="46" name="Div">
            <a:extLst>
              <a:ext uri="{FF2B5EF4-FFF2-40B4-BE49-F238E27FC236}">
                <a16:creationId xmlns:a16="http://schemas.microsoft.com/office/drawing/2014/main" id="{E8523C3B-66A8-E1A9-4481-2502AB4C49B6}"/>
              </a:ext>
            </a:extLst>
          </p:cNvPr>
          <p:cNvSpPr>
            <a:spLocks noGrp="1"/>
          </p:cNvSpPr>
          <p:nvPr/>
        </p:nvSpPr>
        <p:spPr>
          <a:xfrm>
            <a:off x="5791200" y="698500"/>
            <a:ext cx="25400" cy="5651500"/>
          </a:xfrm>
          <a:prstGeom prst="rect">
            <a:avLst/>
          </a:prstGeom>
          <a:solidFill>
            <a:srgbClr val="E7E6E6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48" name="FtrTxt">
            <a:extLst>
              <a:ext uri="{FF2B5EF4-FFF2-40B4-BE49-F238E27FC236}">
                <a16:creationId xmlns:a16="http://schemas.microsoft.com/office/drawing/2014/main" id="{90EBD564-8C5B-913F-46C1-86D8029842BD}"/>
              </a:ext>
            </a:extLst>
          </p:cNvPr>
          <p:cNvSpPr txBox="1">
            <a:spLocks noGrp="1"/>
          </p:cNvSpPr>
          <p:nvPr/>
        </p:nvSpPr>
        <p:spPr>
          <a:xfrm>
            <a:off x="5880100" y="6235700"/>
            <a:ext cx="6121400" cy="558800"/>
          </a:xfrm>
          <a:prstGeom prst="rect">
            <a:avLst/>
          </a:prstGeom>
          <a:noFill/>
          <a:ln>
            <a:noFill/>
          </a:ln>
        </p:spPr>
        <p:txBody>
          <a:bodyPr wrap="square" anchor="ctr"/>
          <a:lstStyle/>
          <a:p>
            <a:r>
              <a:rPr lang="en-US" sz="1000" dirty="0"/>
              <a:t>Source: BAWAG Pillar 3 Quantitative Report 2025 - EU OV1, EU CR6, EU IRRBB1, EU LIQ1, EU OR1.          </a:t>
            </a:r>
            <a:r>
              <a:rPr lang="en-US" sz="1000" dirty="0">
                <a:solidFill>
                  <a:srgbClr val="1A5187"/>
                </a:solidFill>
              </a:rPr>
              <a:t>*reg. CET1 (KM1); Key Fin. CET1 = 14.2%</a:t>
            </a:r>
            <a:endParaRPr lang="en-US" sz="1000" dirty="0"/>
          </a:p>
        </p:txBody>
      </p:sp>
      <p:sp>
        <p:nvSpPr>
          <p:cNvPr id="49" name="qbox">
            <a:extLst>
              <a:ext uri="{FF2B5EF4-FFF2-40B4-BE49-F238E27FC236}">
                <a16:creationId xmlns:a16="http://schemas.microsoft.com/office/drawing/2014/main" id="{9939D971-AC8E-9A78-CBC1-C525B5FEED71}"/>
              </a:ext>
            </a:extLst>
          </p:cNvPr>
          <p:cNvSpPr txBox="1"/>
          <p:nvPr/>
        </p:nvSpPr>
        <p:spPr>
          <a:xfrm>
            <a:off x="183575" y="2987744"/>
            <a:ext cx="5308600" cy="12192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/>
          <a:lstStyle/>
          <a:p>
            <a:pPr>
              <a:spcBef>
                <a:spcPts val="100"/>
              </a:spcBef>
            </a:pPr>
            <a:r>
              <a:rPr lang="en-US" sz="1400" b="1" dirty="0">
                <a:solidFill>
                  <a:srgbClr val="0B2B65"/>
                </a:solidFill>
              </a:rPr>
              <a:t>Credit Risk </a:t>
            </a:r>
            <a:r>
              <a:rPr lang="en-US" sz="1400" dirty="0">
                <a:solidFill>
                  <a:srgbClr val="1A5187"/>
                </a:solidFill>
              </a:rPr>
              <a:t>71.0% of RWA - dominant risk, IRB/SA approach</a:t>
            </a:r>
          </a:p>
          <a:p>
            <a:pPr>
              <a:spcBef>
                <a:spcPts val="100"/>
              </a:spcBef>
            </a:pPr>
            <a:r>
              <a:rPr lang="en-US" sz="1400" b="1" dirty="0">
                <a:solidFill>
                  <a:srgbClr val="0B2B65"/>
                </a:solidFill>
              </a:rPr>
              <a:t>Op. Risk </a:t>
            </a:r>
            <a:r>
              <a:rPr lang="en-US" sz="1400" dirty="0">
                <a:solidFill>
                  <a:srgbClr val="1A5187"/>
                </a:solidFill>
              </a:rPr>
              <a:t>18.4% of RWA - SMA approach</a:t>
            </a:r>
          </a:p>
          <a:p>
            <a:pPr>
              <a:spcBef>
                <a:spcPts val="100"/>
              </a:spcBef>
            </a:pPr>
            <a:r>
              <a:rPr lang="en-US" sz="1400" b="1" dirty="0">
                <a:solidFill>
                  <a:srgbClr val="0B2B65"/>
                </a:solidFill>
              </a:rPr>
              <a:t>Market Risk </a:t>
            </a:r>
            <a:r>
              <a:rPr lang="en-US" sz="1400" dirty="0">
                <a:solidFill>
                  <a:srgbClr val="1A5187"/>
                </a:solidFill>
              </a:rPr>
              <a:t>Zero RWA - no trading book</a:t>
            </a:r>
          </a:p>
        </p:txBody>
      </p:sp>
      <p:sp>
        <p:nvSpPr>
          <p:cNvPr id="50" name="metbox">
            <a:extLst>
              <a:ext uri="{FF2B5EF4-FFF2-40B4-BE49-F238E27FC236}">
                <a16:creationId xmlns:a16="http://schemas.microsoft.com/office/drawing/2014/main" id="{0BF655D6-DF13-44A7-B2BF-0522862B1F50}"/>
              </a:ext>
            </a:extLst>
          </p:cNvPr>
          <p:cNvSpPr txBox="1"/>
          <p:nvPr/>
        </p:nvSpPr>
        <p:spPr>
          <a:xfrm>
            <a:off x="187500" y="3435631"/>
            <a:ext cx="5549900" cy="1515538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/>
          <a:lstStyle/>
          <a:p>
            <a:pPr>
              <a:spcBef>
                <a:spcPts val="100"/>
              </a:spcBef>
            </a:pPr>
            <a:r>
              <a:rPr lang="en-US" sz="1400" b="1" dirty="0">
                <a:solidFill>
                  <a:srgbClr val="0B2B65"/>
                </a:solidFill>
              </a:rPr>
              <a:t>CET1 Ratio: </a:t>
            </a:r>
            <a:r>
              <a:rPr lang="en-US" sz="1400" dirty="0">
                <a:solidFill>
                  <a:srgbClr val="1A5187"/>
                </a:solidFill>
              </a:rPr>
              <a:t>12.9%*  </a:t>
            </a:r>
            <a:r>
              <a:rPr lang="en-US" sz="1400" b="1" dirty="0">
                <a:solidFill>
                  <a:srgbClr val="0B2B65"/>
                </a:solidFill>
              </a:rPr>
              <a:t>Total RWA: </a:t>
            </a:r>
            <a:r>
              <a:rPr lang="en-US" sz="1400" dirty="0">
                <a:solidFill>
                  <a:srgbClr val="1A5187"/>
                </a:solidFill>
              </a:rPr>
              <a:t>€22.6bn </a:t>
            </a:r>
            <a:r>
              <a:rPr lang="en-US" sz="1400" b="1" dirty="0">
                <a:solidFill>
                  <a:srgbClr val="0B2B65"/>
                </a:solidFill>
              </a:rPr>
              <a:t>LCR: </a:t>
            </a:r>
            <a:r>
              <a:rPr lang="en-US" sz="1400" dirty="0">
                <a:solidFill>
                  <a:srgbClr val="1A5187"/>
                </a:solidFill>
              </a:rPr>
              <a:t>218%  </a:t>
            </a:r>
            <a:r>
              <a:rPr lang="en-US" sz="1400" b="1" dirty="0">
                <a:solidFill>
                  <a:srgbClr val="0B2B65"/>
                </a:solidFill>
              </a:rPr>
              <a:t>NSFR: </a:t>
            </a:r>
            <a:r>
              <a:rPr lang="en-US" sz="1400" dirty="0">
                <a:solidFill>
                  <a:srgbClr val="1A5187"/>
                </a:solidFill>
              </a:rPr>
              <a:t>142%</a:t>
            </a:r>
          </a:p>
          <a:p>
            <a:pPr>
              <a:spcBef>
                <a:spcPts val="100"/>
              </a:spcBef>
            </a:pPr>
            <a:r>
              <a:rPr lang="en-US" sz="1400" b="1" dirty="0">
                <a:solidFill>
                  <a:srgbClr val="0B2B65"/>
                </a:solidFill>
              </a:rPr>
              <a:t>ICAAP </a:t>
            </a:r>
            <a:r>
              <a:rPr lang="en-US" sz="1400" dirty="0">
                <a:solidFill>
                  <a:srgbClr val="1A5187"/>
                </a:solidFill>
              </a:rPr>
              <a:t>normative &amp; economic capital frameworks active</a:t>
            </a:r>
          </a:p>
        </p:txBody>
      </p:sp>
      <p:sp>
        <p:nvSpPr>
          <p:cNvPr id="51" name="desc">
            <a:extLst>
              <a:ext uri="{FF2B5EF4-FFF2-40B4-BE49-F238E27FC236}">
                <a16:creationId xmlns:a16="http://schemas.microsoft.com/office/drawing/2014/main" id="{79B40621-81B8-2E7F-528E-B3AC272F35E1}"/>
              </a:ext>
            </a:extLst>
          </p:cNvPr>
          <p:cNvSpPr txBox="1"/>
          <p:nvPr/>
        </p:nvSpPr>
        <p:spPr>
          <a:xfrm>
            <a:off x="191425" y="4431817"/>
            <a:ext cx="5473700" cy="2040807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 wrap="square" lIns="91440" tIns="45720" rIns="91440" bIns="45720" anchor="ctr"/>
          <a:lstStyle/>
          <a:p>
            <a:r>
              <a:rPr lang="en-US" sz="1400" b="1" dirty="0">
                <a:solidFill>
                  <a:srgbClr val="44546A"/>
                </a:solidFill>
              </a:rPr>
              <a:t>Q4 - Main Risk Types: (1) Credit Risk </a:t>
            </a:r>
            <a:r>
              <a:rPr lang="en-US" sz="1400" dirty="0">
                <a:solidFill>
                  <a:srgbClr val="44546A"/>
                </a:solidFill>
              </a:rPr>
              <a:t>- 71.0% of Risk-Weighted Assets (RWA), primary driver, SA/F-IRB/Slotting. </a:t>
            </a:r>
            <a:r>
              <a:rPr lang="en-US" sz="1400" b="1" dirty="0">
                <a:solidFill>
                  <a:srgbClr val="44546A"/>
                </a:solidFill>
              </a:rPr>
              <a:t>(2) Operational Risk </a:t>
            </a:r>
            <a:r>
              <a:rPr lang="en-US" sz="1400" dirty="0">
                <a:solidFill>
                  <a:srgbClr val="44546A"/>
                </a:solidFill>
              </a:rPr>
              <a:t>- 18.4% of RWA via Standardised Measurement Approach (SMA). </a:t>
            </a:r>
            <a:r>
              <a:rPr lang="en-US" sz="1400" b="1" dirty="0">
                <a:solidFill>
                  <a:srgbClr val="44546A"/>
                </a:solidFill>
              </a:rPr>
              <a:t>(3) IRRBB (Interest Rate Risk in the Banking Book)</a:t>
            </a:r>
            <a:r>
              <a:rPr lang="en-US" sz="1400" dirty="0">
                <a:solidFill>
                  <a:srgbClr val="44546A"/>
                </a:solidFill>
              </a:rPr>
              <a:t> - no trading book; EVE (Economic Value of Equity) sensitivity −€406m at +200bp. </a:t>
            </a:r>
            <a:r>
              <a:rPr lang="en-US" sz="1400" b="1" dirty="0">
                <a:solidFill>
                  <a:srgbClr val="44546A"/>
                </a:solidFill>
              </a:rPr>
              <a:t>(4) Liquidity Risk </a:t>
            </a:r>
            <a:r>
              <a:rPr lang="en-US" sz="1400" dirty="0">
                <a:solidFill>
                  <a:srgbClr val="44546A"/>
                </a:solidFill>
              </a:rPr>
              <a:t>- Liquidity Coverage Ratio (LCR) 218%, High-Quality Liquid Assets (HQLA) €14.5bn. Market Risk RWA = €0 (no trading book - structural design choice).</a:t>
            </a:r>
          </a:p>
        </p:txBody>
      </p:sp>
      <p:sp>
        <p:nvSpPr>
          <p:cNvPr id="64" name="Leg color 0">
            <a:extLst>
              <a:ext uri="{FF2B5EF4-FFF2-40B4-BE49-F238E27FC236}">
                <a16:creationId xmlns:a16="http://schemas.microsoft.com/office/drawing/2014/main" id="{1169E94F-0D78-4DEC-722E-239C1FD60B20}"/>
              </a:ext>
            </a:extLst>
          </p:cNvPr>
          <p:cNvSpPr>
            <a:spLocks noGrp="1"/>
          </p:cNvSpPr>
          <p:nvPr/>
        </p:nvSpPr>
        <p:spPr>
          <a:xfrm>
            <a:off x="228600" y="2173555"/>
            <a:ext cx="203200" cy="203200"/>
          </a:xfrm>
          <a:prstGeom prst="rect">
            <a:avLst/>
          </a:prstGeom>
          <a:solidFill>
            <a:srgbClr val="0B2B65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65" name="Leg txt 0">
            <a:extLst>
              <a:ext uri="{FF2B5EF4-FFF2-40B4-BE49-F238E27FC236}">
                <a16:creationId xmlns:a16="http://schemas.microsoft.com/office/drawing/2014/main" id="{5B2B106F-92A7-FA2A-DA6A-399399F9D31A}"/>
              </a:ext>
            </a:extLst>
          </p:cNvPr>
          <p:cNvSpPr txBox="1">
            <a:spLocks noGrp="1"/>
          </p:cNvSpPr>
          <p:nvPr/>
        </p:nvSpPr>
        <p:spPr>
          <a:xfrm>
            <a:off x="482600" y="2135455"/>
            <a:ext cx="2413000" cy="279400"/>
          </a:xfrm>
          <a:prstGeom prst="rect">
            <a:avLst/>
          </a:prstGeom>
          <a:noFill/>
          <a:ln>
            <a:noFill/>
          </a:ln>
        </p:spPr>
        <p:txBody>
          <a:bodyPr wrap="square" anchor="ctr"/>
          <a:lstStyle/>
          <a:p>
            <a:r>
              <a:rPr lang="en-US" sz="1050" dirty="0">
                <a:solidFill>
                  <a:srgbClr val="000000"/>
                </a:solidFill>
              </a:rPr>
              <a:t>Credit Risk SA: 54.8% (€12.4bn)</a:t>
            </a:r>
          </a:p>
        </p:txBody>
      </p:sp>
      <p:sp>
        <p:nvSpPr>
          <p:cNvPr id="66" name="Leg color 1">
            <a:extLst>
              <a:ext uri="{FF2B5EF4-FFF2-40B4-BE49-F238E27FC236}">
                <a16:creationId xmlns:a16="http://schemas.microsoft.com/office/drawing/2014/main" id="{973E7DD2-4528-780E-CD52-8C0E437304C6}"/>
              </a:ext>
            </a:extLst>
          </p:cNvPr>
          <p:cNvSpPr>
            <a:spLocks noGrp="1"/>
          </p:cNvSpPr>
          <p:nvPr/>
        </p:nvSpPr>
        <p:spPr>
          <a:xfrm>
            <a:off x="2959100" y="2173555"/>
            <a:ext cx="203200" cy="203200"/>
          </a:xfrm>
          <a:prstGeom prst="rect">
            <a:avLst/>
          </a:prstGeom>
          <a:solidFill>
            <a:srgbClr val="44546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67" name="Leg txt 1">
            <a:extLst>
              <a:ext uri="{FF2B5EF4-FFF2-40B4-BE49-F238E27FC236}">
                <a16:creationId xmlns:a16="http://schemas.microsoft.com/office/drawing/2014/main" id="{E2676428-BCBD-63DE-7171-748E194FC813}"/>
              </a:ext>
            </a:extLst>
          </p:cNvPr>
          <p:cNvSpPr txBox="1">
            <a:spLocks noGrp="1"/>
          </p:cNvSpPr>
          <p:nvPr/>
        </p:nvSpPr>
        <p:spPr>
          <a:xfrm>
            <a:off x="3213100" y="2135461"/>
            <a:ext cx="2413000" cy="279400"/>
          </a:xfrm>
          <a:prstGeom prst="rect">
            <a:avLst/>
          </a:prstGeom>
          <a:noFill/>
          <a:ln>
            <a:noFill/>
          </a:ln>
        </p:spPr>
        <p:txBody>
          <a:bodyPr wrap="square" anchor="ctr"/>
          <a:lstStyle/>
          <a:p>
            <a:r>
              <a:rPr lang="en-US" sz="1050" dirty="0">
                <a:solidFill>
                  <a:srgbClr val="000000"/>
                </a:solidFill>
              </a:rPr>
              <a:t>Op. Risk SMA: 18.4% (€4.2bn)</a:t>
            </a:r>
          </a:p>
        </p:txBody>
      </p:sp>
      <p:sp>
        <p:nvSpPr>
          <p:cNvPr id="68" name="Leg color 2">
            <a:extLst>
              <a:ext uri="{FF2B5EF4-FFF2-40B4-BE49-F238E27FC236}">
                <a16:creationId xmlns:a16="http://schemas.microsoft.com/office/drawing/2014/main" id="{5CAE4039-EBE2-D787-7D10-6D4CF078AD40}"/>
              </a:ext>
            </a:extLst>
          </p:cNvPr>
          <p:cNvSpPr>
            <a:spLocks noGrp="1"/>
          </p:cNvSpPr>
          <p:nvPr/>
        </p:nvSpPr>
        <p:spPr>
          <a:xfrm>
            <a:off x="228600" y="2437255"/>
            <a:ext cx="203200" cy="203200"/>
          </a:xfrm>
          <a:prstGeom prst="rect">
            <a:avLst/>
          </a:prstGeom>
          <a:solidFill>
            <a:srgbClr val="9BA7C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69" name="Leg txt 2">
            <a:extLst>
              <a:ext uri="{FF2B5EF4-FFF2-40B4-BE49-F238E27FC236}">
                <a16:creationId xmlns:a16="http://schemas.microsoft.com/office/drawing/2014/main" id="{35040360-6421-0B5E-A871-716E863477B9}"/>
              </a:ext>
            </a:extLst>
          </p:cNvPr>
          <p:cNvSpPr txBox="1">
            <a:spLocks noGrp="1"/>
          </p:cNvSpPr>
          <p:nvPr/>
        </p:nvSpPr>
        <p:spPr>
          <a:xfrm>
            <a:off x="482600" y="2399155"/>
            <a:ext cx="2413000" cy="279400"/>
          </a:xfrm>
          <a:prstGeom prst="rect">
            <a:avLst/>
          </a:prstGeom>
          <a:noFill/>
          <a:ln>
            <a:noFill/>
          </a:ln>
        </p:spPr>
        <p:txBody>
          <a:bodyPr wrap="square" anchor="ctr"/>
          <a:lstStyle/>
          <a:p>
            <a:r>
              <a:rPr lang="en-US" sz="1050" dirty="0">
                <a:solidFill>
                  <a:srgbClr val="000000"/>
                </a:solidFill>
              </a:rPr>
              <a:t>Securitisation: 9.5% (€2.2bn)</a:t>
            </a:r>
          </a:p>
        </p:txBody>
      </p:sp>
      <p:sp>
        <p:nvSpPr>
          <p:cNvPr id="70" name="Leg color 3">
            <a:extLst>
              <a:ext uri="{FF2B5EF4-FFF2-40B4-BE49-F238E27FC236}">
                <a16:creationId xmlns:a16="http://schemas.microsoft.com/office/drawing/2014/main" id="{DC45DFC7-C3A6-4E33-E5DB-8AA37FF76D34}"/>
              </a:ext>
            </a:extLst>
          </p:cNvPr>
          <p:cNvSpPr>
            <a:spLocks noGrp="1"/>
          </p:cNvSpPr>
          <p:nvPr/>
        </p:nvSpPr>
        <p:spPr>
          <a:xfrm>
            <a:off x="2959100" y="2437255"/>
            <a:ext cx="203200" cy="203200"/>
          </a:xfrm>
          <a:prstGeom prst="rect">
            <a:avLst/>
          </a:prstGeom>
          <a:solidFill>
            <a:srgbClr val="1A5187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71" name="Leg txt 3">
            <a:extLst>
              <a:ext uri="{FF2B5EF4-FFF2-40B4-BE49-F238E27FC236}">
                <a16:creationId xmlns:a16="http://schemas.microsoft.com/office/drawing/2014/main" id="{6F81DBBC-B53A-3E88-39BA-0FFF122921A7}"/>
              </a:ext>
            </a:extLst>
          </p:cNvPr>
          <p:cNvSpPr txBox="1">
            <a:spLocks noGrp="1"/>
          </p:cNvSpPr>
          <p:nvPr/>
        </p:nvSpPr>
        <p:spPr>
          <a:xfrm>
            <a:off x="3213100" y="2399161"/>
            <a:ext cx="2413000" cy="279400"/>
          </a:xfrm>
          <a:prstGeom prst="rect">
            <a:avLst/>
          </a:prstGeom>
          <a:noFill/>
          <a:ln>
            <a:noFill/>
          </a:ln>
        </p:spPr>
        <p:txBody>
          <a:bodyPr wrap="square" anchor="ctr"/>
          <a:lstStyle/>
          <a:p>
            <a:r>
              <a:rPr lang="en-US" sz="1050" dirty="0">
                <a:solidFill>
                  <a:srgbClr val="000000"/>
                </a:solidFill>
              </a:rPr>
              <a:t>Credit Slotting: 9% (€2.0bn)</a:t>
            </a:r>
          </a:p>
        </p:txBody>
      </p:sp>
      <p:sp>
        <p:nvSpPr>
          <p:cNvPr id="72" name="Leg color 4">
            <a:extLst>
              <a:ext uri="{FF2B5EF4-FFF2-40B4-BE49-F238E27FC236}">
                <a16:creationId xmlns:a16="http://schemas.microsoft.com/office/drawing/2014/main" id="{233F1C88-DD25-0A19-BC6A-A335F479EE39}"/>
              </a:ext>
            </a:extLst>
          </p:cNvPr>
          <p:cNvSpPr>
            <a:spLocks noGrp="1"/>
          </p:cNvSpPr>
          <p:nvPr/>
        </p:nvSpPr>
        <p:spPr>
          <a:xfrm>
            <a:off x="228600" y="2717580"/>
            <a:ext cx="203200" cy="203200"/>
          </a:xfrm>
          <a:prstGeom prst="rect">
            <a:avLst/>
          </a:prstGeom>
          <a:solidFill>
            <a:srgbClr val="6B7B99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73" name="Leg txt 4">
            <a:extLst>
              <a:ext uri="{FF2B5EF4-FFF2-40B4-BE49-F238E27FC236}">
                <a16:creationId xmlns:a16="http://schemas.microsoft.com/office/drawing/2014/main" id="{CD47AC38-1907-A729-4FCE-03135528611D}"/>
              </a:ext>
            </a:extLst>
          </p:cNvPr>
          <p:cNvSpPr txBox="1">
            <a:spLocks noGrp="1"/>
          </p:cNvSpPr>
          <p:nvPr/>
        </p:nvSpPr>
        <p:spPr>
          <a:xfrm>
            <a:off x="482600" y="2679480"/>
            <a:ext cx="2413000" cy="279400"/>
          </a:xfrm>
          <a:prstGeom prst="rect">
            <a:avLst/>
          </a:prstGeom>
          <a:noFill/>
          <a:ln>
            <a:noFill/>
          </a:ln>
        </p:spPr>
        <p:txBody>
          <a:bodyPr wrap="square" anchor="ctr"/>
          <a:lstStyle/>
          <a:p>
            <a:r>
              <a:rPr lang="en-US" sz="1050" dirty="0">
                <a:solidFill>
                  <a:srgbClr val="000000"/>
                </a:solidFill>
              </a:rPr>
              <a:t>Credit F-IRB: 4.9% (€1.1bn)</a:t>
            </a:r>
          </a:p>
        </p:txBody>
      </p:sp>
      <p:sp>
        <p:nvSpPr>
          <p:cNvPr id="74" name="Leg color 5">
            <a:extLst>
              <a:ext uri="{FF2B5EF4-FFF2-40B4-BE49-F238E27FC236}">
                <a16:creationId xmlns:a16="http://schemas.microsoft.com/office/drawing/2014/main" id="{A353F53C-E3C8-2135-2D69-96C5E95211F9}"/>
              </a:ext>
            </a:extLst>
          </p:cNvPr>
          <p:cNvSpPr>
            <a:spLocks noGrp="1"/>
          </p:cNvSpPr>
          <p:nvPr/>
        </p:nvSpPr>
        <p:spPr>
          <a:xfrm>
            <a:off x="2959100" y="2717580"/>
            <a:ext cx="203200" cy="20320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75" name="Leg txt 5">
            <a:extLst>
              <a:ext uri="{FF2B5EF4-FFF2-40B4-BE49-F238E27FC236}">
                <a16:creationId xmlns:a16="http://schemas.microsoft.com/office/drawing/2014/main" id="{B4620DAB-5431-6CA7-A291-60E666B5806D}"/>
              </a:ext>
            </a:extLst>
          </p:cNvPr>
          <p:cNvSpPr txBox="1">
            <a:spLocks noGrp="1"/>
          </p:cNvSpPr>
          <p:nvPr/>
        </p:nvSpPr>
        <p:spPr>
          <a:xfrm>
            <a:off x="3213100" y="2679486"/>
            <a:ext cx="2413000" cy="279400"/>
          </a:xfrm>
          <a:prstGeom prst="rect">
            <a:avLst/>
          </a:prstGeom>
          <a:noFill/>
          <a:ln>
            <a:noFill/>
          </a:ln>
        </p:spPr>
        <p:txBody>
          <a:bodyPr wrap="square" anchor="ctr"/>
          <a:lstStyle/>
          <a:p>
            <a:r>
              <a:rPr lang="en-US" sz="1050" dirty="0">
                <a:solidFill>
                  <a:srgbClr val="000000"/>
                </a:solidFill>
              </a:rPr>
              <a:t>CCR + CVA: 1% (€0.2bn)</a:t>
            </a:r>
          </a:p>
        </p:txBody>
      </p:sp>
      <p:graphicFrame>
        <p:nvGraphicFramePr>
          <p:cNvPr id="76" name="Chart 75">
            <a:extLst>
              <a:ext uri="{FF2B5EF4-FFF2-40B4-BE49-F238E27FC236}">
                <a16:creationId xmlns:a16="http://schemas.microsoft.com/office/drawing/2014/main" id="{6EFC5D9C-9B86-59BB-8413-32333AA3C230}"/>
              </a:ext>
            </a:extLst>
          </p:cNvPr>
          <p:cNvGraphicFramePr/>
          <p:nvPr/>
        </p:nvGraphicFramePr>
        <p:xfrm>
          <a:off x="177800" y="698499"/>
          <a:ext cx="5435600" cy="152359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  <p:extLst>
      <p:ext uri="{BB962C8B-B14F-4D97-AF65-F5344CB8AC3E}">
        <p14:creationId xmlns:p14="http://schemas.microsoft.com/office/powerpoint/2010/main" val="267600677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b="1" dirty="0"/>
              <a:t>Measurement Approaches to Quantify Risk</a:t>
            </a:r>
          </a:p>
        </p:txBody>
      </p:sp>
      <p:sp>
        <p:nvSpPr>
          <p:cNvPr id="10" name="Card0_bg"/>
          <p:cNvSpPr>
            <a:spLocks noGrp="1"/>
          </p:cNvSpPr>
          <p:nvPr/>
        </p:nvSpPr>
        <p:spPr>
          <a:xfrm>
            <a:off x="190500" y="690000"/>
            <a:ext cx="3860800" cy="5820000"/>
          </a:xfrm>
          <a:prstGeom prst="rect">
            <a:avLst/>
          </a:prstGeom>
          <a:solidFill>
            <a:srgbClr val="F8F9FB"/>
          </a:solidFill>
          <a:ln w="9525">
            <a:solidFill>
              <a:srgbClr val="D0D8E4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1" name="Card0_accent"/>
          <p:cNvSpPr>
            <a:spLocks noGrp="1"/>
          </p:cNvSpPr>
          <p:nvPr/>
        </p:nvSpPr>
        <p:spPr>
          <a:xfrm>
            <a:off x="190500" y="690000"/>
            <a:ext cx="22860" cy="5820000"/>
          </a:xfrm>
          <a:prstGeom prst="rect">
            <a:avLst/>
          </a:prstGeom>
          <a:solidFill>
            <a:srgbClr val="1A5187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2" name="Card0_hdr_bg"/>
          <p:cNvSpPr>
            <a:spLocks noGrp="1"/>
          </p:cNvSpPr>
          <p:nvPr/>
        </p:nvSpPr>
        <p:spPr>
          <a:xfrm>
            <a:off x="213360" y="690000"/>
            <a:ext cx="3837940" cy="370000"/>
          </a:xfrm>
          <a:prstGeom prst="rect">
            <a:avLst/>
          </a:prstGeom>
          <a:solidFill>
            <a:srgbClr val="1A5187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3" name="Card0_hdr_txt"/>
          <p:cNvSpPr txBox="1">
            <a:spLocks noGrp="1"/>
          </p:cNvSpPr>
          <p:nvPr/>
        </p:nvSpPr>
        <p:spPr>
          <a:xfrm>
            <a:off x="213360" y="690000"/>
            <a:ext cx="3837940" cy="370000"/>
          </a:xfrm>
          <a:prstGeom prst="rect">
            <a:avLst/>
          </a:prstGeom>
          <a:noFill/>
          <a:ln>
            <a:noFill/>
          </a:ln>
        </p:spPr>
        <p:txBody>
          <a:bodyPr wrap="square" lIns="45720" tIns="45720" rIns="45720" bIns="45720" anchor="ctr"/>
          <a:lstStyle/>
          <a:p>
            <a:pPr algn="l"/>
            <a:r>
              <a:rPr lang="en-US" sz="1400" b="1" i="0" dirty="0">
                <a:solidFill>
                  <a:srgbClr val="FFFFFF"/>
                </a:solidFill>
              </a:rPr>
              <a:t>Credit Risk</a:t>
            </a:r>
          </a:p>
        </p:txBody>
      </p:sp>
      <p:sp>
        <p:nvSpPr>
          <p:cNvPr id="14" name="Card0_eco_band"/>
          <p:cNvSpPr>
            <a:spLocks noGrp="1"/>
          </p:cNvSpPr>
          <p:nvPr/>
        </p:nvSpPr>
        <p:spPr>
          <a:xfrm>
            <a:off x="213360" y="1060000"/>
            <a:ext cx="3837940" cy="270000"/>
          </a:xfrm>
          <a:prstGeom prst="rect">
            <a:avLst/>
          </a:prstGeom>
          <a:solidFill>
            <a:srgbClr val="0B2B65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5" name="Card0_eco_lbl"/>
          <p:cNvSpPr txBox="1">
            <a:spLocks noGrp="1"/>
          </p:cNvSpPr>
          <p:nvPr/>
        </p:nvSpPr>
        <p:spPr>
          <a:xfrm>
            <a:off x="213360" y="1060000"/>
            <a:ext cx="3837940" cy="270000"/>
          </a:xfrm>
          <a:prstGeom prst="rect">
            <a:avLst/>
          </a:prstGeom>
          <a:noFill/>
          <a:ln>
            <a:noFill/>
          </a:ln>
        </p:spPr>
        <p:txBody>
          <a:bodyPr wrap="square" lIns="45720" tIns="45720" rIns="45720" bIns="45720" anchor="ctr"/>
          <a:lstStyle/>
          <a:p>
            <a:pPr algn="l"/>
            <a:r>
              <a:rPr lang="en-US" sz="1200" b="1" i="1" dirty="0">
                <a:solidFill>
                  <a:srgbClr val="FFFFFF"/>
                </a:solidFill>
              </a:rPr>
              <a:t>Economic Perspective</a:t>
            </a:r>
          </a:p>
        </p:txBody>
      </p:sp>
      <p:sp>
        <p:nvSpPr>
          <p:cNvPr id="16" name="Card0_eco_txt"/>
          <p:cNvSpPr txBox="1">
            <a:spLocks noGrp="1"/>
          </p:cNvSpPr>
          <p:nvPr/>
        </p:nvSpPr>
        <p:spPr>
          <a:xfrm>
            <a:off x="213360" y="1330000"/>
            <a:ext cx="3837940" cy="2300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91440" rIns="91440" bIns="45720" anchor="t"/>
          <a:lstStyle/>
          <a:p>
            <a:pPr marL="180000" indent="-180000">
              <a:spcBef>
                <a:spcPts val="100"/>
              </a:spcBef>
              <a:buFont typeface="Arial"/>
              <a:buChar char="•"/>
            </a:pPr>
            <a:r>
              <a:rPr lang="en-US" sz="1400" b="1" dirty="0">
                <a:solidFill>
                  <a:srgbClr val="222222"/>
                </a:solidFill>
              </a:rPr>
              <a:t>Merton-Vasicek single risk factor model with internally calibrated PD (Probability of Default), LGD (Loss Given Default), EAD (Exposure at Default) (long-run averages per EBA/GL/2017/16).</a:t>
            </a:r>
          </a:p>
          <a:p>
            <a:pPr marL="180000" indent="-180000">
              <a:spcBef>
                <a:spcPts val="160"/>
              </a:spcBef>
              <a:buFont typeface="Arial"/>
              <a:buChar char="•"/>
            </a:pPr>
            <a:r>
              <a:rPr lang="en-US" sz="1400" b="0" dirty="0">
                <a:solidFill>
                  <a:srgbClr val="222222"/>
                </a:solidFill>
              </a:rPr>
              <a:t>Scope includes </a:t>
            </a:r>
            <a:r>
              <a:rPr lang="en-US" sz="1400" b="1" dirty="0">
                <a:solidFill>
                  <a:srgbClr val="222222"/>
                </a:solidFill>
              </a:rPr>
              <a:t>concentration, FX lending, migration, ESG credit risk,</a:t>
            </a:r>
            <a:r>
              <a:rPr lang="en-US" sz="1400" b="0" dirty="0">
                <a:solidFill>
                  <a:srgbClr val="222222"/>
                </a:solidFill>
              </a:rPr>
              <a:t> equity participations, and investment funds (Art. 165 CRR2).</a:t>
            </a:r>
          </a:p>
        </p:txBody>
      </p:sp>
      <p:sp>
        <p:nvSpPr>
          <p:cNvPr id="17" name="Card0_div"/>
          <p:cNvSpPr>
            <a:spLocks noGrp="1"/>
          </p:cNvSpPr>
          <p:nvPr/>
        </p:nvSpPr>
        <p:spPr>
          <a:xfrm>
            <a:off x="213360" y="3630000"/>
            <a:ext cx="3837940" cy="12700"/>
          </a:xfrm>
          <a:prstGeom prst="rect">
            <a:avLst/>
          </a:prstGeom>
          <a:solidFill>
            <a:srgbClr val="C9D4E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8" name="Card0_norm_band"/>
          <p:cNvSpPr>
            <a:spLocks noGrp="1"/>
          </p:cNvSpPr>
          <p:nvPr/>
        </p:nvSpPr>
        <p:spPr>
          <a:xfrm>
            <a:off x="213360" y="3642700"/>
            <a:ext cx="3837940" cy="270000"/>
          </a:xfrm>
          <a:prstGeom prst="rect">
            <a:avLst/>
          </a:prstGeom>
          <a:solidFill>
            <a:srgbClr val="1A5187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9" name="Card0_norm_lbl"/>
          <p:cNvSpPr txBox="1">
            <a:spLocks noGrp="1"/>
          </p:cNvSpPr>
          <p:nvPr/>
        </p:nvSpPr>
        <p:spPr>
          <a:xfrm>
            <a:off x="213360" y="3642700"/>
            <a:ext cx="3837940" cy="270000"/>
          </a:xfrm>
          <a:prstGeom prst="rect">
            <a:avLst/>
          </a:prstGeom>
          <a:noFill/>
          <a:ln>
            <a:noFill/>
          </a:ln>
        </p:spPr>
        <p:txBody>
          <a:bodyPr wrap="square" lIns="45720" tIns="45720" rIns="45720" bIns="45720" anchor="ctr"/>
          <a:lstStyle/>
          <a:p>
            <a:pPr algn="l"/>
            <a:r>
              <a:rPr lang="en-US" sz="1200" b="1" i="1" dirty="0">
                <a:solidFill>
                  <a:srgbClr val="FFFFFF"/>
                </a:solidFill>
              </a:rPr>
              <a:t>Normative Perspective</a:t>
            </a:r>
          </a:p>
        </p:txBody>
      </p:sp>
      <p:sp>
        <p:nvSpPr>
          <p:cNvPr id="20" name="Card0_norm_txt"/>
          <p:cNvSpPr txBox="1">
            <a:spLocks noGrp="1"/>
          </p:cNvSpPr>
          <p:nvPr/>
        </p:nvSpPr>
        <p:spPr>
          <a:xfrm>
            <a:off x="213360" y="3912700"/>
            <a:ext cx="3837940" cy="2610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91440" rIns="91440" bIns="45720" anchor="t"/>
          <a:lstStyle/>
          <a:p>
            <a:pPr marL="180000" indent="-180000">
              <a:spcBef>
                <a:spcPts val="100"/>
              </a:spcBef>
              <a:buFont typeface="Arial"/>
              <a:buChar char="•"/>
            </a:pPr>
            <a:r>
              <a:rPr lang="en-US" sz="1400" b="1" dirty="0">
                <a:solidFill>
                  <a:srgbClr val="222222"/>
                </a:solidFill>
              </a:rPr>
              <a:t>SA (Standardised Approach), F-IRB (Foundation-IRB), A-IRB (Advanced-IRB) (ECB-approved); IRB retained for Corporates, CRE, Cash-Based Accounting (&gt;€1m), and Specialized Lending.</a:t>
            </a:r>
          </a:p>
          <a:p>
            <a:pPr marL="180000" indent="-180000">
              <a:spcBef>
                <a:spcPts val="160"/>
              </a:spcBef>
              <a:buFont typeface="Arial"/>
              <a:buChar char="•"/>
            </a:pPr>
            <a:r>
              <a:rPr lang="en-US" sz="1400" b="1" dirty="0">
                <a:solidFill>
                  <a:srgbClr val="222222"/>
                </a:solidFill>
              </a:rPr>
              <a:t>Credit losses: IFRS 9 ECL (Expected Credit Loss) across Stage 1 (performing), Stage 2 (credit-deteriorated), Stage 3 (defaulted).</a:t>
            </a:r>
          </a:p>
        </p:txBody>
      </p:sp>
      <p:sp>
        <p:nvSpPr>
          <p:cNvPr id="30" name="Card1_bg"/>
          <p:cNvSpPr>
            <a:spLocks noGrp="1"/>
          </p:cNvSpPr>
          <p:nvPr/>
        </p:nvSpPr>
        <p:spPr>
          <a:xfrm>
            <a:off x="4165600" y="690000"/>
            <a:ext cx="3860800" cy="5820000"/>
          </a:xfrm>
          <a:prstGeom prst="rect">
            <a:avLst/>
          </a:prstGeom>
          <a:solidFill>
            <a:srgbClr val="F8F9FB"/>
          </a:solidFill>
          <a:ln w="9525">
            <a:solidFill>
              <a:srgbClr val="D0D8E4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31" name="Card1_accent"/>
          <p:cNvSpPr>
            <a:spLocks noGrp="1"/>
          </p:cNvSpPr>
          <p:nvPr/>
        </p:nvSpPr>
        <p:spPr>
          <a:xfrm>
            <a:off x="4165600" y="690000"/>
            <a:ext cx="22860" cy="5820000"/>
          </a:xfrm>
          <a:prstGeom prst="rect">
            <a:avLst/>
          </a:prstGeom>
          <a:solidFill>
            <a:srgbClr val="1A5187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32" name="Card1_hdr_bg"/>
          <p:cNvSpPr>
            <a:spLocks noGrp="1"/>
          </p:cNvSpPr>
          <p:nvPr/>
        </p:nvSpPr>
        <p:spPr>
          <a:xfrm>
            <a:off x="4188460" y="690000"/>
            <a:ext cx="3837940" cy="370000"/>
          </a:xfrm>
          <a:prstGeom prst="rect">
            <a:avLst/>
          </a:prstGeom>
          <a:solidFill>
            <a:srgbClr val="1A5187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33" name="Card1_hdr_txt"/>
          <p:cNvSpPr txBox="1">
            <a:spLocks noGrp="1"/>
          </p:cNvSpPr>
          <p:nvPr/>
        </p:nvSpPr>
        <p:spPr>
          <a:xfrm>
            <a:off x="4188460" y="690000"/>
            <a:ext cx="3837940" cy="370000"/>
          </a:xfrm>
          <a:prstGeom prst="rect">
            <a:avLst/>
          </a:prstGeom>
          <a:noFill/>
          <a:ln>
            <a:noFill/>
          </a:ln>
        </p:spPr>
        <p:txBody>
          <a:bodyPr wrap="square" lIns="45720" tIns="45720" rIns="45720" bIns="45720" anchor="ctr"/>
          <a:lstStyle/>
          <a:p>
            <a:pPr algn="l"/>
            <a:r>
              <a:rPr lang="en-US" sz="1400" b="1" i="0" dirty="0">
                <a:solidFill>
                  <a:srgbClr val="FFFFFF"/>
                </a:solidFill>
              </a:rPr>
              <a:t>Market Risk</a:t>
            </a:r>
          </a:p>
        </p:txBody>
      </p:sp>
      <p:sp>
        <p:nvSpPr>
          <p:cNvPr id="34" name="Card1_eco_band"/>
          <p:cNvSpPr>
            <a:spLocks noGrp="1"/>
          </p:cNvSpPr>
          <p:nvPr/>
        </p:nvSpPr>
        <p:spPr>
          <a:xfrm>
            <a:off x="4188460" y="1060000"/>
            <a:ext cx="3837940" cy="270000"/>
          </a:xfrm>
          <a:prstGeom prst="rect">
            <a:avLst/>
          </a:prstGeom>
          <a:solidFill>
            <a:srgbClr val="0B2B65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35" name="Card1_eco_lbl"/>
          <p:cNvSpPr txBox="1">
            <a:spLocks noGrp="1"/>
          </p:cNvSpPr>
          <p:nvPr/>
        </p:nvSpPr>
        <p:spPr>
          <a:xfrm>
            <a:off x="4188460" y="1060000"/>
            <a:ext cx="3837940" cy="270000"/>
          </a:xfrm>
          <a:prstGeom prst="rect">
            <a:avLst/>
          </a:prstGeom>
          <a:noFill/>
          <a:ln>
            <a:noFill/>
          </a:ln>
        </p:spPr>
        <p:txBody>
          <a:bodyPr wrap="square" lIns="45720" tIns="45720" rIns="45720" bIns="45720" anchor="ctr"/>
          <a:lstStyle/>
          <a:p>
            <a:pPr algn="l"/>
            <a:r>
              <a:rPr lang="en-US" sz="1200" b="1" i="1" dirty="0">
                <a:solidFill>
                  <a:srgbClr val="FFFFFF"/>
                </a:solidFill>
              </a:rPr>
              <a:t>Economic Perspective</a:t>
            </a:r>
          </a:p>
        </p:txBody>
      </p:sp>
      <p:sp>
        <p:nvSpPr>
          <p:cNvPr id="36" name="Card1_eco_txt"/>
          <p:cNvSpPr txBox="1">
            <a:spLocks noGrp="1"/>
          </p:cNvSpPr>
          <p:nvPr/>
        </p:nvSpPr>
        <p:spPr>
          <a:xfrm>
            <a:off x="4188460" y="1330000"/>
            <a:ext cx="3837940" cy="2300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91440" rIns="91440" bIns="45720" anchor="t"/>
          <a:lstStyle/>
          <a:p>
            <a:pPr marL="180000" indent="-180000">
              <a:spcBef>
                <a:spcPts val="100"/>
              </a:spcBef>
              <a:buFont typeface="Arial"/>
              <a:buChar char="•"/>
            </a:pPr>
            <a:r>
              <a:rPr lang="en-US" sz="1400" b="1" dirty="0">
                <a:solidFill>
                  <a:srgbClr val="222222"/>
                </a:solidFill>
              </a:rPr>
              <a:t>No trading book. IRRBB (Interest Rate Risk in the Banking Book) &amp; credit spread risk: historical VaR (Value-at-Risk), full-valuation approach, generalised hyperbolic (ghyp) distributions on non-overlapping monthly loss scenarios.</a:t>
            </a:r>
          </a:p>
          <a:p>
            <a:pPr marL="180000" indent="-180000">
              <a:spcBef>
                <a:spcPts val="160"/>
              </a:spcBef>
              <a:buFont typeface="Arial"/>
              <a:buChar char="•"/>
            </a:pPr>
            <a:r>
              <a:rPr lang="en-US" sz="1400" b="1" dirty="0">
                <a:solidFill>
                  <a:srgbClr val="222222"/>
                </a:solidFill>
              </a:rPr>
              <a:t>Same VaR framework</a:t>
            </a:r>
            <a:r>
              <a:rPr lang="en-US" sz="1400" b="0" dirty="0">
                <a:solidFill>
                  <a:srgbClr val="222222"/>
                </a:solidFill>
              </a:rPr>
              <a:t> applied to funds risk, FX risk, and equity risk in the banking book.</a:t>
            </a:r>
          </a:p>
        </p:txBody>
      </p:sp>
      <p:sp>
        <p:nvSpPr>
          <p:cNvPr id="37" name="Card1_div"/>
          <p:cNvSpPr>
            <a:spLocks noGrp="1"/>
          </p:cNvSpPr>
          <p:nvPr/>
        </p:nvSpPr>
        <p:spPr>
          <a:xfrm>
            <a:off x="4188460" y="3630000"/>
            <a:ext cx="3837940" cy="12700"/>
          </a:xfrm>
          <a:prstGeom prst="rect">
            <a:avLst/>
          </a:prstGeom>
          <a:solidFill>
            <a:srgbClr val="C9D4E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38" name="Card1_norm_band"/>
          <p:cNvSpPr>
            <a:spLocks noGrp="1"/>
          </p:cNvSpPr>
          <p:nvPr/>
        </p:nvSpPr>
        <p:spPr>
          <a:xfrm>
            <a:off x="4188460" y="3642700"/>
            <a:ext cx="3837940" cy="270000"/>
          </a:xfrm>
          <a:prstGeom prst="rect">
            <a:avLst/>
          </a:prstGeom>
          <a:solidFill>
            <a:srgbClr val="1A5187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39" name="Card1_norm_lbl"/>
          <p:cNvSpPr txBox="1">
            <a:spLocks noGrp="1"/>
          </p:cNvSpPr>
          <p:nvPr/>
        </p:nvSpPr>
        <p:spPr>
          <a:xfrm>
            <a:off x="4188460" y="3642700"/>
            <a:ext cx="3837940" cy="270000"/>
          </a:xfrm>
          <a:prstGeom prst="rect">
            <a:avLst/>
          </a:prstGeom>
          <a:noFill/>
          <a:ln>
            <a:noFill/>
          </a:ln>
        </p:spPr>
        <p:txBody>
          <a:bodyPr wrap="square" lIns="45720" tIns="45720" rIns="45720" bIns="45720" anchor="ctr"/>
          <a:lstStyle/>
          <a:p>
            <a:pPr algn="l"/>
            <a:r>
              <a:rPr lang="en-US" sz="1200" b="1" i="1" dirty="0">
                <a:solidFill>
                  <a:srgbClr val="FFFFFF"/>
                </a:solidFill>
              </a:rPr>
              <a:t>Normative Perspective</a:t>
            </a:r>
          </a:p>
        </p:txBody>
      </p:sp>
      <p:sp>
        <p:nvSpPr>
          <p:cNvPr id="40" name="Card1_norm_txt"/>
          <p:cNvSpPr txBox="1">
            <a:spLocks noGrp="1"/>
          </p:cNvSpPr>
          <p:nvPr/>
        </p:nvSpPr>
        <p:spPr>
          <a:xfrm>
            <a:off x="4188460" y="3912700"/>
            <a:ext cx="3837940" cy="2610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91440" rIns="91440" bIns="45720" anchor="t"/>
          <a:lstStyle/>
          <a:p>
            <a:pPr marL="180000" indent="-180000">
              <a:spcBef>
                <a:spcPts val="100"/>
              </a:spcBef>
              <a:buFont typeface="Arial"/>
              <a:buChar char="•"/>
            </a:pPr>
            <a:r>
              <a:rPr lang="en-US" sz="1400" b="1" dirty="0">
                <a:solidFill>
                  <a:srgbClr val="222222"/>
                </a:solidFill>
              </a:rPr>
              <a:t>EVE (Economic Value of Equity; discounted cash flow, run-off balance sheet) and NII (Net Interest Income) (constant/dynamic balance sheet) with 1- and 3-year horizons; sensitivity via PVBP (Price Value of a Basis Point).</a:t>
            </a:r>
          </a:p>
          <a:p>
            <a:pPr marL="180000" indent="-180000">
              <a:spcBef>
                <a:spcPts val="160"/>
              </a:spcBef>
              <a:buFont typeface="Arial"/>
              <a:buChar char="•"/>
            </a:pPr>
            <a:r>
              <a:rPr lang="en-US" sz="1400" b="1" dirty="0">
                <a:solidFill>
                  <a:srgbClr val="222222"/>
                </a:solidFill>
              </a:rPr>
              <a:t>Six EBA interest rate shock scenarios</a:t>
            </a:r>
            <a:r>
              <a:rPr lang="en-US" sz="1400" b="0" dirty="0">
                <a:solidFill>
                  <a:srgbClr val="222222"/>
                </a:solidFill>
              </a:rPr>
              <a:t> (parallel up/down, steepener, flattener, short rates up/down) per EBA/RTS/2022/10.</a:t>
            </a:r>
          </a:p>
        </p:txBody>
      </p:sp>
      <p:sp>
        <p:nvSpPr>
          <p:cNvPr id="50" name="Card2_bg"/>
          <p:cNvSpPr>
            <a:spLocks noGrp="1"/>
          </p:cNvSpPr>
          <p:nvPr/>
        </p:nvSpPr>
        <p:spPr>
          <a:xfrm>
            <a:off x="8140700" y="690000"/>
            <a:ext cx="3860800" cy="5820000"/>
          </a:xfrm>
          <a:prstGeom prst="rect">
            <a:avLst/>
          </a:prstGeom>
          <a:solidFill>
            <a:srgbClr val="F8F9FB"/>
          </a:solidFill>
          <a:ln w="9525">
            <a:solidFill>
              <a:srgbClr val="D0D8E4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51" name="Card2_accent"/>
          <p:cNvSpPr>
            <a:spLocks noGrp="1"/>
          </p:cNvSpPr>
          <p:nvPr/>
        </p:nvSpPr>
        <p:spPr>
          <a:xfrm>
            <a:off x="8140700" y="690000"/>
            <a:ext cx="22860" cy="5820000"/>
          </a:xfrm>
          <a:prstGeom prst="rect">
            <a:avLst/>
          </a:prstGeom>
          <a:solidFill>
            <a:srgbClr val="1A5187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2" name="Card2_hdr_bg"/>
          <p:cNvSpPr>
            <a:spLocks noGrp="1"/>
          </p:cNvSpPr>
          <p:nvPr/>
        </p:nvSpPr>
        <p:spPr>
          <a:xfrm>
            <a:off x="8163560" y="690000"/>
            <a:ext cx="3837940" cy="370000"/>
          </a:xfrm>
          <a:prstGeom prst="rect">
            <a:avLst/>
          </a:prstGeom>
          <a:solidFill>
            <a:srgbClr val="1A5187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3" name="Card2_hdr_txt"/>
          <p:cNvSpPr txBox="1">
            <a:spLocks noGrp="1"/>
          </p:cNvSpPr>
          <p:nvPr/>
        </p:nvSpPr>
        <p:spPr>
          <a:xfrm>
            <a:off x="8163560" y="690000"/>
            <a:ext cx="3837940" cy="370000"/>
          </a:xfrm>
          <a:prstGeom prst="rect">
            <a:avLst/>
          </a:prstGeom>
          <a:noFill/>
          <a:ln>
            <a:noFill/>
          </a:ln>
        </p:spPr>
        <p:txBody>
          <a:bodyPr wrap="square" lIns="45720" tIns="45720" rIns="45720" bIns="45720" anchor="ctr"/>
          <a:lstStyle/>
          <a:p>
            <a:pPr algn="l"/>
            <a:r>
              <a:rPr lang="en-US" sz="1400" b="1" i="0" dirty="0">
                <a:solidFill>
                  <a:srgbClr val="FFFFFF"/>
                </a:solidFill>
              </a:rPr>
              <a:t>Liquidity Risk</a:t>
            </a:r>
          </a:p>
        </p:txBody>
      </p:sp>
      <p:sp>
        <p:nvSpPr>
          <p:cNvPr id="54" name="Card2_eco_band"/>
          <p:cNvSpPr>
            <a:spLocks noGrp="1"/>
          </p:cNvSpPr>
          <p:nvPr/>
        </p:nvSpPr>
        <p:spPr>
          <a:xfrm>
            <a:off x="8163560" y="1060000"/>
            <a:ext cx="3837940" cy="270000"/>
          </a:xfrm>
          <a:prstGeom prst="rect">
            <a:avLst/>
          </a:prstGeom>
          <a:solidFill>
            <a:srgbClr val="0B2B65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5" name="Card2_eco_lbl"/>
          <p:cNvSpPr txBox="1">
            <a:spLocks noGrp="1"/>
          </p:cNvSpPr>
          <p:nvPr/>
        </p:nvSpPr>
        <p:spPr>
          <a:xfrm>
            <a:off x="8163560" y="1060000"/>
            <a:ext cx="3837940" cy="270000"/>
          </a:xfrm>
          <a:prstGeom prst="rect">
            <a:avLst/>
          </a:prstGeom>
          <a:noFill/>
          <a:ln>
            <a:noFill/>
          </a:ln>
        </p:spPr>
        <p:txBody>
          <a:bodyPr wrap="square" lIns="45720" tIns="45720" rIns="45720" bIns="45720" anchor="ctr"/>
          <a:lstStyle/>
          <a:p>
            <a:pPr algn="l"/>
            <a:r>
              <a:rPr lang="en-US" sz="1200" b="1" i="1" dirty="0">
                <a:solidFill>
                  <a:srgbClr val="FFFFFF"/>
                </a:solidFill>
              </a:rPr>
              <a:t>Economic Perspective</a:t>
            </a:r>
          </a:p>
        </p:txBody>
      </p:sp>
      <p:sp>
        <p:nvSpPr>
          <p:cNvPr id="56" name="Card2_eco_txt"/>
          <p:cNvSpPr txBox="1">
            <a:spLocks noGrp="1"/>
          </p:cNvSpPr>
          <p:nvPr/>
        </p:nvSpPr>
        <p:spPr>
          <a:xfrm>
            <a:off x="8163560" y="1330000"/>
            <a:ext cx="3837940" cy="2300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91440" rIns="91440" bIns="45720" anchor="t"/>
          <a:lstStyle/>
          <a:p>
            <a:pPr marL="180000" indent="-180000">
              <a:spcBef>
                <a:spcPts val="100"/>
              </a:spcBef>
              <a:buFont typeface="Arial"/>
              <a:buChar char="•"/>
            </a:pPr>
            <a:r>
              <a:rPr lang="en-US" sz="1400" b="1" dirty="0">
                <a:solidFill>
                  <a:srgbClr val="222222"/>
                </a:solidFill>
              </a:rPr>
              <a:t>Structural liquidity risk</a:t>
            </a:r>
            <a:r>
              <a:rPr lang="en-US" sz="1400" b="0" dirty="0">
                <a:solidFill>
                  <a:srgbClr val="222222"/>
                </a:solidFill>
              </a:rPr>
              <a:t> via current liquidity gaps and potential funding cost deterioration; FX basis spread risk via </a:t>
            </a:r>
            <a:r>
              <a:rPr lang="en-US" sz="1400" b="1" dirty="0">
                <a:solidFill>
                  <a:srgbClr val="222222"/>
                </a:solidFill>
              </a:rPr>
              <a:t>PVBP.</a:t>
            </a:r>
          </a:p>
          <a:p>
            <a:pPr marL="180000" indent="-180000">
              <a:spcBef>
                <a:spcPts val="160"/>
              </a:spcBef>
              <a:buFont typeface="Arial"/>
              <a:buChar char="•"/>
            </a:pPr>
            <a:r>
              <a:rPr lang="en-US" sz="1400" b="1" dirty="0">
                <a:solidFill>
                  <a:srgbClr val="222222"/>
                </a:solidFill>
              </a:rPr>
              <a:t>Market liquidity risk</a:t>
            </a:r>
            <a:r>
              <a:rPr lang="en-US" sz="1400" b="0" dirty="0">
                <a:solidFill>
                  <a:srgbClr val="222222"/>
                </a:solidFill>
              </a:rPr>
              <a:t> quantified via historical worst-case VaR-equivalent models.</a:t>
            </a:r>
          </a:p>
        </p:txBody>
      </p:sp>
      <p:sp>
        <p:nvSpPr>
          <p:cNvPr id="57" name="Card2_div"/>
          <p:cNvSpPr>
            <a:spLocks noGrp="1"/>
          </p:cNvSpPr>
          <p:nvPr/>
        </p:nvSpPr>
        <p:spPr>
          <a:xfrm>
            <a:off x="8163560" y="3630000"/>
            <a:ext cx="3837940" cy="12700"/>
          </a:xfrm>
          <a:prstGeom prst="rect">
            <a:avLst/>
          </a:prstGeom>
          <a:solidFill>
            <a:srgbClr val="C9D4E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8" name="Card2_norm_band"/>
          <p:cNvSpPr>
            <a:spLocks noGrp="1"/>
          </p:cNvSpPr>
          <p:nvPr/>
        </p:nvSpPr>
        <p:spPr>
          <a:xfrm>
            <a:off x="8163560" y="3642700"/>
            <a:ext cx="3837940" cy="270000"/>
          </a:xfrm>
          <a:prstGeom prst="rect">
            <a:avLst/>
          </a:prstGeom>
          <a:solidFill>
            <a:srgbClr val="1A5187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9" name="Card2_norm_lbl"/>
          <p:cNvSpPr txBox="1">
            <a:spLocks noGrp="1"/>
          </p:cNvSpPr>
          <p:nvPr/>
        </p:nvSpPr>
        <p:spPr>
          <a:xfrm>
            <a:off x="8163560" y="3642700"/>
            <a:ext cx="3837940" cy="270000"/>
          </a:xfrm>
          <a:prstGeom prst="rect">
            <a:avLst/>
          </a:prstGeom>
          <a:noFill/>
          <a:ln>
            <a:noFill/>
          </a:ln>
        </p:spPr>
        <p:txBody>
          <a:bodyPr wrap="square" lIns="45720" tIns="45720" rIns="45720" bIns="45720" anchor="ctr"/>
          <a:lstStyle/>
          <a:p>
            <a:pPr algn="l"/>
            <a:r>
              <a:rPr lang="en-US" sz="1200" b="1" i="1" dirty="0">
                <a:solidFill>
                  <a:srgbClr val="FFFFFF"/>
                </a:solidFill>
              </a:rPr>
              <a:t>Normative Perspective</a:t>
            </a:r>
          </a:p>
        </p:txBody>
      </p:sp>
      <p:sp>
        <p:nvSpPr>
          <p:cNvPr id="60" name="Card2_norm_txt"/>
          <p:cNvSpPr txBox="1">
            <a:spLocks noGrp="1"/>
          </p:cNvSpPr>
          <p:nvPr/>
        </p:nvSpPr>
        <p:spPr>
          <a:xfrm>
            <a:off x="8163560" y="3912700"/>
            <a:ext cx="3837940" cy="2610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91440" rIns="91440" bIns="45720" anchor="t"/>
          <a:lstStyle/>
          <a:p>
            <a:pPr marL="180000" indent="-180000">
              <a:spcBef>
                <a:spcPts val="100"/>
              </a:spcBef>
              <a:buFont typeface="Arial"/>
              <a:buChar char="•"/>
            </a:pPr>
            <a:r>
              <a:rPr lang="en-US" sz="1400" b="1" dirty="0">
                <a:solidFill>
                  <a:srgbClr val="222222"/>
                </a:solidFill>
              </a:rPr>
              <a:t>LCR (Liquidity Coverage Ratio) 218% (HQLA (High-Quality Liquid Assets) €14.5bn, net outflows €6.7bn); NSFR (Net Stable Funding Ratio) 142%; internal FACE (Funding Adequacy for Committed Exposures) €9.93bn.</a:t>
            </a:r>
          </a:p>
          <a:p>
            <a:pPr marL="180000" indent="-180000">
              <a:spcBef>
                <a:spcPts val="160"/>
              </a:spcBef>
              <a:buFont typeface="Arial"/>
              <a:buChar char="•"/>
            </a:pPr>
            <a:r>
              <a:rPr lang="en-US" sz="1400" b="1" dirty="0">
                <a:solidFill>
                  <a:srgbClr val="222222"/>
                </a:solidFill>
              </a:rPr>
              <a:t>Stress scenarios:</a:t>
            </a:r>
            <a:r>
              <a:rPr lang="en-US" sz="1400" b="0" dirty="0">
                <a:solidFill>
                  <a:srgbClr val="222222"/>
                </a:solidFill>
              </a:rPr>
              <a:t> intraday, idiosyncratic, systemic, mixed, reverse, and ICAAP/ILAAP adverse.</a:t>
            </a:r>
          </a:p>
        </p:txBody>
      </p:sp>
      <p:sp>
        <p:nvSpPr>
          <p:cNvPr id="3" name="FtrT">
            <a:extLst>
              <a:ext uri="{FF2B5EF4-FFF2-40B4-BE49-F238E27FC236}">
                <a16:creationId xmlns:a16="http://schemas.microsoft.com/office/drawing/2014/main" id="{95CB50F1-F59D-7B59-5E9D-CA1EBE714D09}"/>
              </a:ext>
            </a:extLst>
          </p:cNvPr>
          <p:cNvSpPr txBox="1">
            <a:spLocks noGrp="1"/>
          </p:cNvSpPr>
          <p:nvPr/>
        </p:nvSpPr>
        <p:spPr>
          <a:xfrm>
            <a:off x="228600" y="6477000"/>
            <a:ext cx="11430000" cy="317500"/>
          </a:xfrm>
          <a:prstGeom prst="rect">
            <a:avLst/>
          </a:prstGeom>
          <a:noFill/>
          <a:ln>
            <a:noFill/>
          </a:ln>
        </p:spPr>
        <p:txBody>
          <a:bodyPr wrap="square" anchor="ctr"/>
          <a:lstStyle/>
          <a:p>
            <a:r>
              <a:rPr lang="en-US" sz="1000" dirty="0"/>
              <a:t>Q5 Answer - Measurement Approaches  |  Source: BAWAG Pillar 3 Qualitative Report 2025 (ICAAP)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b="1" dirty="0"/>
              <a:t>Measurement Approaches to Quantify Risk</a:t>
            </a:r>
          </a:p>
        </p:txBody>
      </p:sp>
      <p:sp>
        <p:nvSpPr>
          <p:cNvPr id="10" name="Card0_bg"/>
          <p:cNvSpPr>
            <a:spLocks noGrp="1"/>
          </p:cNvSpPr>
          <p:nvPr/>
        </p:nvSpPr>
        <p:spPr>
          <a:xfrm>
            <a:off x="190500" y="690001"/>
            <a:ext cx="3860800" cy="4899228"/>
          </a:xfrm>
          <a:prstGeom prst="rect">
            <a:avLst/>
          </a:prstGeom>
          <a:solidFill>
            <a:srgbClr val="F8F9FB"/>
          </a:solidFill>
          <a:ln w="9525">
            <a:solidFill>
              <a:srgbClr val="D0D8E4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1" name="Card0_accent"/>
          <p:cNvSpPr>
            <a:spLocks noGrp="1"/>
          </p:cNvSpPr>
          <p:nvPr/>
        </p:nvSpPr>
        <p:spPr>
          <a:xfrm>
            <a:off x="190500" y="690001"/>
            <a:ext cx="22860" cy="4899228"/>
          </a:xfrm>
          <a:prstGeom prst="rect">
            <a:avLst/>
          </a:prstGeom>
          <a:solidFill>
            <a:srgbClr val="1A5187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2" name="Card0_hdr_bg"/>
          <p:cNvSpPr>
            <a:spLocks noGrp="1"/>
          </p:cNvSpPr>
          <p:nvPr/>
        </p:nvSpPr>
        <p:spPr>
          <a:xfrm>
            <a:off x="213360" y="690000"/>
            <a:ext cx="3837940" cy="311463"/>
          </a:xfrm>
          <a:prstGeom prst="rect">
            <a:avLst/>
          </a:prstGeom>
          <a:solidFill>
            <a:srgbClr val="1A5187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3" name="Card0_hdr_txt"/>
          <p:cNvSpPr txBox="1">
            <a:spLocks noGrp="1"/>
          </p:cNvSpPr>
          <p:nvPr/>
        </p:nvSpPr>
        <p:spPr>
          <a:xfrm>
            <a:off x="213360" y="690000"/>
            <a:ext cx="3837940" cy="311463"/>
          </a:xfrm>
          <a:prstGeom prst="rect">
            <a:avLst/>
          </a:prstGeom>
          <a:noFill/>
          <a:ln>
            <a:noFill/>
          </a:ln>
        </p:spPr>
        <p:txBody>
          <a:bodyPr wrap="square" lIns="45720" tIns="45720" rIns="45720" bIns="45720" anchor="ctr"/>
          <a:lstStyle/>
          <a:p>
            <a:pPr algn="l"/>
            <a:r>
              <a:rPr lang="en-US" sz="1400" b="1" i="0" dirty="0">
                <a:solidFill>
                  <a:srgbClr val="FFFFFF"/>
                </a:solidFill>
              </a:rPr>
              <a:t>Operational / Non-Financial Risk</a:t>
            </a:r>
          </a:p>
        </p:txBody>
      </p:sp>
      <p:sp>
        <p:nvSpPr>
          <p:cNvPr id="14" name="Card0_txt"/>
          <p:cNvSpPr txBox="1">
            <a:spLocks noGrp="1"/>
          </p:cNvSpPr>
          <p:nvPr/>
        </p:nvSpPr>
        <p:spPr>
          <a:xfrm>
            <a:off x="213360" y="1060000"/>
            <a:ext cx="3837940" cy="4587765"/>
          </a:xfrm>
          <a:prstGeom prst="rect">
            <a:avLst/>
          </a:prstGeom>
          <a:noFill/>
          <a:ln>
            <a:noFill/>
          </a:ln>
        </p:spPr>
        <p:txBody>
          <a:bodyPr wrap="square" lIns="91440" tIns="91440" rIns="91440" bIns="45720" anchor="t"/>
          <a:lstStyle/>
          <a:p>
            <a:pPr marL="180000" indent="-180000">
              <a:spcBef>
                <a:spcPts val="100"/>
              </a:spcBef>
              <a:buFont typeface="Arial"/>
              <a:buChar char="•"/>
            </a:pPr>
            <a:r>
              <a:rPr lang="en-US" sz="1400" b="1" dirty="0">
                <a:solidFill>
                  <a:srgbClr val="222222"/>
                </a:solidFill>
              </a:rPr>
              <a:t>SMA (Standardised Measurement Approach, Basel IV) applied consistently for both economic capital and regulatory own funds.</a:t>
            </a:r>
          </a:p>
          <a:p>
            <a:pPr marL="180000" indent="-180000">
              <a:spcBef>
                <a:spcPts val="160"/>
              </a:spcBef>
              <a:buFont typeface="Arial"/>
              <a:buChar char="•"/>
            </a:pPr>
            <a:r>
              <a:rPr lang="en-US" sz="1400" b="1" dirty="0">
                <a:solidFill>
                  <a:srgbClr val="222222"/>
                </a:solidFill>
              </a:rPr>
              <a:t>Loss data captured continuously; annual RCSA (Risk and Control Self-Assessment) per business unit.</a:t>
            </a:r>
          </a:p>
          <a:p>
            <a:pPr marL="180000" indent="-180000">
              <a:spcBef>
                <a:spcPts val="160"/>
              </a:spcBef>
              <a:buFont typeface="Arial"/>
              <a:buChar char="•"/>
            </a:pPr>
            <a:r>
              <a:rPr lang="en-US" sz="1400" b="1" dirty="0">
                <a:solidFill>
                  <a:srgbClr val="222222"/>
                </a:solidFill>
              </a:rPr>
              <a:t>KRIs (Key Risk Indicators) monitored via traffic-light system (green/yellow/red) at strategic, tactical, and operational levels.</a:t>
            </a:r>
          </a:p>
          <a:p>
            <a:pPr marL="180000" indent="-180000">
              <a:spcBef>
                <a:spcPts val="160"/>
              </a:spcBef>
              <a:buFont typeface="Arial"/>
              <a:buChar char="•"/>
            </a:pPr>
            <a:r>
              <a:rPr lang="en-US" sz="1400" b="1" dirty="0">
                <a:solidFill>
                  <a:srgbClr val="222222"/>
                </a:solidFill>
              </a:rPr>
              <a:t>Stress parameters:</a:t>
            </a:r>
            <a:r>
              <a:rPr lang="en-US" sz="1400" b="0" dirty="0">
                <a:solidFill>
                  <a:srgbClr val="222222"/>
                </a:solidFill>
              </a:rPr>
              <a:t> expert-based estimates derived from macroeconomic stress scenarios.</a:t>
            </a:r>
          </a:p>
        </p:txBody>
      </p:sp>
      <p:sp>
        <p:nvSpPr>
          <p:cNvPr id="30" name="Card1_bg"/>
          <p:cNvSpPr>
            <a:spLocks noGrp="1"/>
          </p:cNvSpPr>
          <p:nvPr/>
        </p:nvSpPr>
        <p:spPr>
          <a:xfrm>
            <a:off x="4165600" y="690001"/>
            <a:ext cx="3860800" cy="4899228"/>
          </a:xfrm>
          <a:prstGeom prst="rect">
            <a:avLst/>
          </a:prstGeom>
          <a:solidFill>
            <a:srgbClr val="F8F9FB"/>
          </a:solidFill>
          <a:ln w="9525">
            <a:solidFill>
              <a:srgbClr val="D0D8E4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31" name="Card1_accent"/>
          <p:cNvSpPr>
            <a:spLocks noGrp="1"/>
          </p:cNvSpPr>
          <p:nvPr/>
        </p:nvSpPr>
        <p:spPr>
          <a:xfrm>
            <a:off x="4165600" y="690001"/>
            <a:ext cx="22860" cy="4899228"/>
          </a:xfrm>
          <a:prstGeom prst="rect">
            <a:avLst/>
          </a:prstGeom>
          <a:solidFill>
            <a:srgbClr val="1A5187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32" name="Card1_hdr_bg"/>
          <p:cNvSpPr>
            <a:spLocks noGrp="1"/>
          </p:cNvSpPr>
          <p:nvPr/>
        </p:nvSpPr>
        <p:spPr>
          <a:xfrm>
            <a:off x="4188460" y="690000"/>
            <a:ext cx="3837940" cy="346685"/>
          </a:xfrm>
          <a:prstGeom prst="rect">
            <a:avLst/>
          </a:prstGeom>
          <a:solidFill>
            <a:srgbClr val="1A5187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33" name="Card1_hdr_txt"/>
          <p:cNvSpPr txBox="1">
            <a:spLocks noGrp="1"/>
          </p:cNvSpPr>
          <p:nvPr/>
        </p:nvSpPr>
        <p:spPr>
          <a:xfrm>
            <a:off x="4188460" y="690000"/>
            <a:ext cx="3837940" cy="346685"/>
          </a:xfrm>
          <a:prstGeom prst="rect">
            <a:avLst/>
          </a:prstGeom>
          <a:noFill/>
          <a:ln>
            <a:noFill/>
          </a:ln>
        </p:spPr>
        <p:txBody>
          <a:bodyPr wrap="square" lIns="45720" tIns="45720" rIns="45720" bIns="45720" anchor="ctr"/>
          <a:lstStyle/>
          <a:p>
            <a:pPr algn="l"/>
            <a:r>
              <a:rPr lang="en-US" sz="1400" b="1" i="0" dirty="0">
                <a:solidFill>
                  <a:srgbClr val="FFFFFF"/>
                </a:solidFill>
              </a:rPr>
              <a:t>ESG Risk</a:t>
            </a:r>
          </a:p>
        </p:txBody>
      </p:sp>
      <p:sp>
        <p:nvSpPr>
          <p:cNvPr id="34" name="Card1_txt"/>
          <p:cNvSpPr txBox="1">
            <a:spLocks noGrp="1"/>
          </p:cNvSpPr>
          <p:nvPr/>
        </p:nvSpPr>
        <p:spPr>
          <a:xfrm>
            <a:off x="4188460" y="1060000"/>
            <a:ext cx="3837940" cy="4587765"/>
          </a:xfrm>
          <a:prstGeom prst="rect">
            <a:avLst/>
          </a:prstGeom>
          <a:noFill/>
          <a:ln>
            <a:noFill/>
          </a:ln>
        </p:spPr>
        <p:txBody>
          <a:bodyPr wrap="square" lIns="91440" tIns="91440" rIns="91440" bIns="45720" anchor="t"/>
          <a:lstStyle/>
          <a:p>
            <a:pPr marL="180000" indent="-180000">
              <a:spcBef>
                <a:spcPts val="100"/>
              </a:spcBef>
              <a:buFont typeface="Arial"/>
              <a:buChar char="•"/>
            </a:pPr>
            <a:r>
              <a:rPr lang="en-US" sz="1400" b="1" dirty="0">
                <a:solidFill>
                  <a:srgbClr val="222222"/>
                </a:solidFill>
              </a:rPr>
              <a:t>Embedded</a:t>
            </a:r>
            <a:r>
              <a:rPr lang="en-US" sz="1400" b="0" dirty="0">
                <a:solidFill>
                  <a:srgbClr val="222222"/>
                </a:solidFill>
              </a:rPr>
              <a:t> within credit, market, liquidity, and operational risk - not a standalone category.</a:t>
            </a:r>
          </a:p>
          <a:p>
            <a:pPr marL="180000" indent="-180000">
              <a:spcBef>
                <a:spcPts val="160"/>
              </a:spcBef>
              <a:buFont typeface="Arial"/>
              <a:buChar char="•"/>
            </a:pPr>
            <a:r>
              <a:rPr lang="en-US" sz="1400" b="1" dirty="0">
                <a:solidFill>
                  <a:srgbClr val="222222"/>
                </a:solidFill>
              </a:rPr>
              <a:t>Capital buffer</a:t>
            </a:r>
            <a:r>
              <a:rPr lang="en-US" sz="1400" b="0" dirty="0">
                <a:solidFill>
                  <a:srgbClr val="222222"/>
                </a:solidFill>
              </a:rPr>
              <a:t> derived per risk category via expert model; physical and transition risks both covered.</a:t>
            </a:r>
          </a:p>
          <a:p>
            <a:pPr marL="180000" indent="-180000">
              <a:spcBef>
                <a:spcPts val="160"/>
              </a:spcBef>
              <a:buFont typeface="Arial"/>
              <a:buChar char="•"/>
            </a:pPr>
            <a:r>
              <a:rPr lang="en-US" sz="1400" b="1" dirty="0">
                <a:solidFill>
                  <a:srgbClr val="222222"/>
                </a:solidFill>
              </a:rPr>
              <a:t>Climate stress tests</a:t>
            </a:r>
            <a:r>
              <a:rPr lang="en-US" sz="1400" b="0" dirty="0">
                <a:solidFill>
                  <a:srgbClr val="222222"/>
                </a:solidFill>
              </a:rPr>
              <a:t> run quarterly within ICAAP; climate disasters as liquidity stress triggers.</a:t>
            </a:r>
          </a:p>
          <a:p>
            <a:pPr marL="180000" indent="-180000">
              <a:spcBef>
                <a:spcPts val="160"/>
              </a:spcBef>
              <a:buFont typeface="Arial"/>
              <a:buChar char="•"/>
            </a:pPr>
            <a:r>
              <a:rPr lang="en-US" sz="1400" b="1" dirty="0">
                <a:solidFill>
                  <a:srgbClr val="222222"/>
                </a:solidFill>
              </a:rPr>
              <a:t>Residential RE</a:t>
            </a:r>
            <a:r>
              <a:rPr lang="en-US" sz="1400" b="0" dirty="0">
                <a:solidFill>
                  <a:srgbClr val="222222"/>
                </a:solidFill>
              </a:rPr>
              <a:t> in high-physical-risk areas: limit &lt;20%, actual 13.0%.</a:t>
            </a:r>
          </a:p>
        </p:txBody>
      </p:sp>
      <p:sp>
        <p:nvSpPr>
          <p:cNvPr id="50" name="Card2_bg"/>
          <p:cNvSpPr>
            <a:spLocks noGrp="1"/>
          </p:cNvSpPr>
          <p:nvPr/>
        </p:nvSpPr>
        <p:spPr>
          <a:xfrm>
            <a:off x="8140700" y="690001"/>
            <a:ext cx="3860800" cy="4899228"/>
          </a:xfrm>
          <a:prstGeom prst="rect">
            <a:avLst/>
          </a:prstGeom>
          <a:solidFill>
            <a:srgbClr val="F8F9FB"/>
          </a:solidFill>
          <a:ln w="9525">
            <a:solidFill>
              <a:srgbClr val="D0D8E4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51" name="Card2_accent"/>
          <p:cNvSpPr>
            <a:spLocks noGrp="1"/>
          </p:cNvSpPr>
          <p:nvPr/>
        </p:nvSpPr>
        <p:spPr>
          <a:xfrm>
            <a:off x="8140700" y="690001"/>
            <a:ext cx="22860" cy="4899228"/>
          </a:xfrm>
          <a:prstGeom prst="rect">
            <a:avLst/>
          </a:prstGeom>
          <a:solidFill>
            <a:srgbClr val="1A5187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2" name="Card2_hdr_bg"/>
          <p:cNvSpPr>
            <a:spLocks noGrp="1"/>
          </p:cNvSpPr>
          <p:nvPr/>
        </p:nvSpPr>
        <p:spPr>
          <a:xfrm>
            <a:off x="8163560" y="690000"/>
            <a:ext cx="3837940" cy="311463"/>
          </a:xfrm>
          <a:prstGeom prst="rect">
            <a:avLst/>
          </a:prstGeom>
          <a:solidFill>
            <a:srgbClr val="1A5187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3" name="Card2_hdr_txt"/>
          <p:cNvSpPr txBox="1">
            <a:spLocks noGrp="1"/>
          </p:cNvSpPr>
          <p:nvPr/>
        </p:nvSpPr>
        <p:spPr>
          <a:xfrm>
            <a:off x="8163560" y="690000"/>
            <a:ext cx="3837940" cy="311463"/>
          </a:xfrm>
          <a:prstGeom prst="rect">
            <a:avLst/>
          </a:prstGeom>
          <a:noFill/>
          <a:ln>
            <a:noFill/>
          </a:ln>
        </p:spPr>
        <p:txBody>
          <a:bodyPr wrap="square" lIns="45720" tIns="45720" rIns="45720" bIns="45720" anchor="ctr"/>
          <a:lstStyle/>
          <a:p>
            <a:pPr algn="l"/>
            <a:r>
              <a:rPr lang="en-US" sz="1400" b="1" i="0" dirty="0">
                <a:solidFill>
                  <a:srgbClr val="FFFFFF"/>
                </a:solidFill>
              </a:rPr>
              <a:t>Other Risk Categories</a:t>
            </a:r>
          </a:p>
        </p:txBody>
      </p:sp>
      <p:sp>
        <p:nvSpPr>
          <p:cNvPr id="54" name="Card2_txt"/>
          <p:cNvSpPr txBox="1">
            <a:spLocks noGrp="1"/>
          </p:cNvSpPr>
          <p:nvPr/>
        </p:nvSpPr>
        <p:spPr>
          <a:xfrm>
            <a:off x="8163560" y="1060000"/>
            <a:ext cx="3837940" cy="4587765"/>
          </a:xfrm>
          <a:prstGeom prst="rect">
            <a:avLst/>
          </a:prstGeom>
          <a:noFill/>
          <a:ln>
            <a:noFill/>
          </a:ln>
        </p:spPr>
        <p:txBody>
          <a:bodyPr wrap="square" lIns="91440" tIns="91440" rIns="91440" bIns="45720" anchor="t"/>
          <a:lstStyle/>
          <a:p>
            <a:pPr marL="180000" indent="-180000">
              <a:spcBef>
                <a:spcPts val="100"/>
              </a:spcBef>
              <a:buFont typeface="Arial"/>
              <a:buChar char="•"/>
            </a:pPr>
            <a:r>
              <a:rPr lang="en-US" sz="1400" b="1" dirty="0">
                <a:solidFill>
                  <a:srgbClr val="222222"/>
                </a:solidFill>
              </a:rPr>
              <a:t>Real estate:</a:t>
            </a:r>
            <a:r>
              <a:rPr lang="en-US" sz="1400" b="0" dirty="0">
                <a:solidFill>
                  <a:srgbClr val="222222"/>
                </a:solidFill>
              </a:rPr>
              <a:t> simplified </a:t>
            </a:r>
            <a:r>
              <a:rPr lang="en-US" sz="1400" b="0" dirty="0" err="1">
                <a:solidFill>
                  <a:srgbClr val="222222"/>
                </a:solidFill>
              </a:rPr>
              <a:t>VaR</a:t>
            </a:r>
            <a:r>
              <a:rPr lang="en-US" sz="1400" b="0" dirty="0">
                <a:solidFill>
                  <a:srgbClr val="222222"/>
                </a:solidFill>
              </a:rPr>
              <a:t> - 1-year horizon, 99.9% confidence.</a:t>
            </a:r>
          </a:p>
          <a:p>
            <a:pPr marL="180000" indent="-180000">
              <a:spcBef>
                <a:spcPts val="160"/>
              </a:spcBef>
              <a:buFont typeface="Arial"/>
              <a:buChar char="•"/>
            </a:pPr>
            <a:r>
              <a:rPr lang="en-US" sz="1400" b="1" dirty="0">
                <a:solidFill>
                  <a:srgbClr val="222222"/>
                </a:solidFill>
              </a:rPr>
              <a:t>Pension:</a:t>
            </a:r>
            <a:r>
              <a:rPr lang="en-US" sz="1400" b="0" dirty="0">
                <a:solidFill>
                  <a:srgbClr val="222222"/>
                </a:solidFill>
              </a:rPr>
              <a:t> expert-judgment method supported by historical observations.</a:t>
            </a:r>
          </a:p>
          <a:p>
            <a:pPr marL="180000" indent="-180000">
              <a:spcBef>
                <a:spcPts val="160"/>
              </a:spcBef>
              <a:buFont typeface="Arial"/>
              <a:buChar char="•"/>
            </a:pPr>
            <a:r>
              <a:rPr lang="en-US" sz="1400" b="1" dirty="0">
                <a:solidFill>
                  <a:srgbClr val="222222"/>
                </a:solidFill>
              </a:rPr>
              <a:t>Concentration:</a:t>
            </a:r>
            <a:r>
              <a:rPr lang="en-US" sz="1400" b="0" dirty="0">
                <a:solidFill>
                  <a:srgbClr val="222222"/>
                </a:solidFill>
              </a:rPr>
              <a:t> economic capital basis; country, industry &amp; FX limits within 4-level hierarchy.</a:t>
            </a:r>
          </a:p>
          <a:p>
            <a:pPr marL="180000" indent="-180000">
              <a:spcBef>
                <a:spcPts val="160"/>
              </a:spcBef>
              <a:buFont typeface="Arial"/>
              <a:buChar char="•"/>
            </a:pPr>
            <a:r>
              <a:rPr lang="en-US" sz="1400" b="1" dirty="0">
                <a:solidFill>
                  <a:srgbClr val="222222"/>
                </a:solidFill>
              </a:rPr>
              <a:t>CCR (Counterparty Credit Risk): SA-CCR (Standardised Approach–CCR; RC + PFE (Potential Future Exposure) × 1.4 alpha); CVA (Credit Valuation Adjustment) via Reduced Basic Approach (Art. 384(3) CRR).</a:t>
            </a:r>
          </a:p>
        </p:txBody>
      </p:sp>
      <p:sp>
        <p:nvSpPr>
          <p:cNvPr id="80" name="Footer"/>
          <p:cNvSpPr txBox="1"/>
          <p:nvPr/>
        </p:nvSpPr>
        <p:spPr>
          <a:xfrm>
            <a:off x="190500" y="5741536"/>
            <a:ext cx="11811000" cy="690708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hu-HU"/>
            </a:defPPr>
            <a:lvl1pPr algn="ctr">
              <a:defRPr sz="1600" b="1"/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r>
              <a:rPr lang="en-US" dirty="0">
                <a:solidFill>
                  <a:schemeClr val="accent6"/>
                </a:solidFill>
              </a:rPr>
              <a:t>BAWAG uses economically sophisticated but proportionate models. The Merton-Vasicek credit model and Pillar 2 IRRBB approach go beyond regulatory minima. SMA op risk (€4.16bn RWA) far exceeds actual losses (€2m FY2025) - conservative by design, not by internal risk assessment.</a:t>
            </a:r>
          </a:p>
        </p:txBody>
      </p:sp>
      <p:sp>
        <p:nvSpPr>
          <p:cNvPr id="3" name="FtrT">
            <a:extLst>
              <a:ext uri="{FF2B5EF4-FFF2-40B4-BE49-F238E27FC236}">
                <a16:creationId xmlns:a16="http://schemas.microsoft.com/office/drawing/2014/main" id="{3E022162-C239-7261-2787-5CE0ED39FA90}"/>
              </a:ext>
            </a:extLst>
          </p:cNvPr>
          <p:cNvSpPr txBox="1">
            <a:spLocks noGrp="1"/>
          </p:cNvSpPr>
          <p:nvPr/>
        </p:nvSpPr>
        <p:spPr>
          <a:xfrm>
            <a:off x="228600" y="6477000"/>
            <a:ext cx="11430000" cy="317500"/>
          </a:xfrm>
          <a:prstGeom prst="rect">
            <a:avLst/>
          </a:prstGeom>
          <a:noFill/>
          <a:ln>
            <a:noFill/>
          </a:ln>
        </p:spPr>
        <p:txBody>
          <a:bodyPr wrap="square" anchor="ctr"/>
          <a:lstStyle/>
          <a:p>
            <a:r>
              <a:rPr lang="en-US" sz="1000" dirty="0"/>
              <a:t>Source: BAWAG Pillar 3 Qualitative Report 2025 (ICAAP)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29A53FC-CD1D-A350-FBA7-D02F728DD6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0263C0E1-1E41-24D5-3C84-CA5FBFFD73A2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D9D9D9">
              <a:alpha val="6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000EABE-D121-9FFB-12ED-12D0E154FCB4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A3DF632E-4375-7CB2-4C96-42BA36199FD9}"/>
              </a:ext>
            </a:extLst>
          </p:cNvPr>
          <p:cNvSpPr/>
          <p:nvPr/>
        </p:nvSpPr>
        <p:spPr>
          <a:xfrm>
            <a:off x="0" y="3962400"/>
            <a:ext cx="10639425" cy="1257300"/>
          </a:xfrm>
          <a:prstGeom prst="rect">
            <a:avLst/>
          </a:prstGeom>
          <a:solidFill>
            <a:srgbClr val="0B2A65"/>
          </a:solidFill>
          <a:ln w="285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b="1" dirty="0"/>
              <a:t>Confidence Level &amp; Measurement Approaches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956E0CE1-9EB4-CEBC-9854-C52CD8329997}"/>
              </a:ext>
            </a:extLst>
          </p:cNvPr>
          <p:cNvSpPr/>
          <p:nvPr/>
        </p:nvSpPr>
        <p:spPr>
          <a:xfrm>
            <a:off x="9721850" y="3333750"/>
            <a:ext cx="1552575" cy="1257300"/>
          </a:xfrm>
          <a:prstGeom prst="rect">
            <a:avLst/>
          </a:prstGeom>
          <a:ln w="28575">
            <a:solidFill>
              <a:schemeClr val="bg1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b="1" dirty="0"/>
              <a:t>3.</a:t>
            </a:r>
          </a:p>
        </p:txBody>
      </p:sp>
    </p:spTree>
    <p:extLst>
      <p:ext uri="{BB962C8B-B14F-4D97-AF65-F5344CB8AC3E}">
        <p14:creationId xmlns:p14="http://schemas.microsoft.com/office/powerpoint/2010/main" val="163322448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8F3EA2-E2AD-73AC-1B3D-951F19549D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DD372FBC-5306-B534-641A-6E74179E83BA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b="1" dirty="0"/>
              <a:t>Capital Adequacy &amp; ICAAP Framework</a:t>
            </a:r>
          </a:p>
        </p:txBody>
      </p:sp>
      <p:sp>
        <p:nvSpPr>
          <p:cNvPr id="68" name="CHdr">
            <a:extLst>
              <a:ext uri="{FF2B5EF4-FFF2-40B4-BE49-F238E27FC236}">
                <a16:creationId xmlns:a16="http://schemas.microsoft.com/office/drawing/2014/main" id="{55EDB51A-41B8-DD25-E426-055A3917EAFE}"/>
              </a:ext>
            </a:extLst>
          </p:cNvPr>
          <p:cNvSpPr>
            <a:spLocks noGrp="1"/>
          </p:cNvSpPr>
          <p:nvPr/>
        </p:nvSpPr>
        <p:spPr>
          <a:xfrm>
            <a:off x="190500" y="736600"/>
            <a:ext cx="3810000" cy="355600"/>
          </a:xfrm>
          <a:prstGeom prst="rect">
            <a:avLst/>
          </a:prstGeom>
          <a:solidFill>
            <a:srgbClr val="0B2B65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85" name="MHdr">
            <a:extLst>
              <a:ext uri="{FF2B5EF4-FFF2-40B4-BE49-F238E27FC236}">
                <a16:creationId xmlns:a16="http://schemas.microsoft.com/office/drawing/2014/main" id="{074BE85D-69AD-7FBB-D990-3BAD5113E75E}"/>
              </a:ext>
            </a:extLst>
          </p:cNvPr>
          <p:cNvSpPr>
            <a:spLocks noGrp="1"/>
          </p:cNvSpPr>
          <p:nvPr/>
        </p:nvSpPr>
        <p:spPr>
          <a:xfrm>
            <a:off x="4127500" y="736600"/>
            <a:ext cx="3746500" cy="355600"/>
          </a:xfrm>
          <a:prstGeom prst="rect">
            <a:avLst/>
          </a:prstGeom>
          <a:solidFill>
            <a:srgbClr val="0B2B65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86" name="MHdrT">
            <a:extLst>
              <a:ext uri="{FF2B5EF4-FFF2-40B4-BE49-F238E27FC236}">
                <a16:creationId xmlns:a16="http://schemas.microsoft.com/office/drawing/2014/main" id="{4D9DC2B5-AAD3-5224-DC73-00E561E6E8FD}"/>
              </a:ext>
            </a:extLst>
          </p:cNvPr>
          <p:cNvSpPr txBox="1">
            <a:spLocks noGrp="1"/>
          </p:cNvSpPr>
          <p:nvPr/>
        </p:nvSpPr>
        <p:spPr>
          <a:xfrm>
            <a:off x="4127500" y="736600"/>
            <a:ext cx="3746500" cy="355600"/>
          </a:xfrm>
          <a:prstGeom prst="rect">
            <a:avLst/>
          </a:prstGeom>
          <a:noFill/>
          <a:ln>
            <a:noFill/>
          </a:ln>
        </p:spPr>
        <p:txBody>
          <a:bodyPr wrap="square" anchor="ctr"/>
          <a:lstStyle/>
          <a:p>
            <a:pPr algn="ctr"/>
            <a:r>
              <a:rPr lang="en-US" sz="1400" b="1" dirty="0">
                <a:solidFill>
                  <a:srgbClr val="FFFFFF"/>
                </a:solidFill>
              </a:rPr>
              <a:t>Capital &amp; Liquidity Metrics</a:t>
            </a:r>
          </a:p>
        </p:txBody>
      </p:sp>
      <p:sp>
        <p:nvSpPr>
          <p:cNvPr id="87" name="CM bg 0">
            <a:extLst>
              <a:ext uri="{FF2B5EF4-FFF2-40B4-BE49-F238E27FC236}">
                <a16:creationId xmlns:a16="http://schemas.microsoft.com/office/drawing/2014/main" id="{616E161D-6464-729A-96A1-0558141CD20E}"/>
              </a:ext>
            </a:extLst>
          </p:cNvPr>
          <p:cNvSpPr>
            <a:spLocks noGrp="1"/>
          </p:cNvSpPr>
          <p:nvPr/>
        </p:nvSpPr>
        <p:spPr>
          <a:xfrm>
            <a:off x="4127500" y="1143000"/>
            <a:ext cx="3746500" cy="431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88" name="CM lbl 0">
            <a:extLst>
              <a:ext uri="{FF2B5EF4-FFF2-40B4-BE49-F238E27FC236}">
                <a16:creationId xmlns:a16="http://schemas.microsoft.com/office/drawing/2014/main" id="{A81558A9-7763-2E5A-3130-694B9C6DA8D6}"/>
              </a:ext>
            </a:extLst>
          </p:cNvPr>
          <p:cNvSpPr txBox="1">
            <a:spLocks noGrp="1"/>
          </p:cNvSpPr>
          <p:nvPr/>
        </p:nvSpPr>
        <p:spPr>
          <a:xfrm>
            <a:off x="4191000" y="1206500"/>
            <a:ext cx="2032000" cy="304800"/>
          </a:xfrm>
          <a:prstGeom prst="rect">
            <a:avLst/>
          </a:prstGeom>
          <a:noFill/>
          <a:ln>
            <a:noFill/>
          </a:ln>
        </p:spPr>
        <p:txBody>
          <a:bodyPr wrap="square" anchor="ctr"/>
          <a:lstStyle/>
          <a:p>
            <a:r>
              <a:rPr lang="en-US" sz="1100" dirty="0">
                <a:solidFill>
                  <a:srgbClr val="000000"/>
                </a:solidFill>
              </a:rPr>
              <a:t>CET1 Capital</a:t>
            </a:r>
          </a:p>
        </p:txBody>
      </p:sp>
      <p:sp>
        <p:nvSpPr>
          <p:cNvPr id="89" name="CM v1 0">
            <a:extLst>
              <a:ext uri="{FF2B5EF4-FFF2-40B4-BE49-F238E27FC236}">
                <a16:creationId xmlns:a16="http://schemas.microsoft.com/office/drawing/2014/main" id="{74D427C0-DB0E-599C-F725-5D348BFC7CFE}"/>
              </a:ext>
            </a:extLst>
          </p:cNvPr>
          <p:cNvSpPr txBox="1">
            <a:spLocks noGrp="1"/>
          </p:cNvSpPr>
          <p:nvPr/>
        </p:nvSpPr>
        <p:spPr>
          <a:xfrm>
            <a:off x="6223000" y="1193800"/>
            <a:ext cx="1016000" cy="330200"/>
          </a:xfrm>
          <a:prstGeom prst="rect">
            <a:avLst/>
          </a:prstGeom>
          <a:noFill/>
          <a:ln>
            <a:noFill/>
          </a:ln>
        </p:spPr>
        <p:txBody>
          <a:bodyPr wrap="square" anchor="ctr"/>
          <a:lstStyle/>
          <a:p>
            <a:r>
              <a:rPr lang="en-US" sz="1200" dirty="0">
                <a:solidFill>
                  <a:srgbClr val="44546A"/>
                </a:solidFill>
              </a:rPr>
              <a:t>€2,915m</a:t>
            </a:r>
          </a:p>
        </p:txBody>
      </p:sp>
      <p:sp>
        <p:nvSpPr>
          <p:cNvPr id="90" name="CM v2 0">
            <a:extLst>
              <a:ext uri="{FF2B5EF4-FFF2-40B4-BE49-F238E27FC236}">
                <a16:creationId xmlns:a16="http://schemas.microsoft.com/office/drawing/2014/main" id="{7AE7B611-3747-BB2B-2DDE-FA7C190353EF}"/>
              </a:ext>
            </a:extLst>
          </p:cNvPr>
          <p:cNvSpPr txBox="1">
            <a:spLocks noGrp="1"/>
          </p:cNvSpPr>
          <p:nvPr/>
        </p:nvSpPr>
        <p:spPr>
          <a:xfrm>
            <a:off x="7100047" y="1193800"/>
            <a:ext cx="697753" cy="330200"/>
          </a:xfrm>
          <a:prstGeom prst="rect">
            <a:avLst/>
          </a:prstGeom>
          <a:noFill/>
          <a:ln>
            <a:noFill/>
          </a:ln>
        </p:spPr>
        <p:txBody>
          <a:bodyPr wrap="square" anchor="ctr"/>
          <a:lstStyle/>
          <a:p>
            <a:pPr algn="r"/>
            <a:r>
              <a:rPr lang="en-US" sz="1400" b="1" dirty="0">
                <a:solidFill>
                  <a:srgbClr val="0B2B65"/>
                </a:solidFill>
              </a:rPr>
              <a:t>12.9%</a:t>
            </a:r>
          </a:p>
        </p:txBody>
      </p:sp>
      <p:sp>
        <p:nvSpPr>
          <p:cNvPr id="91" name="CM bg 1">
            <a:extLst>
              <a:ext uri="{FF2B5EF4-FFF2-40B4-BE49-F238E27FC236}">
                <a16:creationId xmlns:a16="http://schemas.microsoft.com/office/drawing/2014/main" id="{8C6D6EB6-829D-B569-7FE5-B0B5121A893A}"/>
              </a:ext>
            </a:extLst>
          </p:cNvPr>
          <p:cNvSpPr>
            <a:spLocks noGrp="1"/>
          </p:cNvSpPr>
          <p:nvPr/>
        </p:nvSpPr>
        <p:spPr>
          <a:xfrm>
            <a:off x="4127500" y="1574800"/>
            <a:ext cx="3746500" cy="431800"/>
          </a:xfrm>
          <a:prstGeom prst="rect">
            <a:avLst/>
          </a:prstGeom>
          <a:solidFill>
            <a:srgbClr val="F0F2F8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92" name="CM lbl 1">
            <a:extLst>
              <a:ext uri="{FF2B5EF4-FFF2-40B4-BE49-F238E27FC236}">
                <a16:creationId xmlns:a16="http://schemas.microsoft.com/office/drawing/2014/main" id="{50F48E1E-C34C-6406-5A06-E0A708DCD6D7}"/>
              </a:ext>
            </a:extLst>
          </p:cNvPr>
          <p:cNvSpPr txBox="1">
            <a:spLocks noGrp="1"/>
          </p:cNvSpPr>
          <p:nvPr/>
        </p:nvSpPr>
        <p:spPr>
          <a:xfrm>
            <a:off x="4191000" y="1638300"/>
            <a:ext cx="2032000" cy="304800"/>
          </a:xfrm>
          <a:prstGeom prst="rect">
            <a:avLst/>
          </a:prstGeom>
          <a:noFill/>
          <a:ln>
            <a:noFill/>
          </a:ln>
        </p:spPr>
        <p:txBody>
          <a:bodyPr wrap="square" anchor="ctr"/>
          <a:lstStyle/>
          <a:p>
            <a:r>
              <a:rPr lang="en-US" sz="1100" dirty="0">
                <a:solidFill>
                  <a:srgbClr val="000000"/>
                </a:solidFill>
              </a:rPr>
              <a:t>Tier 1 Capital</a:t>
            </a:r>
          </a:p>
        </p:txBody>
      </p:sp>
      <p:sp>
        <p:nvSpPr>
          <p:cNvPr id="93" name="CM v1 1">
            <a:extLst>
              <a:ext uri="{FF2B5EF4-FFF2-40B4-BE49-F238E27FC236}">
                <a16:creationId xmlns:a16="http://schemas.microsoft.com/office/drawing/2014/main" id="{1CAC52AF-7D36-50F3-2BDE-85918E49EC37}"/>
              </a:ext>
            </a:extLst>
          </p:cNvPr>
          <p:cNvSpPr txBox="1">
            <a:spLocks noGrp="1"/>
          </p:cNvSpPr>
          <p:nvPr/>
        </p:nvSpPr>
        <p:spPr>
          <a:xfrm>
            <a:off x="6223000" y="1625600"/>
            <a:ext cx="1016000" cy="330200"/>
          </a:xfrm>
          <a:prstGeom prst="rect">
            <a:avLst/>
          </a:prstGeom>
          <a:noFill/>
          <a:ln>
            <a:noFill/>
          </a:ln>
        </p:spPr>
        <p:txBody>
          <a:bodyPr wrap="square" anchor="ctr"/>
          <a:lstStyle/>
          <a:p>
            <a:r>
              <a:rPr lang="en-US" sz="1200" dirty="0">
                <a:solidFill>
                  <a:srgbClr val="44546A"/>
                </a:solidFill>
              </a:rPr>
              <a:t>€3,375m</a:t>
            </a:r>
          </a:p>
        </p:txBody>
      </p:sp>
      <p:sp>
        <p:nvSpPr>
          <p:cNvPr id="94" name="CM v2 1">
            <a:extLst>
              <a:ext uri="{FF2B5EF4-FFF2-40B4-BE49-F238E27FC236}">
                <a16:creationId xmlns:a16="http://schemas.microsoft.com/office/drawing/2014/main" id="{08F2B51C-F545-F23B-67A2-900BA21A673C}"/>
              </a:ext>
            </a:extLst>
          </p:cNvPr>
          <p:cNvSpPr txBox="1">
            <a:spLocks noGrp="1"/>
          </p:cNvSpPr>
          <p:nvPr/>
        </p:nvSpPr>
        <p:spPr>
          <a:xfrm>
            <a:off x="7100047" y="1625600"/>
            <a:ext cx="697753" cy="330200"/>
          </a:xfrm>
          <a:prstGeom prst="rect">
            <a:avLst/>
          </a:prstGeom>
          <a:noFill/>
          <a:ln>
            <a:noFill/>
          </a:ln>
        </p:spPr>
        <p:txBody>
          <a:bodyPr wrap="square" anchor="ctr"/>
          <a:lstStyle/>
          <a:p>
            <a:pPr algn="r"/>
            <a:r>
              <a:rPr lang="en-US" sz="1400" b="1" dirty="0">
                <a:solidFill>
                  <a:srgbClr val="0B2B65"/>
                </a:solidFill>
              </a:rPr>
              <a:t>14.9%</a:t>
            </a:r>
          </a:p>
        </p:txBody>
      </p:sp>
      <p:sp>
        <p:nvSpPr>
          <p:cNvPr id="95" name="CM bg 2">
            <a:extLst>
              <a:ext uri="{FF2B5EF4-FFF2-40B4-BE49-F238E27FC236}">
                <a16:creationId xmlns:a16="http://schemas.microsoft.com/office/drawing/2014/main" id="{707EDD6B-7221-A1BB-F8F1-924A6FC672DD}"/>
              </a:ext>
            </a:extLst>
          </p:cNvPr>
          <p:cNvSpPr>
            <a:spLocks noGrp="1"/>
          </p:cNvSpPr>
          <p:nvPr/>
        </p:nvSpPr>
        <p:spPr>
          <a:xfrm>
            <a:off x="4127500" y="2006600"/>
            <a:ext cx="3746500" cy="431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96" name="CM lbl 2">
            <a:extLst>
              <a:ext uri="{FF2B5EF4-FFF2-40B4-BE49-F238E27FC236}">
                <a16:creationId xmlns:a16="http://schemas.microsoft.com/office/drawing/2014/main" id="{B1CEA5D4-4363-99A8-3463-D7FE9AB7D9BB}"/>
              </a:ext>
            </a:extLst>
          </p:cNvPr>
          <p:cNvSpPr txBox="1">
            <a:spLocks noGrp="1"/>
          </p:cNvSpPr>
          <p:nvPr/>
        </p:nvSpPr>
        <p:spPr>
          <a:xfrm>
            <a:off x="4191000" y="2070100"/>
            <a:ext cx="2032000" cy="304800"/>
          </a:xfrm>
          <a:prstGeom prst="rect">
            <a:avLst/>
          </a:prstGeom>
          <a:noFill/>
          <a:ln>
            <a:noFill/>
          </a:ln>
        </p:spPr>
        <p:txBody>
          <a:bodyPr wrap="square" anchor="ctr"/>
          <a:lstStyle/>
          <a:p>
            <a:r>
              <a:rPr lang="en-US" sz="1100" dirty="0">
                <a:solidFill>
                  <a:srgbClr val="000000"/>
                </a:solidFill>
              </a:rPr>
              <a:t>Total Capital</a:t>
            </a:r>
          </a:p>
        </p:txBody>
      </p:sp>
      <p:sp>
        <p:nvSpPr>
          <p:cNvPr id="97" name="CM v1 2">
            <a:extLst>
              <a:ext uri="{FF2B5EF4-FFF2-40B4-BE49-F238E27FC236}">
                <a16:creationId xmlns:a16="http://schemas.microsoft.com/office/drawing/2014/main" id="{147AA5F3-7050-62C2-913A-11F1A80139DD}"/>
              </a:ext>
            </a:extLst>
          </p:cNvPr>
          <p:cNvSpPr txBox="1">
            <a:spLocks noGrp="1"/>
          </p:cNvSpPr>
          <p:nvPr/>
        </p:nvSpPr>
        <p:spPr>
          <a:xfrm>
            <a:off x="6223000" y="2057400"/>
            <a:ext cx="1016000" cy="330200"/>
          </a:xfrm>
          <a:prstGeom prst="rect">
            <a:avLst/>
          </a:prstGeom>
          <a:noFill/>
          <a:ln>
            <a:noFill/>
          </a:ln>
        </p:spPr>
        <p:txBody>
          <a:bodyPr wrap="square" anchor="ctr"/>
          <a:lstStyle/>
          <a:p>
            <a:r>
              <a:rPr lang="en-US" sz="1200" dirty="0">
                <a:solidFill>
                  <a:srgbClr val="44546A"/>
                </a:solidFill>
              </a:rPr>
              <a:t>€4,061m</a:t>
            </a:r>
          </a:p>
        </p:txBody>
      </p:sp>
      <p:sp>
        <p:nvSpPr>
          <p:cNvPr id="98" name="CM v2 2">
            <a:extLst>
              <a:ext uri="{FF2B5EF4-FFF2-40B4-BE49-F238E27FC236}">
                <a16:creationId xmlns:a16="http://schemas.microsoft.com/office/drawing/2014/main" id="{FCD947C7-F4FA-FCF2-95ED-12977117DA2D}"/>
              </a:ext>
            </a:extLst>
          </p:cNvPr>
          <p:cNvSpPr txBox="1">
            <a:spLocks noGrp="1"/>
          </p:cNvSpPr>
          <p:nvPr/>
        </p:nvSpPr>
        <p:spPr>
          <a:xfrm>
            <a:off x="7100047" y="2057400"/>
            <a:ext cx="697753" cy="330200"/>
          </a:xfrm>
          <a:prstGeom prst="rect">
            <a:avLst/>
          </a:prstGeom>
          <a:noFill/>
          <a:ln>
            <a:noFill/>
          </a:ln>
        </p:spPr>
        <p:txBody>
          <a:bodyPr wrap="square" anchor="ctr"/>
          <a:lstStyle/>
          <a:p>
            <a:pPr algn="r"/>
            <a:r>
              <a:rPr lang="en-US" sz="1400" b="1" dirty="0">
                <a:solidFill>
                  <a:srgbClr val="0B2B65"/>
                </a:solidFill>
              </a:rPr>
              <a:t>18.0%</a:t>
            </a:r>
          </a:p>
        </p:txBody>
      </p:sp>
      <p:sp>
        <p:nvSpPr>
          <p:cNvPr id="99" name="CM bg 3">
            <a:extLst>
              <a:ext uri="{FF2B5EF4-FFF2-40B4-BE49-F238E27FC236}">
                <a16:creationId xmlns:a16="http://schemas.microsoft.com/office/drawing/2014/main" id="{AD699F5E-A371-27C2-30FC-1F688C4DB115}"/>
              </a:ext>
            </a:extLst>
          </p:cNvPr>
          <p:cNvSpPr>
            <a:spLocks noGrp="1"/>
          </p:cNvSpPr>
          <p:nvPr/>
        </p:nvSpPr>
        <p:spPr>
          <a:xfrm>
            <a:off x="4127500" y="2438400"/>
            <a:ext cx="3746500" cy="431800"/>
          </a:xfrm>
          <a:prstGeom prst="rect">
            <a:avLst/>
          </a:prstGeom>
          <a:solidFill>
            <a:srgbClr val="F0F2F8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00" name="CM lbl 3">
            <a:extLst>
              <a:ext uri="{FF2B5EF4-FFF2-40B4-BE49-F238E27FC236}">
                <a16:creationId xmlns:a16="http://schemas.microsoft.com/office/drawing/2014/main" id="{F8A70167-7C6B-ED3E-F8F2-30FD4401AD02}"/>
              </a:ext>
            </a:extLst>
          </p:cNvPr>
          <p:cNvSpPr txBox="1">
            <a:spLocks noGrp="1"/>
          </p:cNvSpPr>
          <p:nvPr/>
        </p:nvSpPr>
        <p:spPr>
          <a:xfrm>
            <a:off x="4191000" y="2501900"/>
            <a:ext cx="2032000" cy="304800"/>
          </a:xfrm>
          <a:prstGeom prst="rect">
            <a:avLst/>
          </a:prstGeom>
          <a:noFill/>
          <a:ln>
            <a:noFill/>
          </a:ln>
        </p:spPr>
        <p:txBody>
          <a:bodyPr wrap="square" anchor="ctr"/>
          <a:lstStyle/>
          <a:p>
            <a:r>
              <a:rPr lang="en-US" sz="1100" dirty="0">
                <a:solidFill>
                  <a:srgbClr val="000000"/>
                </a:solidFill>
              </a:rPr>
              <a:t>Total RWA</a:t>
            </a:r>
          </a:p>
        </p:txBody>
      </p:sp>
      <p:sp>
        <p:nvSpPr>
          <p:cNvPr id="101" name="CM v1 3">
            <a:extLst>
              <a:ext uri="{FF2B5EF4-FFF2-40B4-BE49-F238E27FC236}">
                <a16:creationId xmlns:a16="http://schemas.microsoft.com/office/drawing/2014/main" id="{BAABB5F9-A726-8D12-959F-A5428C7C4E07}"/>
              </a:ext>
            </a:extLst>
          </p:cNvPr>
          <p:cNvSpPr txBox="1">
            <a:spLocks noGrp="1"/>
          </p:cNvSpPr>
          <p:nvPr/>
        </p:nvSpPr>
        <p:spPr>
          <a:xfrm>
            <a:off x="6223000" y="2489200"/>
            <a:ext cx="1016000" cy="330200"/>
          </a:xfrm>
          <a:prstGeom prst="rect">
            <a:avLst/>
          </a:prstGeom>
          <a:noFill/>
          <a:ln>
            <a:noFill/>
          </a:ln>
        </p:spPr>
        <p:txBody>
          <a:bodyPr wrap="square" anchor="ctr"/>
          <a:lstStyle/>
          <a:p>
            <a:r>
              <a:rPr lang="en-US" sz="1200" dirty="0">
                <a:solidFill>
                  <a:srgbClr val="44546A"/>
                </a:solidFill>
              </a:rPr>
              <a:t>€22,594m</a:t>
            </a:r>
          </a:p>
        </p:txBody>
      </p:sp>
      <p:sp>
        <p:nvSpPr>
          <p:cNvPr id="102" name="CM v2 3">
            <a:extLst>
              <a:ext uri="{FF2B5EF4-FFF2-40B4-BE49-F238E27FC236}">
                <a16:creationId xmlns:a16="http://schemas.microsoft.com/office/drawing/2014/main" id="{51A684A3-B564-3BB1-76F2-23E1D1A9D5FD}"/>
              </a:ext>
            </a:extLst>
          </p:cNvPr>
          <p:cNvSpPr txBox="1">
            <a:spLocks noGrp="1"/>
          </p:cNvSpPr>
          <p:nvPr/>
        </p:nvSpPr>
        <p:spPr>
          <a:xfrm>
            <a:off x="7239000" y="2489200"/>
            <a:ext cx="558800" cy="330200"/>
          </a:xfrm>
          <a:prstGeom prst="rect">
            <a:avLst/>
          </a:prstGeom>
          <a:noFill/>
          <a:ln>
            <a:noFill/>
          </a:ln>
        </p:spPr>
        <p:txBody>
          <a:bodyPr wrap="square" anchor="ctr"/>
          <a:lstStyle/>
          <a:p>
            <a:pPr algn="r"/>
            <a:r>
              <a:rPr lang="en-US" sz="1400" b="1" dirty="0">
                <a:solidFill>
                  <a:srgbClr val="0B2B65"/>
                </a:solidFill>
              </a:rPr>
              <a:t>-</a:t>
            </a:r>
          </a:p>
        </p:txBody>
      </p:sp>
      <p:sp>
        <p:nvSpPr>
          <p:cNvPr id="103" name="CM bg 4">
            <a:extLst>
              <a:ext uri="{FF2B5EF4-FFF2-40B4-BE49-F238E27FC236}">
                <a16:creationId xmlns:a16="http://schemas.microsoft.com/office/drawing/2014/main" id="{6855BD45-A2C5-9BB3-25DB-13523DB9BF47}"/>
              </a:ext>
            </a:extLst>
          </p:cNvPr>
          <p:cNvSpPr>
            <a:spLocks noGrp="1"/>
          </p:cNvSpPr>
          <p:nvPr/>
        </p:nvSpPr>
        <p:spPr>
          <a:xfrm>
            <a:off x="4127500" y="2870200"/>
            <a:ext cx="3746500" cy="431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04" name="CM lbl 4">
            <a:extLst>
              <a:ext uri="{FF2B5EF4-FFF2-40B4-BE49-F238E27FC236}">
                <a16:creationId xmlns:a16="http://schemas.microsoft.com/office/drawing/2014/main" id="{6641B1B6-3B87-800E-F2B2-C49D5211DE74}"/>
              </a:ext>
            </a:extLst>
          </p:cNvPr>
          <p:cNvSpPr txBox="1">
            <a:spLocks noGrp="1"/>
          </p:cNvSpPr>
          <p:nvPr/>
        </p:nvSpPr>
        <p:spPr>
          <a:xfrm>
            <a:off x="4191000" y="2933700"/>
            <a:ext cx="2032000" cy="304800"/>
          </a:xfrm>
          <a:prstGeom prst="rect">
            <a:avLst/>
          </a:prstGeom>
          <a:noFill/>
          <a:ln>
            <a:noFill/>
          </a:ln>
        </p:spPr>
        <p:txBody>
          <a:bodyPr wrap="square" anchor="ctr"/>
          <a:lstStyle/>
          <a:p>
            <a:r>
              <a:rPr lang="en-US" sz="1100" dirty="0">
                <a:solidFill>
                  <a:srgbClr val="000000"/>
                </a:solidFill>
              </a:rPr>
              <a:t>Leverage Ratio</a:t>
            </a:r>
          </a:p>
        </p:txBody>
      </p:sp>
      <p:sp>
        <p:nvSpPr>
          <p:cNvPr id="105" name="CM v1 4">
            <a:extLst>
              <a:ext uri="{FF2B5EF4-FFF2-40B4-BE49-F238E27FC236}">
                <a16:creationId xmlns:a16="http://schemas.microsoft.com/office/drawing/2014/main" id="{DDFA246B-55D9-247A-44E8-6D99847E8003}"/>
              </a:ext>
            </a:extLst>
          </p:cNvPr>
          <p:cNvSpPr txBox="1">
            <a:spLocks noGrp="1"/>
          </p:cNvSpPr>
          <p:nvPr/>
        </p:nvSpPr>
        <p:spPr>
          <a:xfrm>
            <a:off x="6223000" y="2921000"/>
            <a:ext cx="1016000" cy="330200"/>
          </a:xfrm>
          <a:prstGeom prst="rect">
            <a:avLst/>
          </a:prstGeom>
          <a:noFill/>
          <a:ln>
            <a:noFill/>
          </a:ln>
        </p:spPr>
        <p:txBody>
          <a:bodyPr wrap="square" anchor="ctr"/>
          <a:lstStyle/>
          <a:p>
            <a:r>
              <a:rPr lang="en-US" sz="1200" dirty="0">
                <a:solidFill>
                  <a:srgbClr val="44546A"/>
                </a:solidFill>
              </a:rPr>
              <a:t>4.5%</a:t>
            </a:r>
          </a:p>
        </p:txBody>
      </p:sp>
      <p:sp>
        <p:nvSpPr>
          <p:cNvPr id="106" name="CM v2 4">
            <a:extLst>
              <a:ext uri="{FF2B5EF4-FFF2-40B4-BE49-F238E27FC236}">
                <a16:creationId xmlns:a16="http://schemas.microsoft.com/office/drawing/2014/main" id="{CD5C0CD8-3A43-EF51-4DB4-C7040CEE90BD}"/>
              </a:ext>
            </a:extLst>
          </p:cNvPr>
          <p:cNvSpPr txBox="1">
            <a:spLocks noGrp="1"/>
          </p:cNvSpPr>
          <p:nvPr/>
        </p:nvSpPr>
        <p:spPr>
          <a:xfrm>
            <a:off x="7239000" y="2921000"/>
            <a:ext cx="558800" cy="330200"/>
          </a:xfrm>
          <a:prstGeom prst="rect">
            <a:avLst/>
          </a:prstGeom>
          <a:noFill/>
          <a:ln>
            <a:noFill/>
          </a:ln>
        </p:spPr>
        <p:txBody>
          <a:bodyPr wrap="square" anchor="ctr"/>
          <a:lstStyle/>
          <a:p>
            <a:pPr algn="r"/>
            <a:r>
              <a:rPr lang="en-US" sz="1400" b="1" dirty="0">
                <a:solidFill>
                  <a:srgbClr val="0B2B65"/>
                </a:solidFill>
              </a:rPr>
              <a:t>-</a:t>
            </a:r>
          </a:p>
        </p:txBody>
      </p:sp>
      <p:sp>
        <p:nvSpPr>
          <p:cNvPr id="107" name="CM bg 5">
            <a:extLst>
              <a:ext uri="{FF2B5EF4-FFF2-40B4-BE49-F238E27FC236}">
                <a16:creationId xmlns:a16="http://schemas.microsoft.com/office/drawing/2014/main" id="{508356AC-3539-835D-134F-D125CE45C564}"/>
              </a:ext>
            </a:extLst>
          </p:cNvPr>
          <p:cNvSpPr>
            <a:spLocks noGrp="1"/>
          </p:cNvSpPr>
          <p:nvPr/>
        </p:nvSpPr>
        <p:spPr>
          <a:xfrm>
            <a:off x="4127500" y="3302000"/>
            <a:ext cx="3746500" cy="431800"/>
          </a:xfrm>
          <a:prstGeom prst="rect">
            <a:avLst/>
          </a:prstGeom>
          <a:solidFill>
            <a:srgbClr val="F0F2F8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08" name="CM lbl 5">
            <a:extLst>
              <a:ext uri="{FF2B5EF4-FFF2-40B4-BE49-F238E27FC236}">
                <a16:creationId xmlns:a16="http://schemas.microsoft.com/office/drawing/2014/main" id="{3F348FF4-17A1-28CB-88B3-C16AD6DC97FC}"/>
              </a:ext>
            </a:extLst>
          </p:cNvPr>
          <p:cNvSpPr txBox="1">
            <a:spLocks noGrp="1"/>
          </p:cNvSpPr>
          <p:nvPr/>
        </p:nvSpPr>
        <p:spPr>
          <a:xfrm>
            <a:off x="4191000" y="3365500"/>
            <a:ext cx="2032000" cy="304800"/>
          </a:xfrm>
          <a:prstGeom prst="rect">
            <a:avLst/>
          </a:prstGeom>
          <a:noFill/>
          <a:ln>
            <a:noFill/>
          </a:ln>
        </p:spPr>
        <p:txBody>
          <a:bodyPr wrap="square" anchor="ctr"/>
          <a:lstStyle/>
          <a:p>
            <a:r>
              <a:rPr lang="en-US" sz="1100" dirty="0">
                <a:solidFill>
                  <a:srgbClr val="000000"/>
                </a:solidFill>
              </a:rPr>
              <a:t>LCR (12m avg)</a:t>
            </a:r>
          </a:p>
        </p:txBody>
      </p:sp>
      <p:sp>
        <p:nvSpPr>
          <p:cNvPr id="109" name="CM v1 5">
            <a:extLst>
              <a:ext uri="{FF2B5EF4-FFF2-40B4-BE49-F238E27FC236}">
                <a16:creationId xmlns:a16="http://schemas.microsoft.com/office/drawing/2014/main" id="{284620C4-758D-E2C0-763A-121A70B103B8}"/>
              </a:ext>
            </a:extLst>
          </p:cNvPr>
          <p:cNvSpPr txBox="1">
            <a:spLocks noGrp="1"/>
          </p:cNvSpPr>
          <p:nvPr/>
        </p:nvSpPr>
        <p:spPr>
          <a:xfrm>
            <a:off x="6223000" y="3352800"/>
            <a:ext cx="1016000" cy="330200"/>
          </a:xfrm>
          <a:prstGeom prst="rect">
            <a:avLst/>
          </a:prstGeom>
          <a:noFill/>
          <a:ln>
            <a:noFill/>
          </a:ln>
        </p:spPr>
        <p:txBody>
          <a:bodyPr wrap="square" anchor="ctr"/>
          <a:lstStyle/>
          <a:p>
            <a:r>
              <a:rPr lang="en-US" sz="1200" dirty="0">
                <a:solidFill>
                  <a:srgbClr val="44546A"/>
                </a:solidFill>
              </a:rPr>
              <a:t>€14,508m</a:t>
            </a:r>
          </a:p>
        </p:txBody>
      </p:sp>
      <p:sp>
        <p:nvSpPr>
          <p:cNvPr id="110" name="CM v2 5">
            <a:extLst>
              <a:ext uri="{FF2B5EF4-FFF2-40B4-BE49-F238E27FC236}">
                <a16:creationId xmlns:a16="http://schemas.microsoft.com/office/drawing/2014/main" id="{57F494A5-7F47-82A5-00D0-28988F3F424A}"/>
              </a:ext>
            </a:extLst>
          </p:cNvPr>
          <p:cNvSpPr txBox="1">
            <a:spLocks noGrp="1"/>
          </p:cNvSpPr>
          <p:nvPr/>
        </p:nvSpPr>
        <p:spPr>
          <a:xfrm>
            <a:off x="7100047" y="3352800"/>
            <a:ext cx="697753" cy="330200"/>
          </a:xfrm>
          <a:prstGeom prst="rect">
            <a:avLst/>
          </a:prstGeom>
          <a:noFill/>
          <a:ln>
            <a:noFill/>
          </a:ln>
        </p:spPr>
        <p:txBody>
          <a:bodyPr wrap="square" anchor="ctr"/>
          <a:lstStyle/>
          <a:p>
            <a:pPr algn="r"/>
            <a:r>
              <a:rPr lang="en-US" sz="1400" b="1" dirty="0">
                <a:solidFill>
                  <a:srgbClr val="0B2B65"/>
                </a:solidFill>
              </a:rPr>
              <a:t>218%</a:t>
            </a:r>
          </a:p>
        </p:txBody>
      </p:sp>
      <p:sp>
        <p:nvSpPr>
          <p:cNvPr id="111" name="CM bg 6">
            <a:extLst>
              <a:ext uri="{FF2B5EF4-FFF2-40B4-BE49-F238E27FC236}">
                <a16:creationId xmlns:a16="http://schemas.microsoft.com/office/drawing/2014/main" id="{74C5F0AF-4DA8-2A5D-D20A-7FB369122785}"/>
              </a:ext>
            </a:extLst>
          </p:cNvPr>
          <p:cNvSpPr>
            <a:spLocks noGrp="1"/>
          </p:cNvSpPr>
          <p:nvPr/>
        </p:nvSpPr>
        <p:spPr>
          <a:xfrm>
            <a:off x="4127500" y="3733800"/>
            <a:ext cx="3746500" cy="431800"/>
          </a:xfrm>
          <a:prstGeom prst="rect">
            <a:avLst/>
          </a:prstGeom>
          <a:solidFill>
            <a:srgbClr val="FFF9E6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12" name="CM lbl 6">
            <a:extLst>
              <a:ext uri="{FF2B5EF4-FFF2-40B4-BE49-F238E27FC236}">
                <a16:creationId xmlns:a16="http://schemas.microsoft.com/office/drawing/2014/main" id="{E4139231-8682-7543-8283-F62734141711}"/>
              </a:ext>
            </a:extLst>
          </p:cNvPr>
          <p:cNvSpPr txBox="1">
            <a:spLocks noGrp="1"/>
          </p:cNvSpPr>
          <p:nvPr/>
        </p:nvSpPr>
        <p:spPr>
          <a:xfrm>
            <a:off x="4191000" y="3797300"/>
            <a:ext cx="2032000" cy="304800"/>
          </a:xfrm>
          <a:prstGeom prst="rect">
            <a:avLst/>
          </a:prstGeom>
          <a:noFill/>
          <a:ln>
            <a:noFill/>
          </a:ln>
        </p:spPr>
        <p:txBody>
          <a:bodyPr wrap="square" anchor="ctr"/>
          <a:lstStyle/>
          <a:p>
            <a:r>
              <a:rPr lang="en-US" sz="1100" dirty="0">
                <a:solidFill>
                  <a:srgbClr val="000000"/>
                </a:solidFill>
              </a:rPr>
              <a:t>Pro-forma CET1*</a:t>
            </a:r>
          </a:p>
        </p:txBody>
      </p:sp>
      <p:sp>
        <p:nvSpPr>
          <p:cNvPr id="113" name="CM v1 6">
            <a:extLst>
              <a:ext uri="{FF2B5EF4-FFF2-40B4-BE49-F238E27FC236}">
                <a16:creationId xmlns:a16="http://schemas.microsoft.com/office/drawing/2014/main" id="{48EB1683-8D38-9F05-C1A3-A36106E7B854}"/>
              </a:ext>
            </a:extLst>
          </p:cNvPr>
          <p:cNvSpPr txBox="1">
            <a:spLocks noGrp="1"/>
          </p:cNvSpPr>
          <p:nvPr/>
        </p:nvSpPr>
        <p:spPr>
          <a:xfrm>
            <a:off x="6223000" y="3784600"/>
            <a:ext cx="1016000" cy="330200"/>
          </a:xfrm>
          <a:prstGeom prst="rect">
            <a:avLst/>
          </a:prstGeom>
          <a:noFill/>
          <a:ln>
            <a:noFill/>
          </a:ln>
        </p:spPr>
        <p:txBody>
          <a:bodyPr wrap="square" anchor="ctr"/>
          <a:lstStyle/>
          <a:p>
            <a:r>
              <a:rPr lang="en-US" sz="1200" dirty="0">
                <a:solidFill>
                  <a:srgbClr val="44546A"/>
                </a:solidFill>
              </a:rPr>
              <a:t>14.6%</a:t>
            </a:r>
          </a:p>
        </p:txBody>
      </p:sp>
      <p:sp>
        <p:nvSpPr>
          <p:cNvPr id="114" name="CM v2 6">
            <a:extLst>
              <a:ext uri="{FF2B5EF4-FFF2-40B4-BE49-F238E27FC236}">
                <a16:creationId xmlns:a16="http://schemas.microsoft.com/office/drawing/2014/main" id="{436C8140-F0BF-902C-4265-0961284EAFAA}"/>
              </a:ext>
            </a:extLst>
          </p:cNvPr>
          <p:cNvSpPr txBox="1">
            <a:spLocks noGrp="1"/>
          </p:cNvSpPr>
          <p:nvPr/>
        </p:nvSpPr>
        <p:spPr>
          <a:xfrm>
            <a:off x="7239000" y="3784600"/>
            <a:ext cx="558800" cy="330200"/>
          </a:xfrm>
          <a:prstGeom prst="rect">
            <a:avLst/>
          </a:prstGeom>
          <a:noFill/>
          <a:ln>
            <a:noFill/>
          </a:ln>
        </p:spPr>
        <p:txBody>
          <a:bodyPr wrap="square" anchor="ctr"/>
          <a:lstStyle/>
          <a:p>
            <a:pPr algn="r"/>
            <a:endParaRPr/>
          </a:p>
        </p:txBody>
      </p:sp>
      <p:sp>
        <p:nvSpPr>
          <p:cNvPr id="115" name="CMNote">
            <a:extLst>
              <a:ext uri="{FF2B5EF4-FFF2-40B4-BE49-F238E27FC236}">
                <a16:creationId xmlns:a16="http://schemas.microsoft.com/office/drawing/2014/main" id="{4DEF3133-72E0-7307-B124-A445412A4490}"/>
              </a:ext>
            </a:extLst>
          </p:cNvPr>
          <p:cNvSpPr txBox="1">
            <a:spLocks noGrp="1"/>
          </p:cNvSpPr>
          <p:nvPr/>
        </p:nvSpPr>
        <p:spPr>
          <a:xfrm>
            <a:off x="4127500" y="4191000"/>
            <a:ext cx="3746500" cy="2286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r>
              <a:rPr lang="en-US" sz="900" i="1" dirty="0">
                <a:solidFill>
                  <a:srgbClr val="44546A"/>
                </a:solidFill>
              </a:rPr>
              <a:t>*Pro-forma incl. participation capital sale</a:t>
            </a:r>
          </a:p>
        </p:txBody>
      </p:sp>
      <p:sp>
        <p:nvSpPr>
          <p:cNvPr id="116" name="RHdr">
            <a:extLst>
              <a:ext uri="{FF2B5EF4-FFF2-40B4-BE49-F238E27FC236}">
                <a16:creationId xmlns:a16="http://schemas.microsoft.com/office/drawing/2014/main" id="{884CFFDE-21B0-2275-51F0-EA9446771238}"/>
              </a:ext>
            </a:extLst>
          </p:cNvPr>
          <p:cNvSpPr>
            <a:spLocks noGrp="1"/>
          </p:cNvSpPr>
          <p:nvPr/>
        </p:nvSpPr>
        <p:spPr>
          <a:xfrm>
            <a:off x="8001000" y="736600"/>
            <a:ext cx="4038600" cy="355600"/>
          </a:xfrm>
          <a:prstGeom prst="rect">
            <a:avLst/>
          </a:prstGeom>
          <a:solidFill>
            <a:srgbClr val="0B2B65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17" name="RHdrT">
            <a:extLst>
              <a:ext uri="{FF2B5EF4-FFF2-40B4-BE49-F238E27FC236}">
                <a16:creationId xmlns:a16="http://schemas.microsoft.com/office/drawing/2014/main" id="{B3326344-5373-1FEB-F039-B84D5246AD6A}"/>
              </a:ext>
            </a:extLst>
          </p:cNvPr>
          <p:cNvSpPr txBox="1">
            <a:spLocks noGrp="1"/>
          </p:cNvSpPr>
          <p:nvPr/>
        </p:nvSpPr>
        <p:spPr>
          <a:xfrm>
            <a:off x="8001000" y="736600"/>
            <a:ext cx="4038600" cy="355600"/>
          </a:xfrm>
          <a:prstGeom prst="rect">
            <a:avLst/>
          </a:prstGeom>
          <a:noFill/>
          <a:ln>
            <a:noFill/>
          </a:ln>
        </p:spPr>
        <p:txBody>
          <a:bodyPr wrap="square" anchor="ctr"/>
          <a:lstStyle/>
          <a:p>
            <a:pPr algn="ctr"/>
            <a:r>
              <a:rPr lang="en-US" sz="1400" b="1" dirty="0">
                <a:solidFill>
                  <a:srgbClr val="FFFFFF"/>
                </a:solidFill>
              </a:rPr>
              <a:t>ICAAP Dual Perspective</a:t>
            </a:r>
          </a:p>
        </p:txBody>
      </p:sp>
      <p:sp>
        <p:nvSpPr>
          <p:cNvPr id="118" name="NrmBg">
            <a:extLst>
              <a:ext uri="{FF2B5EF4-FFF2-40B4-BE49-F238E27FC236}">
                <a16:creationId xmlns:a16="http://schemas.microsoft.com/office/drawing/2014/main" id="{42457C87-5432-F33A-9B08-84333355FF90}"/>
              </a:ext>
            </a:extLst>
          </p:cNvPr>
          <p:cNvSpPr>
            <a:spLocks noGrp="1"/>
          </p:cNvSpPr>
          <p:nvPr/>
        </p:nvSpPr>
        <p:spPr>
          <a:xfrm>
            <a:off x="8001000" y="1143000"/>
            <a:ext cx="4038600" cy="1968500"/>
          </a:xfrm>
          <a:prstGeom prst="rect">
            <a:avLst/>
          </a:prstGeom>
          <a:solidFill>
            <a:srgbClr val="E8EDF5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19" name="NrmBar">
            <a:extLst>
              <a:ext uri="{FF2B5EF4-FFF2-40B4-BE49-F238E27FC236}">
                <a16:creationId xmlns:a16="http://schemas.microsoft.com/office/drawing/2014/main" id="{A40F8C86-5176-DA9E-31A8-E3ED5EFBDADE}"/>
              </a:ext>
            </a:extLst>
          </p:cNvPr>
          <p:cNvSpPr>
            <a:spLocks noGrp="1"/>
          </p:cNvSpPr>
          <p:nvPr/>
        </p:nvSpPr>
        <p:spPr>
          <a:xfrm>
            <a:off x="8001000" y="1143000"/>
            <a:ext cx="76200" cy="1968500"/>
          </a:xfrm>
          <a:prstGeom prst="rect">
            <a:avLst/>
          </a:prstGeom>
          <a:solidFill>
            <a:srgbClr val="0B2B65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20" name="NrmTtl">
            <a:extLst>
              <a:ext uri="{FF2B5EF4-FFF2-40B4-BE49-F238E27FC236}">
                <a16:creationId xmlns:a16="http://schemas.microsoft.com/office/drawing/2014/main" id="{C72A962F-F21D-30B9-5FEA-375B938A5463}"/>
              </a:ext>
            </a:extLst>
          </p:cNvPr>
          <p:cNvSpPr txBox="1">
            <a:spLocks noGrp="1"/>
          </p:cNvSpPr>
          <p:nvPr/>
        </p:nvSpPr>
        <p:spPr>
          <a:xfrm>
            <a:off x="8153400" y="1181100"/>
            <a:ext cx="3810000" cy="3048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r>
              <a:rPr lang="en-US" sz="1400" b="1" dirty="0">
                <a:solidFill>
                  <a:srgbClr val="0B2B65"/>
                </a:solidFill>
              </a:rPr>
              <a:t>Normative Perspective</a:t>
            </a:r>
          </a:p>
        </p:txBody>
      </p:sp>
      <p:sp>
        <p:nvSpPr>
          <p:cNvPr id="121" name="NrmTxt">
            <a:extLst>
              <a:ext uri="{FF2B5EF4-FFF2-40B4-BE49-F238E27FC236}">
                <a16:creationId xmlns:a16="http://schemas.microsoft.com/office/drawing/2014/main" id="{6C435E16-7E08-C0CE-0460-214D0641CA52}"/>
              </a:ext>
            </a:extLst>
          </p:cNvPr>
          <p:cNvSpPr txBox="1">
            <a:spLocks noGrp="1"/>
          </p:cNvSpPr>
          <p:nvPr/>
        </p:nvSpPr>
        <p:spPr>
          <a:xfrm>
            <a:off x="8153400" y="1460500"/>
            <a:ext cx="3810000" cy="16002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r>
              <a:rPr lang="en-US" sz="1200" dirty="0">
                <a:solidFill>
                  <a:srgbClr val="000000"/>
                </a:solidFill>
              </a:rPr>
              <a:t>• CET1/Tier1/Total Capital ratios vs. thresholds</a:t>
            </a:r>
          </a:p>
          <a:p>
            <a:r>
              <a:rPr lang="en-US" sz="1200" dirty="0">
                <a:solidFill>
                  <a:srgbClr val="000000"/>
                </a:solidFill>
              </a:rPr>
              <a:t>• Multi-year forward planning aligned to budget</a:t>
            </a:r>
          </a:p>
          <a:p>
            <a:r>
              <a:rPr lang="en-US" sz="1200" dirty="0">
                <a:solidFill>
                  <a:srgbClr val="000000"/>
                </a:solidFill>
              </a:rPr>
              <a:t>• Models: SA + F-IRB + Slotting (CRR approaches)</a:t>
            </a:r>
          </a:p>
          <a:p>
            <a:r>
              <a:rPr lang="en-US" sz="1200" dirty="0">
                <a:solidFill>
                  <a:srgbClr val="000000"/>
                </a:solidFill>
              </a:rPr>
              <a:t>• SREP 2026: P2R = 2.35% | P2G = 0.50%</a:t>
            </a:r>
          </a:p>
          <a:p>
            <a:r>
              <a:rPr lang="en-US" sz="1200" dirty="0">
                <a:solidFill>
                  <a:srgbClr val="000000"/>
                </a:solidFill>
              </a:rPr>
              <a:t>• Basel IV output floor: 20pp distance (no constraint)</a:t>
            </a:r>
          </a:p>
        </p:txBody>
      </p:sp>
      <p:sp>
        <p:nvSpPr>
          <p:cNvPr id="122" name="EcoBg">
            <a:extLst>
              <a:ext uri="{FF2B5EF4-FFF2-40B4-BE49-F238E27FC236}">
                <a16:creationId xmlns:a16="http://schemas.microsoft.com/office/drawing/2014/main" id="{C3893DAD-C767-9136-4224-84F19F1F2D85}"/>
              </a:ext>
            </a:extLst>
          </p:cNvPr>
          <p:cNvSpPr>
            <a:spLocks noGrp="1"/>
          </p:cNvSpPr>
          <p:nvPr/>
        </p:nvSpPr>
        <p:spPr>
          <a:xfrm>
            <a:off x="8001000" y="3200400"/>
            <a:ext cx="4038600" cy="1968500"/>
          </a:xfrm>
          <a:prstGeom prst="rect">
            <a:avLst/>
          </a:prstGeom>
          <a:solidFill>
            <a:srgbClr val="FFF9E6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23" name="EcoBar">
            <a:extLst>
              <a:ext uri="{FF2B5EF4-FFF2-40B4-BE49-F238E27FC236}">
                <a16:creationId xmlns:a16="http://schemas.microsoft.com/office/drawing/2014/main" id="{89019776-7620-0933-3E96-D433E9F8205D}"/>
              </a:ext>
            </a:extLst>
          </p:cNvPr>
          <p:cNvSpPr>
            <a:spLocks noGrp="1"/>
          </p:cNvSpPr>
          <p:nvPr/>
        </p:nvSpPr>
        <p:spPr>
          <a:xfrm>
            <a:off x="8001000" y="3200400"/>
            <a:ext cx="76200" cy="1968500"/>
          </a:xfrm>
          <a:prstGeom prst="rect">
            <a:avLst/>
          </a:prstGeom>
          <a:solidFill>
            <a:srgbClr val="1A5187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24" name="EcoTtl">
            <a:extLst>
              <a:ext uri="{FF2B5EF4-FFF2-40B4-BE49-F238E27FC236}">
                <a16:creationId xmlns:a16="http://schemas.microsoft.com/office/drawing/2014/main" id="{22913742-9F7A-4B50-E23D-DF22A7667747}"/>
              </a:ext>
            </a:extLst>
          </p:cNvPr>
          <p:cNvSpPr txBox="1">
            <a:spLocks noGrp="1"/>
          </p:cNvSpPr>
          <p:nvPr/>
        </p:nvSpPr>
        <p:spPr>
          <a:xfrm>
            <a:off x="8153400" y="3238500"/>
            <a:ext cx="3810000" cy="3048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r>
              <a:rPr lang="en-US" sz="1400" b="1" dirty="0">
                <a:solidFill>
                  <a:srgbClr val="1A5187"/>
                </a:solidFill>
              </a:rPr>
              <a:t>Economic Perspective</a:t>
            </a:r>
          </a:p>
        </p:txBody>
      </p:sp>
      <p:sp>
        <p:nvSpPr>
          <p:cNvPr id="125" name="EcoTxt">
            <a:extLst>
              <a:ext uri="{FF2B5EF4-FFF2-40B4-BE49-F238E27FC236}">
                <a16:creationId xmlns:a16="http://schemas.microsoft.com/office/drawing/2014/main" id="{12F13B52-8E69-0FE0-9BDD-342DB3252546}"/>
              </a:ext>
            </a:extLst>
          </p:cNvPr>
          <p:cNvSpPr txBox="1">
            <a:spLocks noGrp="1"/>
          </p:cNvSpPr>
          <p:nvPr/>
        </p:nvSpPr>
        <p:spPr>
          <a:xfrm>
            <a:off x="8153400" y="3517900"/>
            <a:ext cx="3810000" cy="16002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r>
              <a:rPr lang="en-US" sz="1200" dirty="0">
                <a:solidFill>
                  <a:srgbClr val="000000"/>
                </a:solidFill>
              </a:rPr>
              <a:t>• Confidence level: 99.9% (all risk categories)</a:t>
            </a:r>
          </a:p>
          <a:p>
            <a:r>
              <a:rPr lang="en-US" sz="1200" dirty="0">
                <a:solidFill>
                  <a:srgbClr val="000000"/>
                </a:solidFill>
              </a:rPr>
              <a:t>• Internal capital covers expected + unexpected losses</a:t>
            </a:r>
          </a:p>
          <a:p>
            <a:r>
              <a:rPr lang="en-US" sz="1200" dirty="0">
                <a:solidFill>
                  <a:srgbClr val="000000"/>
                </a:solidFill>
              </a:rPr>
              <a:t>• Credit: Merton-Vasicek single-factor model</a:t>
            </a:r>
          </a:p>
          <a:p>
            <a:r>
              <a:rPr lang="en-US" sz="1200" dirty="0">
                <a:solidFill>
                  <a:srgbClr val="000000"/>
                </a:solidFill>
              </a:rPr>
              <a:t>• Market: Historical full-valuation VaR (gen. hyperbolic)</a:t>
            </a:r>
          </a:p>
          <a:p>
            <a:r>
              <a:rPr lang="en-US" sz="1200" dirty="0">
                <a:solidFill>
                  <a:srgbClr val="000000"/>
                </a:solidFill>
              </a:rPr>
              <a:t>• Monthly (short-term) + Quarterly (long-term) reviews</a:t>
            </a:r>
          </a:p>
        </p:txBody>
      </p:sp>
      <p:sp>
        <p:nvSpPr>
          <p:cNvPr id="126" name="TkBg">
            <a:extLst>
              <a:ext uri="{FF2B5EF4-FFF2-40B4-BE49-F238E27FC236}">
                <a16:creationId xmlns:a16="http://schemas.microsoft.com/office/drawing/2014/main" id="{B92C681F-4ED3-39A8-D138-0A823E70AFE4}"/>
              </a:ext>
            </a:extLst>
          </p:cNvPr>
          <p:cNvSpPr>
            <a:spLocks noGrp="1"/>
          </p:cNvSpPr>
          <p:nvPr/>
        </p:nvSpPr>
        <p:spPr>
          <a:xfrm>
            <a:off x="190500" y="5549900"/>
            <a:ext cx="11811000" cy="673100"/>
          </a:xfrm>
          <a:prstGeom prst="rect">
            <a:avLst/>
          </a:prstGeom>
          <a:solidFill>
            <a:srgbClr val="0B2B65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27" name="TkAcc">
            <a:extLst>
              <a:ext uri="{FF2B5EF4-FFF2-40B4-BE49-F238E27FC236}">
                <a16:creationId xmlns:a16="http://schemas.microsoft.com/office/drawing/2014/main" id="{0D0C4020-9883-6163-9FAB-E0D7C9040B99}"/>
              </a:ext>
            </a:extLst>
          </p:cNvPr>
          <p:cNvSpPr>
            <a:spLocks noGrp="1"/>
          </p:cNvSpPr>
          <p:nvPr/>
        </p:nvSpPr>
        <p:spPr>
          <a:xfrm>
            <a:off x="126814" y="5549900"/>
            <a:ext cx="114485" cy="673100"/>
          </a:xfrm>
          <a:prstGeom prst="rect">
            <a:avLst/>
          </a:prstGeom>
          <a:solidFill>
            <a:srgbClr val="0B2B65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28" name="TkTxt">
            <a:extLst>
              <a:ext uri="{FF2B5EF4-FFF2-40B4-BE49-F238E27FC236}">
                <a16:creationId xmlns:a16="http://schemas.microsoft.com/office/drawing/2014/main" id="{A82B4A30-BFFF-54BA-88D0-8164476847FC}"/>
              </a:ext>
            </a:extLst>
          </p:cNvPr>
          <p:cNvSpPr txBox="1">
            <a:spLocks noGrp="1"/>
          </p:cNvSpPr>
          <p:nvPr/>
        </p:nvSpPr>
        <p:spPr>
          <a:xfrm>
            <a:off x="309881" y="5664200"/>
            <a:ext cx="11582400" cy="381000"/>
          </a:xfrm>
          <a:prstGeom prst="rect">
            <a:avLst/>
          </a:prstGeom>
          <a:noFill/>
          <a:ln>
            <a:noFill/>
          </a:ln>
        </p:spPr>
        <p:txBody>
          <a:bodyPr wrap="square" anchor="ctr"/>
          <a:lstStyle/>
          <a:p>
            <a:pPr algn="ctr"/>
            <a:r>
              <a:rPr lang="en-US" sz="1600" b="1" dirty="0">
                <a:solidFill>
                  <a:schemeClr val="bg1"/>
                </a:solidFill>
              </a:rPr>
              <a:t>Key: </a:t>
            </a:r>
            <a:r>
              <a:rPr lang="en-US" sz="1600" b="1" dirty="0">
                <a:solidFill>
                  <a:srgbClr val="FFFFFF"/>
                </a:solidFill>
              </a:rPr>
              <a:t>227bps buffer above MDA trigger | No Basel IV output-floor constraint | 99.9% confidence level applied uniformly across ICAAP</a:t>
            </a:r>
          </a:p>
        </p:txBody>
      </p:sp>
      <p:sp>
        <p:nvSpPr>
          <p:cNvPr id="129" name="D1">
            <a:extLst>
              <a:ext uri="{FF2B5EF4-FFF2-40B4-BE49-F238E27FC236}">
                <a16:creationId xmlns:a16="http://schemas.microsoft.com/office/drawing/2014/main" id="{57079FBD-B87F-708B-8BC6-E1D318F79960}"/>
              </a:ext>
            </a:extLst>
          </p:cNvPr>
          <p:cNvSpPr>
            <a:spLocks noGrp="1"/>
          </p:cNvSpPr>
          <p:nvPr/>
        </p:nvSpPr>
        <p:spPr>
          <a:xfrm>
            <a:off x="4063999" y="698500"/>
            <a:ext cx="45719" cy="4419600"/>
          </a:xfrm>
          <a:prstGeom prst="rect">
            <a:avLst/>
          </a:prstGeom>
          <a:solidFill>
            <a:srgbClr val="E7E6E6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30" name="D2">
            <a:extLst>
              <a:ext uri="{FF2B5EF4-FFF2-40B4-BE49-F238E27FC236}">
                <a16:creationId xmlns:a16="http://schemas.microsoft.com/office/drawing/2014/main" id="{81772222-90CD-1E9F-4D99-39A347489680}"/>
              </a:ext>
            </a:extLst>
          </p:cNvPr>
          <p:cNvSpPr>
            <a:spLocks noGrp="1"/>
          </p:cNvSpPr>
          <p:nvPr/>
        </p:nvSpPr>
        <p:spPr>
          <a:xfrm>
            <a:off x="7950199" y="698500"/>
            <a:ext cx="45719" cy="4470400"/>
          </a:xfrm>
          <a:prstGeom prst="rect">
            <a:avLst/>
          </a:prstGeom>
          <a:solidFill>
            <a:srgbClr val="E7E6E6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32" name="FtrT">
            <a:extLst>
              <a:ext uri="{FF2B5EF4-FFF2-40B4-BE49-F238E27FC236}">
                <a16:creationId xmlns:a16="http://schemas.microsoft.com/office/drawing/2014/main" id="{4AC77A01-7FD1-B7DE-4F8D-1E7FBEC0A71A}"/>
              </a:ext>
            </a:extLst>
          </p:cNvPr>
          <p:cNvSpPr txBox="1">
            <a:spLocks noGrp="1"/>
          </p:cNvSpPr>
          <p:nvPr/>
        </p:nvSpPr>
        <p:spPr>
          <a:xfrm>
            <a:off x="228600" y="6477000"/>
            <a:ext cx="11430000" cy="317500"/>
          </a:xfrm>
          <a:prstGeom prst="rect">
            <a:avLst/>
          </a:prstGeom>
          <a:noFill/>
          <a:ln>
            <a:noFill/>
          </a:ln>
        </p:spPr>
        <p:txBody>
          <a:bodyPr wrap="square" anchor="ctr"/>
          <a:lstStyle/>
          <a:p>
            <a:r>
              <a:rPr lang="en-US" sz="1000" dirty="0"/>
              <a:t>Source: BAWAG Pillar 3 Qualitative Report 2025 (ICAAP); Pillar 3 Quantitative Data 2025 - EU KM1</a:t>
            </a:r>
          </a:p>
        </p:txBody>
      </p:sp>
      <p:graphicFrame>
        <p:nvGraphicFramePr>
          <p:cNvPr id="200" name="Capital Buffer Chart"/>
          <p:cNvGraphicFramePr>
            <a:graphicFrameLocks noGrp="1"/>
          </p:cNvGraphicFramePr>
          <p:nvPr/>
        </p:nvGraphicFramePr>
        <p:xfrm>
          <a:off x="190500" y="1092200"/>
          <a:ext cx="3810000" cy="43434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69" name="CHdrT"/>
          <p:cNvSpPr>
            <a:spLocks noGrp="1"/>
          </p:cNvSpPr>
          <p:nvPr/>
        </p:nvSpPr>
        <p:spPr>
          <a:xfrm>
            <a:off x="190500" y="736600"/>
            <a:ext cx="3810000" cy="355600"/>
          </a:xfrm>
          <a:prstGeom prst="rect">
            <a:avLst/>
          </a:prstGeom>
          <a:noFill/>
          <a:ln>
            <a:noFill/>
          </a:ln>
        </p:spPr>
        <p:txBody>
          <a:bodyPr anchor="ctr"/>
          <a:lstStyle/>
          <a:p>
            <a:pPr algn="ctr"/>
            <a:r>
              <a:rPr lang="en-US" sz="1400" b="1" dirty="0">
                <a:solidFill>
                  <a:srgbClr val="FFFFFF"/>
                </a:solidFill>
              </a:rPr>
              <a:t>Capital Buffer Stack (Dec 2025)</a:t>
            </a:r>
          </a:p>
        </p:txBody>
      </p:sp>
    </p:spTree>
    <p:extLst>
      <p:ext uri="{BB962C8B-B14F-4D97-AF65-F5344CB8AC3E}">
        <p14:creationId xmlns:p14="http://schemas.microsoft.com/office/powerpoint/2010/main" val="29103085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576A60F-9858-ED4F-E98E-18B59C374B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216626F8-E34E-EA6B-0419-F6A64055E764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D9D9D9">
              <a:alpha val="6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2E03B5B-D30F-9C5F-F2C6-3DFFE5BD9961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6EB1DFE1-B35D-4966-501E-F50DB492D482}"/>
              </a:ext>
            </a:extLst>
          </p:cNvPr>
          <p:cNvSpPr/>
          <p:nvPr/>
        </p:nvSpPr>
        <p:spPr>
          <a:xfrm>
            <a:off x="0" y="3962400"/>
            <a:ext cx="10639425" cy="1257300"/>
          </a:xfrm>
          <a:prstGeom prst="rect">
            <a:avLst/>
          </a:prstGeom>
          <a:solidFill>
            <a:srgbClr val="0B2A65"/>
          </a:solidFill>
          <a:ln w="285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b="1" dirty="0"/>
              <a:t>Normative vs. Economic Perspective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752EAD87-4CBA-57A9-C77B-4E2D9EB9D5F6}"/>
              </a:ext>
            </a:extLst>
          </p:cNvPr>
          <p:cNvSpPr/>
          <p:nvPr/>
        </p:nvSpPr>
        <p:spPr>
          <a:xfrm>
            <a:off x="9721850" y="3333750"/>
            <a:ext cx="1552575" cy="1257300"/>
          </a:xfrm>
          <a:prstGeom prst="rect">
            <a:avLst/>
          </a:prstGeom>
          <a:ln w="28575">
            <a:solidFill>
              <a:schemeClr val="bg1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b="1" dirty="0"/>
              <a:t>4.</a:t>
            </a:r>
          </a:p>
        </p:txBody>
      </p:sp>
    </p:spTree>
    <p:extLst>
      <p:ext uri="{BB962C8B-B14F-4D97-AF65-F5344CB8AC3E}">
        <p14:creationId xmlns:p14="http://schemas.microsoft.com/office/powerpoint/2010/main" val="320234380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Rectangle 77">
            <a:extLst>
              <a:ext uri="{FF2B5EF4-FFF2-40B4-BE49-F238E27FC236}">
                <a16:creationId xmlns:a16="http://schemas.microsoft.com/office/drawing/2014/main" id="{4022B83B-9D10-9212-7FFC-29E7D67CE286}"/>
              </a:ext>
            </a:extLst>
          </p:cNvPr>
          <p:cNvSpPr/>
          <p:nvPr/>
        </p:nvSpPr>
        <p:spPr bwMode="auto">
          <a:xfrm>
            <a:off x="499716" y="4223992"/>
            <a:ext cx="5524847" cy="2176807"/>
          </a:xfrm>
          <a:prstGeom prst="rect">
            <a:avLst/>
          </a:prstGeom>
          <a:pattFill prst="dkUpDiag">
            <a:fgClr>
              <a:srgbClr val="D9ECFF"/>
            </a:fgClr>
            <a:bgClr>
              <a:schemeClr val="bg1"/>
            </a:bgClr>
          </a:pattFill>
          <a:ln w="19050" cap="flat" cmpd="sng" algn="ctr">
            <a:solidFill>
              <a:srgbClr val="B2D1DD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0" tIns="0" rIns="18288" bIns="18288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GB" sz="1400" b="0" i="0" u="none" strike="noStrike" cap="none" normalizeH="0" baseline="0" dirty="0">
              <a:ln>
                <a:noFill/>
              </a:ln>
              <a:solidFill>
                <a:srgbClr val="000000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  <p:sp>
        <p:nvSpPr>
          <p:cNvPr id="5" name="Rettangolo 4">
            <a:extLst>
              <a:ext uri="{FF2B5EF4-FFF2-40B4-BE49-F238E27FC236}">
                <a16:creationId xmlns:a16="http://schemas.microsoft.com/office/drawing/2014/main" id="{1F4AE6B2-5BC6-F0E9-7A72-7E6BDDE8686C}"/>
              </a:ext>
            </a:extLst>
          </p:cNvPr>
          <p:cNvSpPr/>
          <p:nvPr/>
        </p:nvSpPr>
        <p:spPr>
          <a:xfrm>
            <a:off x="6411570" y="1632402"/>
            <a:ext cx="5235008" cy="3164062"/>
          </a:xfrm>
          <a:prstGeom prst="rect">
            <a:avLst/>
          </a:prstGeom>
          <a:gradFill flip="none" rotWithShape="1">
            <a:gsLst>
              <a:gs pos="21000">
                <a:schemeClr val="bg1"/>
              </a:gs>
              <a:gs pos="100000">
                <a:schemeClr val="accent1">
                  <a:lumMod val="20000"/>
                  <a:lumOff val="80000"/>
                </a:schemeClr>
              </a:gs>
            </a:gsLst>
            <a:lin ang="162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>
              <a:solidFill>
                <a:schemeClr val="tx1"/>
              </a:solidFill>
            </a:endParaRPr>
          </a:p>
        </p:txBody>
      </p:sp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676C7755-5781-B6AD-FCBC-C7151AC2749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b="1" dirty="0"/>
              <a:t>Economic Perspective</a:t>
            </a:r>
          </a:p>
        </p:txBody>
      </p:sp>
      <p:sp>
        <p:nvSpPr>
          <p:cNvPr id="6" name="Rectangle 7">
            <a:extLst>
              <a:ext uri="{FF2B5EF4-FFF2-40B4-BE49-F238E27FC236}">
                <a16:creationId xmlns:a16="http://schemas.microsoft.com/office/drawing/2014/main" id="{62469621-A5EF-0666-9BFC-7B7D81B4C3B2}"/>
              </a:ext>
            </a:extLst>
          </p:cNvPr>
          <p:cNvSpPr/>
          <p:nvPr/>
        </p:nvSpPr>
        <p:spPr>
          <a:xfrm>
            <a:off x="391886" y="881744"/>
            <a:ext cx="11258246" cy="52251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800" b="1" dirty="0">
                <a:solidFill>
                  <a:schemeClr val="bg1"/>
                </a:solidFill>
              </a:rPr>
              <a:t>Key Features</a:t>
            </a:r>
            <a:endParaRPr lang="en-US" sz="1800" b="1" noProof="0" dirty="0">
              <a:solidFill>
                <a:schemeClr val="bg1"/>
              </a:solidFill>
            </a:endParaRPr>
          </a:p>
        </p:txBody>
      </p:sp>
      <p:sp>
        <p:nvSpPr>
          <p:cNvPr id="7" name="object 4">
            <a:extLst>
              <a:ext uri="{FF2B5EF4-FFF2-40B4-BE49-F238E27FC236}">
                <a16:creationId xmlns:a16="http://schemas.microsoft.com/office/drawing/2014/main" id="{98D0B9D7-08F2-DCF3-03BB-A3700A42F3DB}"/>
              </a:ext>
            </a:extLst>
          </p:cNvPr>
          <p:cNvSpPr/>
          <p:nvPr/>
        </p:nvSpPr>
        <p:spPr>
          <a:xfrm>
            <a:off x="819470" y="1632854"/>
            <a:ext cx="5201539" cy="720000"/>
          </a:xfrm>
          <a:prstGeom prst="rect">
            <a:avLst/>
          </a:prstGeom>
          <a:pattFill prst="dkUpDiag">
            <a:fgClr>
              <a:schemeClr val="bg2">
                <a:lumMod val="95000"/>
              </a:schemeClr>
            </a:fgClr>
            <a:bgClr>
              <a:schemeClr val="bg1"/>
            </a:bgClr>
          </a:pattFill>
        </p:spPr>
        <p:txBody>
          <a:bodyPr wrap="square" lIns="0" tIns="0" rIns="0" bIns="0" rtlCol="0"/>
          <a:lstStyle/>
          <a:p>
            <a:endParaRPr lang="en-US" dirty="0"/>
          </a:p>
        </p:txBody>
      </p:sp>
      <p:sp>
        <p:nvSpPr>
          <p:cNvPr id="8" name="object 4">
            <a:extLst>
              <a:ext uri="{FF2B5EF4-FFF2-40B4-BE49-F238E27FC236}">
                <a16:creationId xmlns:a16="http://schemas.microsoft.com/office/drawing/2014/main" id="{8B0AD87A-DDD9-736F-99E1-746C01F53427}"/>
              </a:ext>
            </a:extLst>
          </p:cNvPr>
          <p:cNvSpPr/>
          <p:nvPr/>
        </p:nvSpPr>
        <p:spPr>
          <a:xfrm>
            <a:off x="824364" y="2444261"/>
            <a:ext cx="5196645" cy="720000"/>
          </a:xfrm>
          <a:prstGeom prst="rect">
            <a:avLst/>
          </a:prstGeom>
          <a:pattFill prst="dkUpDiag">
            <a:fgClr>
              <a:schemeClr val="bg2">
                <a:lumMod val="95000"/>
              </a:schemeClr>
            </a:fgClr>
            <a:bgClr>
              <a:schemeClr val="bg1"/>
            </a:bgClr>
          </a:pattFill>
        </p:spPr>
        <p:txBody>
          <a:bodyPr wrap="square" lIns="0" tIns="0" rIns="0" bIns="0" rtlCol="0"/>
          <a:lstStyle/>
          <a:p>
            <a:endParaRPr lang="en-US" dirty="0"/>
          </a:p>
        </p:txBody>
      </p:sp>
      <p:sp>
        <p:nvSpPr>
          <p:cNvPr id="9" name="object 4">
            <a:extLst>
              <a:ext uri="{FF2B5EF4-FFF2-40B4-BE49-F238E27FC236}">
                <a16:creationId xmlns:a16="http://schemas.microsoft.com/office/drawing/2014/main" id="{24463978-59E8-3D3F-D2CC-28923E533DDF}"/>
              </a:ext>
            </a:extLst>
          </p:cNvPr>
          <p:cNvSpPr/>
          <p:nvPr/>
        </p:nvSpPr>
        <p:spPr>
          <a:xfrm>
            <a:off x="824363" y="3247365"/>
            <a:ext cx="5196646" cy="719221"/>
          </a:xfrm>
          <a:prstGeom prst="rect">
            <a:avLst/>
          </a:prstGeom>
          <a:pattFill prst="dkUpDiag">
            <a:fgClr>
              <a:schemeClr val="bg2">
                <a:lumMod val="95000"/>
              </a:schemeClr>
            </a:fgClr>
            <a:bgClr>
              <a:schemeClr val="bg1"/>
            </a:bgClr>
          </a:pattFill>
        </p:spPr>
        <p:txBody>
          <a:bodyPr wrap="square" lIns="0" tIns="0" rIns="0" bIns="0" rtlCol="0"/>
          <a:lstStyle/>
          <a:p>
            <a:endParaRPr lang="en-US" dirty="0"/>
          </a:p>
        </p:txBody>
      </p:sp>
      <p:sp>
        <p:nvSpPr>
          <p:cNvPr id="10" name="object 6">
            <a:extLst>
              <a:ext uri="{FF2B5EF4-FFF2-40B4-BE49-F238E27FC236}">
                <a16:creationId xmlns:a16="http://schemas.microsoft.com/office/drawing/2014/main" id="{D76FA72F-A4E8-4F63-9BEA-E1A5B33B9A8D}"/>
              </a:ext>
            </a:extLst>
          </p:cNvPr>
          <p:cNvSpPr/>
          <p:nvPr/>
        </p:nvSpPr>
        <p:spPr>
          <a:xfrm>
            <a:off x="428909" y="1632401"/>
            <a:ext cx="743143" cy="741971"/>
          </a:xfrm>
          <a:custGeom>
            <a:avLst/>
            <a:gdLst/>
            <a:ahLst/>
            <a:cxnLst/>
            <a:rect l="l" t="t" r="r" b="b"/>
            <a:pathLst>
              <a:path w="1011555" h="1011555">
                <a:moveTo>
                  <a:pt x="0" y="505587"/>
                </a:moveTo>
                <a:lnTo>
                  <a:pt x="2315" y="456908"/>
                </a:lnTo>
                <a:lnTo>
                  <a:pt x="9119" y="409536"/>
                </a:lnTo>
                <a:lnTo>
                  <a:pt x="20200" y="363682"/>
                </a:lnTo>
                <a:lnTo>
                  <a:pt x="35346" y="319559"/>
                </a:lnTo>
                <a:lnTo>
                  <a:pt x="54344" y="277379"/>
                </a:lnTo>
                <a:lnTo>
                  <a:pt x="76983" y="237354"/>
                </a:lnTo>
                <a:lnTo>
                  <a:pt x="103049" y="199697"/>
                </a:lnTo>
                <a:lnTo>
                  <a:pt x="132332" y="164619"/>
                </a:lnTo>
                <a:lnTo>
                  <a:pt x="164619" y="132332"/>
                </a:lnTo>
                <a:lnTo>
                  <a:pt x="199697" y="103049"/>
                </a:lnTo>
                <a:lnTo>
                  <a:pt x="237354" y="76983"/>
                </a:lnTo>
                <a:lnTo>
                  <a:pt x="277379" y="54344"/>
                </a:lnTo>
                <a:lnTo>
                  <a:pt x="319559" y="35346"/>
                </a:lnTo>
                <a:lnTo>
                  <a:pt x="363682" y="20200"/>
                </a:lnTo>
                <a:lnTo>
                  <a:pt x="409536" y="9119"/>
                </a:lnTo>
                <a:lnTo>
                  <a:pt x="456908" y="2315"/>
                </a:lnTo>
                <a:lnTo>
                  <a:pt x="505587" y="0"/>
                </a:lnTo>
                <a:lnTo>
                  <a:pt x="554285" y="2315"/>
                </a:lnTo>
                <a:lnTo>
                  <a:pt x="601672" y="9119"/>
                </a:lnTo>
                <a:lnTo>
                  <a:pt x="647536" y="20200"/>
                </a:lnTo>
                <a:lnTo>
                  <a:pt x="691666" y="35346"/>
                </a:lnTo>
                <a:lnTo>
                  <a:pt x="733850" y="54344"/>
                </a:lnTo>
                <a:lnTo>
                  <a:pt x="773875" y="76983"/>
                </a:lnTo>
                <a:lnTo>
                  <a:pt x="811530" y="103049"/>
                </a:lnTo>
                <a:lnTo>
                  <a:pt x="846605" y="132332"/>
                </a:lnTo>
                <a:lnTo>
                  <a:pt x="878885" y="164619"/>
                </a:lnTo>
                <a:lnTo>
                  <a:pt x="908162" y="199697"/>
                </a:lnTo>
                <a:lnTo>
                  <a:pt x="934221" y="237354"/>
                </a:lnTo>
                <a:lnTo>
                  <a:pt x="956852" y="277379"/>
                </a:lnTo>
                <a:lnTo>
                  <a:pt x="975843" y="319559"/>
                </a:lnTo>
                <a:lnTo>
                  <a:pt x="990983" y="363682"/>
                </a:lnTo>
                <a:lnTo>
                  <a:pt x="1002059" y="409536"/>
                </a:lnTo>
                <a:lnTo>
                  <a:pt x="1008860" y="456908"/>
                </a:lnTo>
                <a:lnTo>
                  <a:pt x="1011174" y="505587"/>
                </a:lnTo>
                <a:lnTo>
                  <a:pt x="1008860" y="554285"/>
                </a:lnTo>
                <a:lnTo>
                  <a:pt x="1002059" y="601672"/>
                </a:lnTo>
                <a:lnTo>
                  <a:pt x="990983" y="647536"/>
                </a:lnTo>
                <a:lnTo>
                  <a:pt x="975843" y="691666"/>
                </a:lnTo>
                <a:lnTo>
                  <a:pt x="956852" y="733850"/>
                </a:lnTo>
                <a:lnTo>
                  <a:pt x="934221" y="773875"/>
                </a:lnTo>
                <a:lnTo>
                  <a:pt x="908162" y="811530"/>
                </a:lnTo>
                <a:lnTo>
                  <a:pt x="878885" y="846605"/>
                </a:lnTo>
                <a:lnTo>
                  <a:pt x="846605" y="878885"/>
                </a:lnTo>
                <a:lnTo>
                  <a:pt x="811530" y="908162"/>
                </a:lnTo>
                <a:lnTo>
                  <a:pt x="773875" y="934221"/>
                </a:lnTo>
                <a:lnTo>
                  <a:pt x="733850" y="956852"/>
                </a:lnTo>
                <a:lnTo>
                  <a:pt x="691666" y="975843"/>
                </a:lnTo>
                <a:lnTo>
                  <a:pt x="647536" y="990983"/>
                </a:lnTo>
                <a:lnTo>
                  <a:pt x="601672" y="1002059"/>
                </a:lnTo>
                <a:lnTo>
                  <a:pt x="554285" y="1008860"/>
                </a:lnTo>
                <a:lnTo>
                  <a:pt x="505587" y="1011174"/>
                </a:lnTo>
                <a:lnTo>
                  <a:pt x="456908" y="1008860"/>
                </a:lnTo>
                <a:lnTo>
                  <a:pt x="409536" y="1002059"/>
                </a:lnTo>
                <a:lnTo>
                  <a:pt x="363682" y="990983"/>
                </a:lnTo>
                <a:lnTo>
                  <a:pt x="319559" y="975843"/>
                </a:lnTo>
                <a:lnTo>
                  <a:pt x="277379" y="956852"/>
                </a:lnTo>
                <a:lnTo>
                  <a:pt x="237354" y="934221"/>
                </a:lnTo>
                <a:lnTo>
                  <a:pt x="199697" y="908162"/>
                </a:lnTo>
                <a:lnTo>
                  <a:pt x="164619" y="878885"/>
                </a:lnTo>
                <a:lnTo>
                  <a:pt x="132332" y="846605"/>
                </a:lnTo>
                <a:lnTo>
                  <a:pt x="103049" y="811530"/>
                </a:lnTo>
                <a:lnTo>
                  <a:pt x="76983" y="773875"/>
                </a:lnTo>
                <a:lnTo>
                  <a:pt x="54344" y="733850"/>
                </a:lnTo>
                <a:lnTo>
                  <a:pt x="35346" y="691666"/>
                </a:lnTo>
                <a:lnTo>
                  <a:pt x="20200" y="647536"/>
                </a:lnTo>
                <a:lnTo>
                  <a:pt x="9119" y="601672"/>
                </a:lnTo>
                <a:lnTo>
                  <a:pt x="2315" y="554285"/>
                </a:lnTo>
                <a:lnTo>
                  <a:pt x="0" y="505587"/>
                </a:lnTo>
                <a:close/>
              </a:path>
            </a:pathLst>
          </a:custGeom>
          <a:solidFill>
            <a:srgbClr val="1A5187"/>
          </a:solidFill>
          <a:ln w="57150">
            <a:noFill/>
          </a:ln>
        </p:spPr>
        <p:txBody>
          <a:bodyPr wrap="square" lIns="0" tIns="0" rIns="0" bIns="0" rtlCol="0"/>
          <a:lstStyle/>
          <a:p>
            <a:endParaRPr lang="en-US" dirty="0"/>
          </a:p>
        </p:txBody>
      </p:sp>
      <p:sp>
        <p:nvSpPr>
          <p:cNvPr id="13" name="object 8">
            <a:extLst>
              <a:ext uri="{FF2B5EF4-FFF2-40B4-BE49-F238E27FC236}">
                <a16:creationId xmlns:a16="http://schemas.microsoft.com/office/drawing/2014/main" id="{D70C54AB-E182-E0E3-4C3C-8652511B0B0B}"/>
              </a:ext>
            </a:extLst>
          </p:cNvPr>
          <p:cNvSpPr txBox="1"/>
          <p:nvPr/>
        </p:nvSpPr>
        <p:spPr>
          <a:xfrm>
            <a:off x="1227612" y="1661663"/>
            <a:ext cx="4664161" cy="659155"/>
          </a:xfrm>
          <a:prstGeom prst="rect">
            <a:avLst/>
          </a:prstGeom>
        </p:spPr>
        <p:txBody>
          <a:bodyPr vert="horz" wrap="square" lIns="0" tIns="12700" rIns="0" bIns="0" rtlCol="0" anchor="t">
            <a:spAutoFit/>
          </a:bodyPr>
          <a:lstStyle/>
          <a:p>
            <a:r>
              <a:rPr lang="en-US" sz="1400" b="1" dirty="0"/>
              <a:t>The Economic Perspective </a:t>
            </a:r>
            <a:r>
              <a:rPr lang="en-US" sz="1400" dirty="0"/>
              <a:t>assesses if the Bank's internal capital is sufficient to absorb all economic risks, including both expected and unexpected losses.</a:t>
            </a:r>
          </a:p>
        </p:txBody>
      </p:sp>
      <p:sp>
        <p:nvSpPr>
          <p:cNvPr id="14" name="Oval 165">
            <a:extLst>
              <a:ext uri="{FF2B5EF4-FFF2-40B4-BE49-F238E27FC236}">
                <a16:creationId xmlns:a16="http://schemas.microsoft.com/office/drawing/2014/main" id="{E13B67F5-CEE4-4C9C-EED8-9BF0E3123B6F}"/>
              </a:ext>
            </a:extLst>
          </p:cNvPr>
          <p:cNvSpPr/>
          <p:nvPr/>
        </p:nvSpPr>
        <p:spPr bwMode="auto">
          <a:xfrm>
            <a:off x="496162" y="1701235"/>
            <a:ext cx="612000" cy="611035"/>
          </a:xfrm>
          <a:prstGeom prst="ellipse">
            <a:avLst/>
          </a:prstGeom>
          <a:solidFill>
            <a:srgbClr val="F0F7FF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>
            <a:innerShdw blurRad="114300">
              <a:srgbClr val="1A5187">
                <a:alpha val="15000"/>
              </a:srgbClr>
            </a:innerShdw>
          </a:effectLst>
        </p:spPr>
        <p:txBody>
          <a:bodyPr vert="horz" wrap="none" lIns="0" tIns="0" rIns="18288" bIns="18288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400" b="0" i="0" u="none" strike="noStrike" cap="none" normalizeH="0" baseline="0" dirty="0">
              <a:ln>
                <a:noFill/>
              </a:ln>
              <a:solidFill>
                <a:srgbClr val="000000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  <p:sp>
        <p:nvSpPr>
          <p:cNvPr id="15" name="object 8">
            <a:extLst>
              <a:ext uri="{FF2B5EF4-FFF2-40B4-BE49-F238E27FC236}">
                <a16:creationId xmlns:a16="http://schemas.microsoft.com/office/drawing/2014/main" id="{552FED1F-D476-83B3-9C23-0E9C6A95705B}"/>
              </a:ext>
            </a:extLst>
          </p:cNvPr>
          <p:cNvSpPr txBox="1"/>
          <p:nvPr/>
        </p:nvSpPr>
        <p:spPr>
          <a:xfrm>
            <a:off x="1254669" y="2507771"/>
            <a:ext cx="4664160" cy="174407"/>
          </a:xfrm>
          <a:prstGeom prst="rect">
            <a:avLst/>
          </a:prstGeom>
        </p:spPr>
        <p:txBody>
          <a:bodyPr vert="horz" wrap="square" lIns="0" tIns="12700" rIns="0" bIns="0" rtlCol="0" anchor="t">
            <a:spAutoFit/>
          </a:bodyPr>
          <a:lstStyle/>
          <a:p>
            <a:r>
              <a:rPr lang="en-US" sz="1050" dirty="0"/>
              <a:t> </a:t>
            </a:r>
          </a:p>
        </p:txBody>
      </p:sp>
      <p:sp>
        <p:nvSpPr>
          <p:cNvPr id="16" name="object 8">
            <a:extLst>
              <a:ext uri="{FF2B5EF4-FFF2-40B4-BE49-F238E27FC236}">
                <a16:creationId xmlns:a16="http://schemas.microsoft.com/office/drawing/2014/main" id="{0323E19F-FED3-1D2E-A97E-119C5F0F07B5}"/>
              </a:ext>
            </a:extLst>
          </p:cNvPr>
          <p:cNvSpPr txBox="1"/>
          <p:nvPr/>
        </p:nvSpPr>
        <p:spPr>
          <a:xfrm>
            <a:off x="1217793" y="2577013"/>
            <a:ext cx="4664161" cy="443711"/>
          </a:xfrm>
          <a:prstGeom prst="rect">
            <a:avLst/>
          </a:prstGeom>
        </p:spPr>
        <p:txBody>
          <a:bodyPr vert="horz" wrap="square" lIns="0" tIns="12700" rIns="0" bIns="0" rtlCol="0" anchor="t">
            <a:spAutoFit/>
          </a:bodyPr>
          <a:lstStyle/>
          <a:p>
            <a:r>
              <a:rPr lang="en-US" sz="1400" b="1" dirty="0">
                <a:ea typeface="+mn-lt"/>
                <a:cs typeface="+mn-lt"/>
              </a:rPr>
              <a:t>Confidence level: </a:t>
            </a:r>
            <a:r>
              <a:rPr lang="en-US" sz="1400" dirty="0">
                <a:ea typeface="+mn-lt"/>
                <a:cs typeface="+mn-lt"/>
              </a:rPr>
              <a:t>99.9% uniformly applied across all risk types.</a:t>
            </a:r>
            <a:endParaRPr lang="en-US" sz="1600" dirty="0"/>
          </a:p>
        </p:txBody>
      </p:sp>
      <p:sp>
        <p:nvSpPr>
          <p:cNvPr id="17" name="object 8">
            <a:extLst>
              <a:ext uri="{FF2B5EF4-FFF2-40B4-BE49-F238E27FC236}">
                <a16:creationId xmlns:a16="http://schemas.microsoft.com/office/drawing/2014/main" id="{52E0BF15-0014-49A5-0B28-6B93DB7AB504}"/>
              </a:ext>
            </a:extLst>
          </p:cNvPr>
          <p:cNvSpPr txBox="1"/>
          <p:nvPr/>
        </p:nvSpPr>
        <p:spPr>
          <a:xfrm>
            <a:off x="1227611" y="3372023"/>
            <a:ext cx="4664161" cy="443711"/>
          </a:xfrm>
          <a:prstGeom prst="rect">
            <a:avLst/>
          </a:prstGeom>
        </p:spPr>
        <p:txBody>
          <a:bodyPr vert="horz" wrap="square" lIns="0" tIns="12700" rIns="0" bIns="0" rtlCol="0" anchor="t">
            <a:spAutoFit/>
          </a:bodyPr>
          <a:lstStyle/>
          <a:p>
            <a:r>
              <a:rPr lang="en-US" sz="1400" b="1" dirty="0"/>
              <a:t>Short Term Horizon: </a:t>
            </a:r>
            <a:r>
              <a:rPr lang="en-US" sz="1400" dirty="0"/>
              <a:t>monthly calculations.</a:t>
            </a:r>
            <a:endParaRPr lang="en-US" sz="1400" b="1" dirty="0"/>
          </a:p>
          <a:p>
            <a:r>
              <a:rPr lang="en-US" sz="1400" b="1" dirty="0"/>
              <a:t>Long Term Horizon: </a:t>
            </a:r>
            <a:r>
              <a:rPr lang="en-US" sz="1400" dirty="0"/>
              <a:t>quarterly calculations.</a:t>
            </a:r>
          </a:p>
        </p:txBody>
      </p:sp>
      <p:pic>
        <p:nvPicPr>
          <p:cNvPr id="20" name="Graphic 195" descr="Abaco con riempimento a tinta unita">
            <a:extLst>
              <a:ext uri="{FF2B5EF4-FFF2-40B4-BE49-F238E27FC236}">
                <a16:creationId xmlns:a16="http://schemas.microsoft.com/office/drawing/2014/main" id="{71EEB27E-5429-36E7-624A-96749A6708D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599413" y="1791235"/>
            <a:ext cx="393429" cy="393429"/>
          </a:xfrm>
          <a:prstGeom prst="rect">
            <a:avLst/>
          </a:prstGeom>
        </p:spPr>
      </p:pic>
      <p:sp>
        <p:nvSpPr>
          <p:cNvPr id="43" name="object 6">
            <a:extLst>
              <a:ext uri="{FF2B5EF4-FFF2-40B4-BE49-F238E27FC236}">
                <a16:creationId xmlns:a16="http://schemas.microsoft.com/office/drawing/2014/main" id="{141E5EEF-1183-BEC6-242B-64C4DAA74B8A}"/>
              </a:ext>
            </a:extLst>
          </p:cNvPr>
          <p:cNvSpPr/>
          <p:nvPr/>
        </p:nvSpPr>
        <p:spPr>
          <a:xfrm>
            <a:off x="428909" y="2434278"/>
            <a:ext cx="743143" cy="741971"/>
          </a:xfrm>
          <a:custGeom>
            <a:avLst/>
            <a:gdLst/>
            <a:ahLst/>
            <a:cxnLst/>
            <a:rect l="l" t="t" r="r" b="b"/>
            <a:pathLst>
              <a:path w="1011555" h="1011555">
                <a:moveTo>
                  <a:pt x="0" y="505587"/>
                </a:moveTo>
                <a:lnTo>
                  <a:pt x="2315" y="456908"/>
                </a:lnTo>
                <a:lnTo>
                  <a:pt x="9119" y="409536"/>
                </a:lnTo>
                <a:lnTo>
                  <a:pt x="20200" y="363682"/>
                </a:lnTo>
                <a:lnTo>
                  <a:pt x="35346" y="319559"/>
                </a:lnTo>
                <a:lnTo>
                  <a:pt x="54344" y="277379"/>
                </a:lnTo>
                <a:lnTo>
                  <a:pt x="76983" y="237354"/>
                </a:lnTo>
                <a:lnTo>
                  <a:pt x="103049" y="199697"/>
                </a:lnTo>
                <a:lnTo>
                  <a:pt x="132332" y="164619"/>
                </a:lnTo>
                <a:lnTo>
                  <a:pt x="164619" y="132332"/>
                </a:lnTo>
                <a:lnTo>
                  <a:pt x="199697" y="103049"/>
                </a:lnTo>
                <a:lnTo>
                  <a:pt x="237354" y="76983"/>
                </a:lnTo>
                <a:lnTo>
                  <a:pt x="277379" y="54344"/>
                </a:lnTo>
                <a:lnTo>
                  <a:pt x="319559" y="35346"/>
                </a:lnTo>
                <a:lnTo>
                  <a:pt x="363682" y="20200"/>
                </a:lnTo>
                <a:lnTo>
                  <a:pt x="409536" y="9119"/>
                </a:lnTo>
                <a:lnTo>
                  <a:pt x="456908" y="2315"/>
                </a:lnTo>
                <a:lnTo>
                  <a:pt x="505587" y="0"/>
                </a:lnTo>
                <a:lnTo>
                  <a:pt x="554285" y="2315"/>
                </a:lnTo>
                <a:lnTo>
                  <a:pt x="601672" y="9119"/>
                </a:lnTo>
                <a:lnTo>
                  <a:pt x="647536" y="20200"/>
                </a:lnTo>
                <a:lnTo>
                  <a:pt x="691666" y="35346"/>
                </a:lnTo>
                <a:lnTo>
                  <a:pt x="733850" y="54344"/>
                </a:lnTo>
                <a:lnTo>
                  <a:pt x="773875" y="76983"/>
                </a:lnTo>
                <a:lnTo>
                  <a:pt x="811530" y="103049"/>
                </a:lnTo>
                <a:lnTo>
                  <a:pt x="846605" y="132332"/>
                </a:lnTo>
                <a:lnTo>
                  <a:pt x="878885" y="164619"/>
                </a:lnTo>
                <a:lnTo>
                  <a:pt x="908162" y="199697"/>
                </a:lnTo>
                <a:lnTo>
                  <a:pt x="934221" y="237354"/>
                </a:lnTo>
                <a:lnTo>
                  <a:pt x="956852" y="277379"/>
                </a:lnTo>
                <a:lnTo>
                  <a:pt x="975843" y="319559"/>
                </a:lnTo>
                <a:lnTo>
                  <a:pt x="990983" y="363682"/>
                </a:lnTo>
                <a:lnTo>
                  <a:pt x="1002059" y="409536"/>
                </a:lnTo>
                <a:lnTo>
                  <a:pt x="1008860" y="456908"/>
                </a:lnTo>
                <a:lnTo>
                  <a:pt x="1011174" y="505587"/>
                </a:lnTo>
                <a:lnTo>
                  <a:pt x="1008860" y="554285"/>
                </a:lnTo>
                <a:lnTo>
                  <a:pt x="1002059" y="601672"/>
                </a:lnTo>
                <a:lnTo>
                  <a:pt x="990983" y="647536"/>
                </a:lnTo>
                <a:lnTo>
                  <a:pt x="975843" y="691666"/>
                </a:lnTo>
                <a:lnTo>
                  <a:pt x="956852" y="733850"/>
                </a:lnTo>
                <a:lnTo>
                  <a:pt x="934221" y="773875"/>
                </a:lnTo>
                <a:lnTo>
                  <a:pt x="908162" y="811530"/>
                </a:lnTo>
                <a:lnTo>
                  <a:pt x="878885" y="846605"/>
                </a:lnTo>
                <a:lnTo>
                  <a:pt x="846605" y="878885"/>
                </a:lnTo>
                <a:lnTo>
                  <a:pt x="811530" y="908162"/>
                </a:lnTo>
                <a:lnTo>
                  <a:pt x="773875" y="934221"/>
                </a:lnTo>
                <a:lnTo>
                  <a:pt x="733850" y="956852"/>
                </a:lnTo>
                <a:lnTo>
                  <a:pt x="691666" y="975843"/>
                </a:lnTo>
                <a:lnTo>
                  <a:pt x="647536" y="990983"/>
                </a:lnTo>
                <a:lnTo>
                  <a:pt x="601672" y="1002059"/>
                </a:lnTo>
                <a:lnTo>
                  <a:pt x="554285" y="1008860"/>
                </a:lnTo>
                <a:lnTo>
                  <a:pt x="505587" y="1011174"/>
                </a:lnTo>
                <a:lnTo>
                  <a:pt x="456908" y="1008860"/>
                </a:lnTo>
                <a:lnTo>
                  <a:pt x="409536" y="1002059"/>
                </a:lnTo>
                <a:lnTo>
                  <a:pt x="363682" y="990983"/>
                </a:lnTo>
                <a:lnTo>
                  <a:pt x="319559" y="975843"/>
                </a:lnTo>
                <a:lnTo>
                  <a:pt x="277379" y="956852"/>
                </a:lnTo>
                <a:lnTo>
                  <a:pt x="237354" y="934221"/>
                </a:lnTo>
                <a:lnTo>
                  <a:pt x="199697" y="908162"/>
                </a:lnTo>
                <a:lnTo>
                  <a:pt x="164619" y="878885"/>
                </a:lnTo>
                <a:lnTo>
                  <a:pt x="132332" y="846605"/>
                </a:lnTo>
                <a:lnTo>
                  <a:pt x="103049" y="811530"/>
                </a:lnTo>
                <a:lnTo>
                  <a:pt x="76983" y="773875"/>
                </a:lnTo>
                <a:lnTo>
                  <a:pt x="54344" y="733850"/>
                </a:lnTo>
                <a:lnTo>
                  <a:pt x="35346" y="691666"/>
                </a:lnTo>
                <a:lnTo>
                  <a:pt x="20200" y="647536"/>
                </a:lnTo>
                <a:lnTo>
                  <a:pt x="9119" y="601672"/>
                </a:lnTo>
                <a:lnTo>
                  <a:pt x="2315" y="554285"/>
                </a:lnTo>
                <a:lnTo>
                  <a:pt x="0" y="505587"/>
                </a:lnTo>
                <a:close/>
              </a:path>
            </a:pathLst>
          </a:custGeom>
          <a:solidFill>
            <a:srgbClr val="1A5187"/>
          </a:solidFill>
          <a:ln w="57150">
            <a:noFill/>
          </a:ln>
        </p:spPr>
        <p:txBody>
          <a:bodyPr wrap="square" lIns="0" tIns="0" rIns="0" bIns="0" rtlCol="0"/>
          <a:lstStyle/>
          <a:p>
            <a:endParaRPr lang="en-US" dirty="0"/>
          </a:p>
        </p:txBody>
      </p:sp>
      <p:sp>
        <p:nvSpPr>
          <p:cNvPr id="44" name="Oval 165">
            <a:extLst>
              <a:ext uri="{FF2B5EF4-FFF2-40B4-BE49-F238E27FC236}">
                <a16:creationId xmlns:a16="http://schemas.microsoft.com/office/drawing/2014/main" id="{49BD7FF5-3EE9-7A7B-846A-B78F64F44201}"/>
              </a:ext>
            </a:extLst>
          </p:cNvPr>
          <p:cNvSpPr/>
          <p:nvPr/>
        </p:nvSpPr>
        <p:spPr bwMode="auto">
          <a:xfrm>
            <a:off x="496162" y="2503112"/>
            <a:ext cx="612000" cy="611035"/>
          </a:xfrm>
          <a:prstGeom prst="ellipse">
            <a:avLst/>
          </a:prstGeom>
          <a:solidFill>
            <a:srgbClr val="F0F7FF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>
            <a:innerShdw blurRad="114300">
              <a:srgbClr val="1A5187">
                <a:alpha val="15000"/>
              </a:srgbClr>
            </a:innerShdw>
          </a:effectLst>
        </p:spPr>
        <p:txBody>
          <a:bodyPr vert="horz" wrap="none" lIns="0" tIns="0" rIns="18288" bIns="18288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400" b="0" i="0" u="none" strike="noStrike" cap="none" normalizeH="0" baseline="0" dirty="0">
              <a:ln>
                <a:noFill/>
              </a:ln>
              <a:solidFill>
                <a:srgbClr val="000000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  <p:pic>
        <p:nvPicPr>
          <p:cNvPr id="45" name="Graphic 195" descr="Metronomo con riempimento a tinta unita">
            <a:extLst>
              <a:ext uri="{FF2B5EF4-FFF2-40B4-BE49-F238E27FC236}">
                <a16:creationId xmlns:a16="http://schemas.microsoft.com/office/drawing/2014/main" id="{4EA124EC-FB45-0D7A-0F8B-BC7E6113465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/>
        </p:blipFill>
        <p:spPr>
          <a:xfrm>
            <a:off x="599413" y="2593112"/>
            <a:ext cx="393429" cy="393429"/>
          </a:xfrm>
          <a:prstGeom prst="rect">
            <a:avLst/>
          </a:prstGeom>
        </p:spPr>
      </p:pic>
      <p:sp>
        <p:nvSpPr>
          <p:cNvPr id="46" name="object 6">
            <a:extLst>
              <a:ext uri="{FF2B5EF4-FFF2-40B4-BE49-F238E27FC236}">
                <a16:creationId xmlns:a16="http://schemas.microsoft.com/office/drawing/2014/main" id="{73CDE279-1F61-936A-EBF2-A991D0158B66}"/>
              </a:ext>
            </a:extLst>
          </p:cNvPr>
          <p:cNvSpPr/>
          <p:nvPr/>
        </p:nvSpPr>
        <p:spPr>
          <a:xfrm>
            <a:off x="428909" y="3238331"/>
            <a:ext cx="743143" cy="741971"/>
          </a:xfrm>
          <a:custGeom>
            <a:avLst/>
            <a:gdLst/>
            <a:ahLst/>
            <a:cxnLst/>
            <a:rect l="l" t="t" r="r" b="b"/>
            <a:pathLst>
              <a:path w="1011555" h="1011555">
                <a:moveTo>
                  <a:pt x="0" y="505587"/>
                </a:moveTo>
                <a:lnTo>
                  <a:pt x="2315" y="456908"/>
                </a:lnTo>
                <a:lnTo>
                  <a:pt x="9119" y="409536"/>
                </a:lnTo>
                <a:lnTo>
                  <a:pt x="20200" y="363682"/>
                </a:lnTo>
                <a:lnTo>
                  <a:pt x="35346" y="319559"/>
                </a:lnTo>
                <a:lnTo>
                  <a:pt x="54344" y="277379"/>
                </a:lnTo>
                <a:lnTo>
                  <a:pt x="76983" y="237354"/>
                </a:lnTo>
                <a:lnTo>
                  <a:pt x="103049" y="199697"/>
                </a:lnTo>
                <a:lnTo>
                  <a:pt x="132332" y="164619"/>
                </a:lnTo>
                <a:lnTo>
                  <a:pt x="164619" y="132332"/>
                </a:lnTo>
                <a:lnTo>
                  <a:pt x="199697" y="103049"/>
                </a:lnTo>
                <a:lnTo>
                  <a:pt x="237354" y="76983"/>
                </a:lnTo>
                <a:lnTo>
                  <a:pt x="277379" y="54344"/>
                </a:lnTo>
                <a:lnTo>
                  <a:pt x="319559" y="35346"/>
                </a:lnTo>
                <a:lnTo>
                  <a:pt x="363682" y="20200"/>
                </a:lnTo>
                <a:lnTo>
                  <a:pt x="409536" y="9119"/>
                </a:lnTo>
                <a:lnTo>
                  <a:pt x="456908" y="2315"/>
                </a:lnTo>
                <a:lnTo>
                  <a:pt x="505587" y="0"/>
                </a:lnTo>
                <a:lnTo>
                  <a:pt x="554285" y="2315"/>
                </a:lnTo>
                <a:lnTo>
                  <a:pt x="601672" y="9119"/>
                </a:lnTo>
                <a:lnTo>
                  <a:pt x="647536" y="20200"/>
                </a:lnTo>
                <a:lnTo>
                  <a:pt x="691666" y="35346"/>
                </a:lnTo>
                <a:lnTo>
                  <a:pt x="733850" y="54344"/>
                </a:lnTo>
                <a:lnTo>
                  <a:pt x="773875" y="76983"/>
                </a:lnTo>
                <a:lnTo>
                  <a:pt x="811530" y="103049"/>
                </a:lnTo>
                <a:lnTo>
                  <a:pt x="846605" y="132332"/>
                </a:lnTo>
                <a:lnTo>
                  <a:pt x="878885" y="164619"/>
                </a:lnTo>
                <a:lnTo>
                  <a:pt x="908162" y="199697"/>
                </a:lnTo>
                <a:lnTo>
                  <a:pt x="934221" y="237354"/>
                </a:lnTo>
                <a:lnTo>
                  <a:pt x="956852" y="277379"/>
                </a:lnTo>
                <a:lnTo>
                  <a:pt x="975843" y="319559"/>
                </a:lnTo>
                <a:lnTo>
                  <a:pt x="990983" y="363682"/>
                </a:lnTo>
                <a:lnTo>
                  <a:pt x="1002059" y="409536"/>
                </a:lnTo>
                <a:lnTo>
                  <a:pt x="1008860" y="456908"/>
                </a:lnTo>
                <a:lnTo>
                  <a:pt x="1011174" y="505587"/>
                </a:lnTo>
                <a:lnTo>
                  <a:pt x="1008860" y="554285"/>
                </a:lnTo>
                <a:lnTo>
                  <a:pt x="1002059" y="601672"/>
                </a:lnTo>
                <a:lnTo>
                  <a:pt x="990983" y="647536"/>
                </a:lnTo>
                <a:lnTo>
                  <a:pt x="975843" y="691666"/>
                </a:lnTo>
                <a:lnTo>
                  <a:pt x="956852" y="733850"/>
                </a:lnTo>
                <a:lnTo>
                  <a:pt x="934221" y="773875"/>
                </a:lnTo>
                <a:lnTo>
                  <a:pt x="908162" y="811530"/>
                </a:lnTo>
                <a:lnTo>
                  <a:pt x="878885" y="846605"/>
                </a:lnTo>
                <a:lnTo>
                  <a:pt x="846605" y="878885"/>
                </a:lnTo>
                <a:lnTo>
                  <a:pt x="811530" y="908162"/>
                </a:lnTo>
                <a:lnTo>
                  <a:pt x="773875" y="934221"/>
                </a:lnTo>
                <a:lnTo>
                  <a:pt x="733850" y="956852"/>
                </a:lnTo>
                <a:lnTo>
                  <a:pt x="691666" y="975843"/>
                </a:lnTo>
                <a:lnTo>
                  <a:pt x="647536" y="990983"/>
                </a:lnTo>
                <a:lnTo>
                  <a:pt x="601672" y="1002059"/>
                </a:lnTo>
                <a:lnTo>
                  <a:pt x="554285" y="1008860"/>
                </a:lnTo>
                <a:lnTo>
                  <a:pt x="505587" y="1011174"/>
                </a:lnTo>
                <a:lnTo>
                  <a:pt x="456908" y="1008860"/>
                </a:lnTo>
                <a:lnTo>
                  <a:pt x="409536" y="1002059"/>
                </a:lnTo>
                <a:lnTo>
                  <a:pt x="363682" y="990983"/>
                </a:lnTo>
                <a:lnTo>
                  <a:pt x="319559" y="975843"/>
                </a:lnTo>
                <a:lnTo>
                  <a:pt x="277379" y="956852"/>
                </a:lnTo>
                <a:lnTo>
                  <a:pt x="237354" y="934221"/>
                </a:lnTo>
                <a:lnTo>
                  <a:pt x="199697" y="908162"/>
                </a:lnTo>
                <a:lnTo>
                  <a:pt x="164619" y="878885"/>
                </a:lnTo>
                <a:lnTo>
                  <a:pt x="132332" y="846605"/>
                </a:lnTo>
                <a:lnTo>
                  <a:pt x="103049" y="811530"/>
                </a:lnTo>
                <a:lnTo>
                  <a:pt x="76983" y="773875"/>
                </a:lnTo>
                <a:lnTo>
                  <a:pt x="54344" y="733850"/>
                </a:lnTo>
                <a:lnTo>
                  <a:pt x="35346" y="691666"/>
                </a:lnTo>
                <a:lnTo>
                  <a:pt x="20200" y="647536"/>
                </a:lnTo>
                <a:lnTo>
                  <a:pt x="9119" y="601672"/>
                </a:lnTo>
                <a:lnTo>
                  <a:pt x="2315" y="554285"/>
                </a:lnTo>
                <a:lnTo>
                  <a:pt x="0" y="505587"/>
                </a:lnTo>
                <a:close/>
              </a:path>
            </a:pathLst>
          </a:custGeom>
          <a:solidFill>
            <a:srgbClr val="1A5187"/>
          </a:solidFill>
          <a:ln w="57150">
            <a:noFill/>
          </a:ln>
        </p:spPr>
        <p:txBody>
          <a:bodyPr wrap="square" lIns="0" tIns="0" rIns="0" bIns="0" rtlCol="0"/>
          <a:lstStyle/>
          <a:p>
            <a:endParaRPr lang="en-US" dirty="0"/>
          </a:p>
        </p:txBody>
      </p:sp>
      <p:sp>
        <p:nvSpPr>
          <p:cNvPr id="47" name="Oval 165">
            <a:extLst>
              <a:ext uri="{FF2B5EF4-FFF2-40B4-BE49-F238E27FC236}">
                <a16:creationId xmlns:a16="http://schemas.microsoft.com/office/drawing/2014/main" id="{285403CC-FBE3-1504-1121-9C39FCDB968C}"/>
              </a:ext>
            </a:extLst>
          </p:cNvPr>
          <p:cNvSpPr/>
          <p:nvPr/>
        </p:nvSpPr>
        <p:spPr bwMode="auto">
          <a:xfrm>
            <a:off x="496162" y="3307165"/>
            <a:ext cx="612000" cy="611035"/>
          </a:xfrm>
          <a:prstGeom prst="ellipse">
            <a:avLst/>
          </a:prstGeom>
          <a:solidFill>
            <a:srgbClr val="F0F7FF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>
            <a:innerShdw blurRad="114300">
              <a:srgbClr val="1A5187">
                <a:alpha val="15000"/>
              </a:srgbClr>
            </a:innerShdw>
          </a:effectLst>
        </p:spPr>
        <p:txBody>
          <a:bodyPr vert="horz" wrap="none" lIns="0" tIns="0" rIns="18288" bIns="18288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400" b="0" i="0" u="none" strike="noStrike" cap="none" normalizeH="0" baseline="0" dirty="0">
              <a:ln>
                <a:noFill/>
              </a:ln>
              <a:solidFill>
                <a:srgbClr val="000000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  <p:pic>
        <p:nvPicPr>
          <p:cNvPr id="48" name="Graphic 195" descr="Cronometro 75% con riempimento a tinta unita">
            <a:extLst>
              <a:ext uri="{FF2B5EF4-FFF2-40B4-BE49-F238E27FC236}">
                <a16:creationId xmlns:a16="http://schemas.microsoft.com/office/drawing/2014/main" id="{08D1BAAF-7B2B-3E89-DE88-7D8BF0B3EBD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/>
          <a:stretch/>
        </p:blipFill>
        <p:spPr>
          <a:xfrm>
            <a:off x="599413" y="3397165"/>
            <a:ext cx="393429" cy="393429"/>
          </a:xfrm>
          <a:prstGeom prst="rect">
            <a:avLst/>
          </a:prstGeom>
        </p:spPr>
      </p:pic>
      <p:sp>
        <p:nvSpPr>
          <p:cNvPr id="4" name="Rectangle 21">
            <a:extLst>
              <a:ext uri="{FF2B5EF4-FFF2-40B4-BE49-F238E27FC236}">
                <a16:creationId xmlns:a16="http://schemas.microsoft.com/office/drawing/2014/main" id="{7A06504D-04C8-D3EB-40DD-3BB7A435E5D1}"/>
              </a:ext>
            </a:extLst>
          </p:cNvPr>
          <p:cNvSpPr/>
          <p:nvPr/>
        </p:nvSpPr>
        <p:spPr>
          <a:xfrm>
            <a:off x="499716" y="4223992"/>
            <a:ext cx="5524847" cy="441417"/>
          </a:xfrm>
          <a:prstGeom prst="rect">
            <a:avLst/>
          </a:prstGeom>
          <a:noFill/>
          <a:ln>
            <a:solidFill>
              <a:srgbClr val="B2D1D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 dirty="0">
                <a:solidFill>
                  <a:schemeClr val="accent1"/>
                </a:solidFill>
              </a:rPr>
              <a:t>Risk Categories Covered </a:t>
            </a:r>
          </a:p>
        </p:txBody>
      </p:sp>
      <p:sp>
        <p:nvSpPr>
          <p:cNvPr id="11" name="TextBox 3">
            <a:extLst>
              <a:ext uri="{FF2B5EF4-FFF2-40B4-BE49-F238E27FC236}">
                <a16:creationId xmlns:a16="http://schemas.microsoft.com/office/drawing/2014/main" id="{4F0139A6-6E86-5DA8-35DD-89A08458CFD1}"/>
              </a:ext>
            </a:extLst>
          </p:cNvPr>
          <p:cNvSpPr txBox="1"/>
          <p:nvPr/>
        </p:nvSpPr>
        <p:spPr>
          <a:xfrm>
            <a:off x="602967" y="4934475"/>
            <a:ext cx="1442837" cy="307777"/>
          </a:xfrm>
          <a:prstGeom prst="rect">
            <a:avLst/>
          </a:prstGeom>
          <a:solidFill>
            <a:srgbClr val="255C8D">
              <a:alpha val="60000"/>
            </a:srgbClr>
          </a:solidFill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1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ea typeface="+mn-ea"/>
                <a:cs typeface="Arial" pitchFamily="34" charset="0"/>
              </a:rPr>
              <a:t>Credit Risk</a:t>
            </a:r>
          </a:p>
        </p:txBody>
      </p:sp>
      <p:sp>
        <p:nvSpPr>
          <p:cNvPr id="12" name="TextBox 3">
            <a:extLst>
              <a:ext uri="{FF2B5EF4-FFF2-40B4-BE49-F238E27FC236}">
                <a16:creationId xmlns:a16="http://schemas.microsoft.com/office/drawing/2014/main" id="{380FF45C-8D86-21B2-734B-CCB07E8AD52C}"/>
              </a:ext>
            </a:extLst>
          </p:cNvPr>
          <p:cNvSpPr txBox="1"/>
          <p:nvPr/>
        </p:nvSpPr>
        <p:spPr>
          <a:xfrm>
            <a:off x="2540719" y="4938166"/>
            <a:ext cx="1442837" cy="307777"/>
          </a:xfrm>
          <a:prstGeom prst="rect">
            <a:avLst/>
          </a:prstGeom>
          <a:solidFill>
            <a:srgbClr val="255C8D">
              <a:alpha val="60000"/>
            </a:srgbClr>
          </a:solidFill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1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ea typeface="+mn-ea"/>
                <a:cs typeface="Arial" pitchFamily="34" charset="0"/>
              </a:rPr>
              <a:t>Market Risk</a:t>
            </a:r>
          </a:p>
        </p:txBody>
      </p:sp>
      <p:sp>
        <p:nvSpPr>
          <p:cNvPr id="18" name="TextBox 3">
            <a:extLst>
              <a:ext uri="{FF2B5EF4-FFF2-40B4-BE49-F238E27FC236}">
                <a16:creationId xmlns:a16="http://schemas.microsoft.com/office/drawing/2014/main" id="{66F5BE2B-69BE-1E47-2EF7-05A02A52D792}"/>
              </a:ext>
            </a:extLst>
          </p:cNvPr>
          <p:cNvSpPr txBox="1"/>
          <p:nvPr/>
        </p:nvSpPr>
        <p:spPr>
          <a:xfrm>
            <a:off x="4478470" y="4934475"/>
            <a:ext cx="1442837" cy="307777"/>
          </a:xfrm>
          <a:prstGeom prst="rect">
            <a:avLst/>
          </a:prstGeom>
          <a:solidFill>
            <a:srgbClr val="255C8D">
              <a:alpha val="60000"/>
            </a:srgbClr>
          </a:solidFill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1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ea typeface="+mn-ea"/>
                <a:cs typeface="Arial" pitchFamily="34" charset="0"/>
              </a:rPr>
              <a:t>Liquidity Risk</a:t>
            </a:r>
          </a:p>
        </p:txBody>
      </p:sp>
      <p:sp>
        <p:nvSpPr>
          <p:cNvPr id="19" name="TextBox 3">
            <a:extLst>
              <a:ext uri="{FF2B5EF4-FFF2-40B4-BE49-F238E27FC236}">
                <a16:creationId xmlns:a16="http://schemas.microsoft.com/office/drawing/2014/main" id="{33515CF5-1801-68AF-63DA-5F78B62908AE}"/>
              </a:ext>
            </a:extLst>
          </p:cNvPr>
          <p:cNvSpPr txBox="1"/>
          <p:nvPr/>
        </p:nvSpPr>
        <p:spPr>
          <a:xfrm>
            <a:off x="604245" y="5580720"/>
            <a:ext cx="1441559" cy="523220"/>
          </a:xfrm>
          <a:prstGeom prst="rect">
            <a:avLst/>
          </a:prstGeom>
          <a:solidFill>
            <a:srgbClr val="255C8D">
              <a:alpha val="60000"/>
            </a:srgbClr>
          </a:solidFill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1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ea typeface="+mn-ea"/>
                <a:cs typeface="Arial" pitchFamily="34" charset="0"/>
              </a:rPr>
              <a:t>Non-Financial Risk</a:t>
            </a:r>
          </a:p>
        </p:txBody>
      </p:sp>
      <p:sp>
        <p:nvSpPr>
          <p:cNvPr id="21" name="TextBox 3">
            <a:extLst>
              <a:ext uri="{FF2B5EF4-FFF2-40B4-BE49-F238E27FC236}">
                <a16:creationId xmlns:a16="http://schemas.microsoft.com/office/drawing/2014/main" id="{C22EFD92-51CB-1154-CE39-217F43722D99}"/>
              </a:ext>
            </a:extLst>
          </p:cNvPr>
          <p:cNvSpPr txBox="1"/>
          <p:nvPr/>
        </p:nvSpPr>
        <p:spPr>
          <a:xfrm>
            <a:off x="4478470" y="5683835"/>
            <a:ext cx="1442837" cy="307777"/>
          </a:xfrm>
          <a:prstGeom prst="rect">
            <a:avLst/>
          </a:prstGeom>
          <a:solidFill>
            <a:srgbClr val="255C8D">
              <a:alpha val="60000"/>
            </a:srgbClr>
          </a:solidFill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1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ea typeface="+mn-ea"/>
                <a:cs typeface="Arial" pitchFamily="34" charset="0"/>
              </a:rPr>
              <a:t>Other Risks</a:t>
            </a:r>
          </a:p>
        </p:txBody>
      </p:sp>
      <p:sp>
        <p:nvSpPr>
          <p:cNvPr id="22" name="CasellaDiTesto 21">
            <a:extLst>
              <a:ext uri="{FF2B5EF4-FFF2-40B4-BE49-F238E27FC236}">
                <a16:creationId xmlns:a16="http://schemas.microsoft.com/office/drawing/2014/main" id="{0BDF9971-D9B8-03FD-94A2-DF2D0297DAE9}"/>
              </a:ext>
            </a:extLst>
          </p:cNvPr>
          <p:cNvSpPr txBox="1"/>
          <p:nvPr/>
        </p:nvSpPr>
        <p:spPr>
          <a:xfrm>
            <a:off x="6411570" y="1630362"/>
            <a:ext cx="5235008" cy="31085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b="1" dirty="0"/>
              <a:t>Aggregation</a:t>
            </a:r>
            <a:r>
              <a:rPr lang="en-US" sz="1400" dirty="0"/>
              <a:t>: individual risk types summed to total Group risk, then compared against available internal capital.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b="1" dirty="0"/>
              <a:t>Internal capital</a:t>
            </a:r>
            <a:r>
              <a:rPr lang="en-US" sz="1400" dirty="0"/>
              <a:t>: based on common equity with deductions (intangibles, goodwill, own credit risk) and specific add-ons.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b="1" dirty="0"/>
              <a:t>ESG integration</a:t>
            </a:r>
            <a:r>
              <a:rPr lang="en-US" sz="1400" dirty="0"/>
              <a:t>: quantified within each main risk category via an expert-model capital buffer.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b="1" dirty="0"/>
              <a:t>Capital buffer</a:t>
            </a:r>
            <a:r>
              <a:rPr lang="en-US" sz="1400" dirty="0"/>
              <a:t>: a dedicated discretionary buffer is allocated by the Management Board to always ensure risk coverage.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b="1" dirty="0"/>
              <a:t>Validation</a:t>
            </a:r>
            <a:r>
              <a:rPr lang="en-US" sz="1400" dirty="0"/>
              <a:t>: </a:t>
            </a:r>
            <a:r>
              <a:rPr lang="en-US" sz="1400" dirty="0" err="1"/>
              <a:t>qll</a:t>
            </a:r>
            <a:r>
              <a:rPr lang="en-US" sz="1400" dirty="0"/>
              <a:t> models subject to independent annual validation by the Validation division (second line of </a:t>
            </a:r>
            <a:r>
              <a:rPr lang="en-US" sz="1400" dirty="0" err="1"/>
              <a:t>defence</a:t>
            </a:r>
            <a:r>
              <a:rPr lang="en-US" sz="1400" dirty="0"/>
              <a:t>).</a:t>
            </a:r>
          </a:p>
        </p:txBody>
      </p:sp>
      <p:sp>
        <p:nvSpPr>
          <p:cNvPr id="23" name="TextBox 3">
            <a:extLst>
              <a:ext uri="{FF2B5EF4-FFF2-40B4-BE49-F238E27FC236}">
                <a16:creationId xmlns:a16="http://schemas.microsoft.com/office/drawing/2014/main" id="{586A7D89-3E1D-7E82-ADCB-0544FB979523}"/>
              </a:ext>
            </a:extLst>
          </p:cNvPr>
          <p:cNvSpPr txBox="1"/>
          <p:nvPr/>
        </p:nvSpPr>
        <p:spPr>
          <a:xfrm>
            <a:off x="2540719" y="5683835"/>
            <a:ext cx="1442837" cy="307777"/>
          </a:xfrm>
          <a:prstGeom prst="rect">
            <a:avLst/>
          </a:prstGeom>
          <a:solidFill>
            <a:srgbClr val="255C8D">
              <a:alpha val="60000"/>
            </a:srgbClr>
          </a:solidFill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1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ea typeface="+mn-ea"/>
                <a:cs typeface="Arial" pitchFamily="34" charset="0"/>
              </a:rPr>
              <a:t>ESG Risk</a:t>
            </a:r>
          </a:p>
        </p:txBody>
      </p:sp>
      <p:sp>
        <p:nvSpPr>
          <p:cNvPr id="3" name="NrmBar">
            <a:extLst>
              <a:ext uri="{FF2B5EF4-FFF2-40B4-BE49-F238E27FC236}">
                <a16:creationId xmlns:a16="http://schemas.microsoft.com/office/drawing/2014/main" id="{FAF2AAD1-BE2C-885B-EA70-CD44075ADAD1}"/>
              </a:ext>
            </a:extLst>
          </p:cNvPr>
          <p:cNvSpPr>
            <a:spLocks noGrp="1"/>
          </p:cNvSpPr>
          <p:nvPr/>
        </p:nvSpPr>
        <p:spPr>
          <a:xfrm flipH="1">
            <a:off x="6376221" y="1625378"/>
            <a:ext cx="45719" cy="4794064"/>
          </a:xfrm>
          <a:prstGeom prst="rect">
            <a:avLst/>
          </a:prstGeom>
          <a:solidFill>
            <a:srgbClr val="0B2B65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4" name="FtrT">
            <a:extLst>
              <a:ext uri="{FF2B5EF4-FFF2-40B4-BE49-F238E27FC236}">
                <a16:creationId xmlns:a16="http://schemas.microsoft.com/office/drawing/2014/main" id="{81834AA0-C9A5-0C4E-25E5-6A0564ADE6EE}"/>
              </a:ext>
            </a:extLst>
          </p:cNvPr>
          <p:cNvSpPr txBox="1">
            <a:spLocks noGrp="1"/>
          </p:cNvSpPr>
          <p:nvPr/>
        </p:nvSpPr>
        <p:spPr>
          <a:xfrm>
            <a:off x="228600" y="6477000"/>
            <a:ext cx="11430000" cy="317500"/>
          </a:xfrm>
          <a:prstGeom prst="rect">
            <a:avLst/>
          </a:prstGeom>
          <a:noFill/>
          <a:ln>
            <a:noFill/>
          </a:ln>
        </p:spPr>
        <p:txBody>
          <a:bodyPr wrap="square" anchor="ctr"/>
          <a:lstStyle/>
          <a:p>
            <a:r>
              <a:rPr lang="en-US" sz="1000" dirty="0"/>
              <a:t>Source: BAWAG Pillar 3 Qualitative Report 2025 (ICAAP)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0E4AA43C-F14B-5134-996E-31CA66EA0BA1}"/>
              </a:ext>
            </a:extLst>
          </p:cNvPr>
          <p:cNvSpPr txBox="1"/>
          <p:nvPr/>
        </p:nvSpPr>
        <p:spPr>
          <a:xfrm>
            <a:off x="6421941" y="5034446"/>
            <a:ext cx="5224638" cy="1384995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>
            <a:spAutoFit/>
          </a:bodyPr>
          <a:lstStyle/>
          <a:p>
            <a:r>
              <a:rPr lang="en-US" sz="1400" dirty="0"/>
              <a:t>The economic perspective is BAWAG's internal source of truth - it answers "how much capital do we actually need?" using market-calibrated models at 99.9% </a:t>
            </a:r>
            <a:r>
              <a:rPr lang="en-US" sz="1400" dirty="0" err="1"/>
              <a:t>VaR.</a:t>
            </a:r>
            <a:r>
              <a:rPr lang="en-US" sz="1400" dirty="0"/>
              <a:t> At 71.5% internal capital </a:t>
            </a:r>
            <a:r>
              <a:rPr lang="en-US" sz="1400" dirty="0" err="1"/>
              <a:t>utilisation</a:t>
            </a:r>
            <a:r>
              <a:rPr lang="en-US" sz="1400" dirty="0"/>
              <a:t>, BAWAG has 28.5pp of headroom vs. the 95% limit - significant resilience even under severe stress.</a:t>
            </a:r>
          </a:p>
        </p:txBody>
      </p:sp>
    </p:spTree>
    <p:extLst>
      <p:ext uri="{BB962C8B-B14F-4D97-AF65-F5344CB8AC3E}">
        <p14:creationId xmlns:p14="http://schemas.microsoft.com/office/powerpoint/2010/main" val="220127599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AEC033D-BE46-8395-007F-9183E690AF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ttangolo 4">
            <a:extLst>
              <a:ext uri="{FF2B5EF4-FFF2-40B4-BE49-F238E27FC236}">
                <a16:creationId xmlns:a16="http://schemas.microsoft.com/office/drawing/2014/main" id="{85936042-0CA3-C535-4D4A-B7C2A44B3C11}"/>
              </a:ext>
            </a:extLst>
          </p:cNvPr>
          <p:cNvSpPr/>
          <p:nvPr/>
        </p:nvSpPr>
        <p:spPr>
          <a:xfrm>
            <a:off x="6415124" y="1628322"/>
            <a:ext cx="5235008" cy="4772477"/>
          </a:xfrm>
          <a:prstGeom prst="rect">
            <a:avLst/>
          </a:prstGeom>
          <a:gradFill flip="none" rotWithShape="1">
            <a:gsLst>
              <a:gs pos="21000">
                <a:schemeClr val="bg1"/>
              </a:gs>
              <a:gs pos="100000">
                <a:schemeClr val="accent1">
                  <a:lumMod val="20000"/>
                  <a:lumOff val="80000"/>
                </a:schemeClr>
              </a:gs>
            </a:gsLst>
            <a:lin ang="162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b="1" dirty="0">
              <a:solidFill>
                <a:schemeClr val="tx1"/>
              </a:solidFill>
            </a:endParaRPr>
          </a:p>
        </p:txBody>
      </p:sp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4BA56EAF-E6BE-6A11-32AB-AEA543C7BB4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it-IT" b="1" dirty="0"/>
              <a:t>Normative </a:t>
            </a:r>
            <a:r>
              <a:rPr lang="it-IT" b="1" dirty="0" err="1"/>
              <a:t>Perspective</a:t>
            </a:r>
            <a:endParaRPr lang="en-GB" b="1" dirty="0"/>
          </a:p>
        </p:txBody>
      </p:sp>
      <p:sp>
        <p:nvSpPr>
          <p:cNvPr id="6" name="Rectangle 7">
            <a:extLst>
              <a:ext uri="{FF2B5EF4-FFF2-40B4-BE49-F238E27FC236}">
                <a16:creationId xmlns:a16="http://schemas.microsoft.com/office/drawing/2014/main" id="{A76BB033-FEF9-2F9E-9463-F9576F757B2B}"/>
              </a:ext>
            </a:extLst>
          </p:cNvPr>
          <p:cNvSpPr/>
          <p:nvPr/>
        </p:nvSpPr>
        <p:spPr>
          <a:xfrm>
            <a:off x="391886" y="881744"/>
            <a:ext cx="11258246" cy="522514"/>
          </a:xfrm>
          <a:prstGeom prst="rect">
            <a:avLst/>
          </a:prstGeom>
          <a:solidFill>
            <a:srgbClr val="0B2A65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800" b="1" dirty="0">
                <a:solidFill>
                  <a:schemeClr val="bg1"/>
                </a:solidFill>
              </a:rPr>
              <a:t>Key Features</a:t>
            </a:r>
            <a:endParaRPr lang="en-US" sz="1800" b="1" noProof="0" dirty="0">
              <a:solidFill>
                <a:schemeClr val="bg1"/>
              </a:solidFill>
            </a:endParaRPr>
          </a:p>
        </p:txBody>
      </p:sp>
      <p:sp>
        <p:nvSpPr>
          <p:cNvPr id="7" name="object 4">
            <a:extLst>
              <a:ext uri="{FF2B5EF4-FFF2-40B4-BE49-F238E27FC236}">
                <a16:creationId xmlns:a16="http://schemas.microsoft.com/office/drawing/2014/main" id="{1B11D712-E210-27E1-0D84-C19102EE4847}"/>
              </a:ext>
            </a:extLst>
          </p:cNvPr>
          <p:cNvSpPr/>
          <p:nvPr/>
        </p:nvSpPr>
        <p:spPr>
          <a:xfrm>
            <a:off x="823024" y="1628775"/>
            <a:ext cx="5201539" cy="720000"/>
          </a:xfrm>
          <a:prstGeom prst="rect">
            <a:avLst/>
          </a:prstGeom>
          <a:pattFill prst="dkUpDiag">
            <a:fgClr>
              <a:schemeClr val="bg2">
                <a:lumMod val="95000"/>
              </a:schemeClr>
            </a:fgClr>
            <a:bgClr>
              <a:schemeClr val="bg1"/>
            </a:bgClr>
          </a:patt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4">
            <a:extLst>
              <a:ext uri="{FF2B5EF4-FFF2-40B4-BE49-F238E27FC236}">
                <a16:creationId xmlns:a16="http://schemas.microsoft.com/office/drawing/2014/main" id="{351801B0-D3B6-73B9-5491-FC162D8448D6}"/>
              </a:ext>
            </a:extLst>
          </p:cNvPr>
          <p:cNvSpPr/>
          <p:nvPr/>
        </p:nvSpPr>
        <p:spPr>
          <a:xfrm>
            <a:off x="827918" y="2440182"/>
            <a:ext cx="5196645" cy="720000"/>
          </a:xfrm>
          <a:prstGeom prst="rect">
            <a:avLst/>
          </a:prstGeom>
          <a:pattFill prst="dkUpDiag">
            <a:fgClr>
              <a:schemeClr val="bg2">
                <a:lumMod val="95000"/>
              </a:schemeClr>
            </a:fgClr>
            <a:bgClr>
              <a:schemeClr val="bg1"/>
            </a:bgClr>
          </a:pattFill>
        </p:spPr>
        <p:txBody>
          <a:bodyPr wrap="square" lIns="0" tIns="0" rIns="0" bIns="0" rtlCol="0"/>
          <a:lstStyle/>
          <a:p>
            <a:endParaRPr lang="en-US"/>
          </a:p>
        </p:txBody>
      </p:sp>
      <p:sp>
        <p:nvSpPr>
          <p:cNvPr id="9" name="object 4">
            <a:extLst>
              <a:ext uri="{FF2B5EF4-FFF2-40B4-BE49-F238E27FC236}">
                <a16:creationId xmlns:a16="http://schemas.microsoft.com/office/drawing/2014/main" id="{C513B7DF-22D0-8CB6-7847-C76506C7127A}"/>
              </a:ext>
            </a:extLst>
          </p:cNvPr>
          <p:cNvSpPr/>
          <p:nvPr/>
        </p:nvSpPr>
        <p:spPr>
          <a:xfrm>
            <a:off x="827917" y="3243286"/>
            <a:ext cx="5196646" cy="719221"/>
          </a:xfrm>
          <a:prstGeom prst="rect">
            <a:avLst/>
          </a:prstGeom>
          <a:pattFill prst="dkUpDiag">
            <a:fgClr>
              <a:schemeClr val="bg2">
                <a:lumMod val="95000"/>
              </a:schemeClr>
            </a:fgClr>
            <a:bgClr>
              <a:schemeClr val="bg1"/>
            </a:bgClr>
          </a:pattFill>
        </p:spPr>
        <p:txBody>
          <a:bodyPr wrap="square" lIns="0" tIns="0" rIns="0" bIns="0" rtlCol="0"/>
          <a:lstStyle/>
          <a:p>
            <a:endParaRPr lang="en-US"/>
          </a:p>
        </p:txBody>
      </p:sp>
      <p:sp>
        <p:nvSpPr>
          <p:cNvPr id="10" name="object 6">
            <a:extLst>
              <a:ext uri="{FF2B5EF4-FFF2-40B4-BE49-F238E27FC236}">
                <a16:creationId xmlns:a16="http://schemas.microsoft.com/office/drawing/2014/main" id="{37BCD887-B309-BB86-408E-77C10C67D13A}"/>
              </a:ext>
            </a:extLst>
          </p:cNvPr>
          <p:cNvSpPr/>
          <p:nvPr/>
        </p:nvSpPr>
        <p:spPr>
          <a:xfrm>
            <a:off x="432463" y="1628322"/>
            <a:ext cx="743143" cy="741971"/>
          </a:xfrm>
          <a:custGeom>
            <a:avLst/>
            <a:gdLst/>
            <a:ahLst/>
            <a:cxnLst/>
            <a:rect l="l" t="t" r="r" b="b"/>
            <a:pathLst>
              <a:path w="1011555" h="1011555">
                <a:moveTo>
                  <a:pt x="0" y="505587"/>
                </a:moveTo>
                <a:lnTo>
                  <a:pt x="2315" y="456908"/>
                </a:lnTo>
                <a:lnTo>
                  <a:pt x="9119" y="409536"/>
                </a:lnTo>
                <a:lnTo>
                  <a:pt x="20200" y="363682"/>
                </a:lnTo>
                <a:lnTo>
                  <a:pt x="35346" y="319559"/>
                </a:lnTo>
                <a:lnTo>
                  <a:pt x="54344" y="277379"/>
                </a:lnTo>
                <a:lnTo>
                  <a:pt x="76983" y="237354"/>
                </a:lnTo>
                <a:lnTo>
                  <a:pt x="103049" y="199697"/>
                </a:lnTo>
                <a:lnTo>
                  <a:pt x="132332" y="164619"/>
                </a:lnTo>
                <a:lnTo>
                  <a:pt x="164619" y="132332"/>
                </a:lnTo>
                <a:lnTo>
                  <a:pt x="199697" y="103049"/>
                </a:lnTo>
                <a:lnTo>
                  <a:pt x="237354" y="76983"/>
                </a:lnTo>
                <a:lnTo>
                  <a:pt x="277379" y="54344"/>
                </a:lnTo>
                <a:lnTo>
                  <a:pt x="319559" y="35346"/>
                </a:lnTo>
                <a:lnTo>
                  <a:pt x="363682" y="20200"/>
                </a:lnTo>
                <a:lnTo>
                  <a:pt x="409536" y="9119"/>
                </a:lnTo>
                <a:lnTo>
                  <a:pt x="456908" y="2315"/>
                </a:lnTo>
                <a:lnTo>
                  <a:pt x="505587" y="0"/>
                </a:lnTo>
                <a:lnTo>
                  <a:pt x="554285" y="2315"/>
                </a:lnTo>
                <a:lnTo>
                  <a:pt x="601672" y="9119"/>
                </a:lnTo>
                <a:lnTo>
                  <a:pt x="647536" y="20200"/>
                </a:lnTo>
                <a:lnTo>
                  <a:pt x="691666" y="35346"/>
                </a:lnTo>
                <a:lnTo>
                  <a:pt x="733850" y="54344"/>
                </a:lnTo>
                <a:lnTo>
                  <a:pt x="773875" y="76983"/>
                </a:lnTo>
                <a:lnTo>
                  <a:pt x="811530" y="103049"/>
                </a:lnTo>
                <a:lnTo>
                  <a:pt x="846605" y="132332"/>
                </a:lnTo>
                <a:lnTo>
                  <a:pt x="878885" y="164619"/>
                </a:lnTo>
                <a:lnTo>
                  <a:pt x="908162" y="199697"/>
                </a:lnTo>
                <a:lnTo>
                  <a:pt x="934221" y="237354"/>
                </a:lnTo>
                <a:lnTo>
                  <a:pt x="956852" y="277379"/>
                </a:lnTo>
                <a:lnTo>
                  <a:pt x="975843" y="319559"/>
                </a:lnTo>
                <a:lnTo>
                  <a:pt x="990983" y="363682"/>
                </a:lnTo>
                <a:lnTo>
                  <a:pt x="1002059" y="409536"/>
                </a:lnTo>
                <a:lnTo>
                  <a:pt x="1008860" y="456908"/>
                </a:lnTo>
                <a:lnTo>
                  <a:pt x="1011174" y="505587"/>
                </a:lnTo>
                <a:lnTo>
                  <a:pt x="1008860" y="554285"/>
                </a:lnTo>
                <a:lnTo>
                  <a:pt x="1002059" y="601672"/>
                </a:lnTo>
                <a:lnTo>
                  <a:pt x="990983" y="647536"/>
                </a:lnTo>
                <a:lnTo>
                  <a:pt x="975843" y="691666"/>
                </a:lnTo>
                <a:lnTo>
                  <a:pt x="956852" y="733850"/>
                </a:lnTo>
                <a:lnTo>
                  <a:pt x="934221" y="773875"/>
                </a:lnTo>
                <a:lnTo>
                  <a:pt x="908162" y="811530"/>
                </a:lnTo>
                <a:lnTo>
                  <a:pt x="878885" y="846605"/>
                </a:lnTo>
                <a:lnTo>
                  <a:pt x="846605" y="878885"/>
                </a:lnTo>
                <a:lnTo>
                  <a:pt x="811530" y="908162"/>
                </a:lnTo>
                <a:lnTo>
                  <a:pt x="773875" y="934221"/>
                </a:lnTo>
                <a:lnTo>
                  <a:pt x="733850" y="956852"/>
                </a:lnTo>
                <a:lnTo>
                  <a:pt x="691666" y="975843"/>
                </a:lnTo>
                <a:lnTo>
                  <a:pt x="647536" y="990983"/>
                </a:lnTo>
                <a:lnTo>
                  <a:pt x="601672" y="1002059"/>
                </a:lnTo>
                <a:lnTo>
                  <a:pt x="554285" y="1008860"/>
                </a:lnTo>
                <a:lnTo>
                  <a:pt x="505587" y="1011174"/>
                </a:lnTo>
                <a:lnTo>
                  <a:pt x="456908" y="1008860"/>
                </a:lnTo>
                <a:lnTo>
                  <a:pt x="409536" y="1002059"/>
                </a:lnTo>
                <a:lnTo>
                  <a:pt x="363682" y="990983"/>
                </a:lnTo>
                <a:lnTo>
                  <a:pt x="319559" y="975843"/>
                </a:lnTo>
                <a:lnTo>
                  <a:pt x="277379" y="956852"/>
                </a:lnTo>
                <a:lnTo>
                  <a:pt x="237354" y="934221"/>
                </a:lnTo>
                <a:lnTo>
                  <a:pt x="199697" y="908162"/>
                </a:lnTo>
                <a:lnTo>
                  <a:pt x="164619" y="878885"/>
                </a:lnTo>
                <a:lnTo>
                  <a:pt x="132332" y="846605"/>
                </a:lnTo>
                <a:lnTo>
                  <a:pt x="103049" y="811530"/>
                </a:lnTo>
                <a:lnTo>
                  <a:pt x="76983" y="773875"/>
                </a:lnTo>
                <a:lnTo>
                  <a:pt x="54344" y="733850"/>
                </a:lnTo>
                <a:lnTo>
                  <a:pt x="35346" y="691666"/>
                </a:lnTo>
                <a:lnTo>
                  <a:pt x="20200" y="647536"/>
                </a:lnTo>
                <a:lnTo>
                  <a:pt x="9119" y="601672"/>
                </a:lnTo>
                <a:lnTo>
                  <a:pt x="2315" y="554285"/>
                </a:lnTo>
                <a:lnTo>
                  <a:pt x="0" y="505587"/>
                </a:lnTo>
                <a:close/>
              </a:path>
            </a:pathLst>
          </a:custGeom>
          <a:solidFill>
            <a:srgbClr val="1A5187"/>
          </a:solidFill>
          <a:ln w="57150">
            <a:noFill/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8">
            <a:extLst>
              <a:ext uri="{FF2B5EF4-FFF2-40B4-BE49-F238E27FC236}">
                <a16:creationId xmlns:a16="http://schemas.microsoft.com/office/drawing/2014/main" id="{B84CD037-9F17-05D7-E920-BB37B4807F8C}"/>
              </a:ext>
            </a:extLst>
          </p:cNvPr>
          <p:cNvSpPr txBox="1"/>
          <p:nvPr/>
        </p:nvSpPr>
        <p:spPr>
          <a:xfrm>
            <a:off x="1242859" y="1674414"/>
            <a:ext cx="4664161" cy="659155"/>
          </a:xfrm>
          <a:prstGeom prst="rect">
            <a:avLst/>
          </a:prstGeom>
        </p:spPr>
        <p:txBody>
          <a:bodyPr vert="horz" wrap="square" lIns="0" tIns="12700" rIns="0" bIns="0" rtlCol="0" anchor="t">
            <a:spAutoFit/>
          </a:bodyPr>
          <a:lstStyle/>
          <a:p>
            <a:r>
              <a:rPr lang="en-US" sz="1400" b="1" dirty="0"/>
              <a:t>The Normative Perspective </a:t>
            </a:r>
            <a:r>
              <a:rPr lang="en-US" sz="1400" dirty="0"/>
              <a:t>is forward-looking and based on regulatory capital ratios and P&amp;L projections.</a:t>
            </a:r>
          </a:p>
        </p:txBody>
      </p:sp>
      <p:sp>
        <p:nvSpPr>
          <p:cNvPr id="14" name="Oval 165">
            <a:extLst>
              <a:ext uri="{FF2B5EF4-FFF2-40B4-BE49-F238E27FC236}">
                <a16:creationId xmlns:a16="http://schemas.microsoft.com/office/drawing/2014/main" id="{24A31F29-1FC1-90E4-63EC-AE1209180B1A}"/>
              </a:ext>
            </a:extLst>
          </p:cNvPr>
          <p:cNvSpPr/>
          <p:nvPr/>
        </p:nvSpPr>
        <p:spPr bwMode="auto">
          <a:xfrm>
            <a:off x="499716" y="1697156"/>
            <a:ext cx="612000" cy="611035"/>
          </a:xfrm>
          <a:prstGeom prst="ellipse">
            <a:avLst/>
          </a:prstGeom>
          <a:solidFill>
            <a:srgbClr val="F0F7FF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>
            <a:innerShdw blurRad="114300">
              <a:srgbClr val="1A5187">
                <a:alpha val="15000"/>
              </a:srgbClr>
            </a:innerShdw>
          </a:effectLst>
        </p:spPr>
        <p:txBody>
          <a:bodyPr vert="horz" wrap="none" lIns="0" tIns="0" rIns="18288" bIns="18288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400" b="0" i="0" u="none" strike="noStrike" cap="none" normalizeH="0" baseline="0">
              <a:ln>
                <a:noFill/>
              </a:ln>
              <a:solidFill>
                <a:srgbClr val="000000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  <p:sp>
        <p:nvSpPr>
          <p:cNvPr id="15" name="object 8">
            <a:extLst>
              <a:ext uri="{FF2B5EF4-FFF2-40B4-BE49-F238E27FC236}">
                <a16:creationId xmlns:a16="http://schemas.microsoft.com/office/drawing/2014/main" id="{7570DFA9-D4C1-3E3F-B641-6A1046E26FC8}"/>
              </a:ext>
            </a:extLst>
          </p:cNvPr>
          <p:cNvSpPr txBox="1"/>
          <p:nvPr/>
        </p:nvSpPr>
        <p:spPr>
          <a:xfrm>
            <a:off x="1258223" y="2503692"/>
            <a:ext cx="4664160" cy="174407"/>
          </a:xfrm>
          <a:prstGeom prst="rect">
            <a:avLst/>
          </a:prstGeom>
        </p:spPr>
        <p:txBody>
          <a:bodyPr vert="horz" wrap="square" lIns="0" tIns="12700" rIns="0" bIns="0" rtlCol="0" anchor="t">
            <a:spAutoFit/>
          </a:bodyPr>
          <a:lstStyle/>
          <a:p>
            <a:r>
              <a:rPr lang="en-US" sz="1050"/>
              <a:t> </a:t>
            </a:r>
          </a:p>
        </p:txBody>
      </p:sp>
      <p:sp>
        <p:nvSpPr>
          <p:cNvPr id="16" name="object 8">
            <a:extLst>
              <a:ext uri="{FF2B5EF4-FFF2-40B4-BE49-F238E27FC236}">
                <a16:creationId xmlns:a16="http://schemas.microsoft.com/office/drawing/2014/main" id="{9093E033-AC56-6F17-70AB-4167C4457F3D}"/>
              </a:ext>
            </a:extLst>
          </p:cNvPr>
          <p:cNvSpPr txBox="1"/>
          <p:nvPr/>
        </p:nvSpPr>
        <p:spPr>
          <a:xfrm>
            <a:off x="1242859" y="2563891"/>
            <a:ext cx="4664161" cy="443711"/>
          </a:xfrm>
          <a:prstGeom prst="rect">
            <a:avLst/>
          </a:prstGeom>
        </p:spPr>
        <p:txBody>
          <a:bodyPr vert="horz" wrap="square" lIns="0" tIns="12700" rIns="0" bIns="0" rtlCol="0" anchor="t">
            <a:spAutoFit/>
          </a:bodyPr>
          <a:lstStyle/>
          <a:p>
            <a:r>
              <a:rPr lang="en-US" sz="1400" b="1" dirty="0">
                <a:ea typeface="+mn-lt"/>
                <a:cs typeface="+mn-lt"/>
              </a:rPr>
              <a:t>It does not apply a confidence level, but uses capital ratio thresholds as benchmarks.</a:t>
            </a:r>
            <a:endParaRPr lang="en-US" sz="1600" dirty="0"/>
          </a:p>
        </p:txBody>
      </p:sp>
      <p:sp>
        <p:nvSpPr>
          <p:cNvPr id="17" name="object 8">
            <a:extLst>
              <a:ext uri="{FF2B5EF4-FFF2-40B4-BE49-F238E27FC236}">
                <a16:creationId xmlns:a16="http://schemas.microsoft.com/office/drawing/2014/main" id="{3F5D2043-52C4-8035-1156-78E1079E21DA}"/>
              </a:ext>
            </a:extLst>
          </p:cNvPr>
          <p:cNvSpPr txBox="1"/>
          <p:nvPr/>
        </p:nvSpPr>
        <p:spPr>
          <a:xfrm>
            <a:off x="1242858" y="3271859"/>
            <a:ext cx="4664161" cy="659155"/>
          </a:xfrm>
          <a:prstGeom prst="rect">
            <a:avLst/>
          </a:prstGeom>
        </p:spPr>
        <p:txBody>
          <a:bodyPr vert="horz" wrap="square" lIns="0" tIns="12700" rIns="0" bIns="0" rtlCol="0" anchor="t">
            <a:spAutoFit/>
          </a:bodyPr>
          <a:lstStyle/>
          <a:p>
            <a:r>
              <a:rPr lang="en-US" sz="1400" b="1" dirty="0"/>
              <a:t>Projection Horizon: </a:t>
            </a:r>
            <a:r>
              <a:rPr lang="en-US" sz="1400" dirty="0"/>
              <a:t>multi-year forward-looking stress scenarios, aligned with BAWAG's planning and budgeting cycle.</a:t>
            </a:r>
          </a:p>
        </p:txBody>
      </p:sp>
      <p:pic>
        <p:nvPicPr>
          <p:cNvPr id="20" name="Graphic 195" descr="Abaco con riempimento a tinta unita">
            <a:extLst>
              <a:ext uri="{FF2B5EF4-FFF2-40B4-BE49-F238E27FC236}">
                <a16:creationId xmlns:a16="http://schemas.microsoft.com/office/drawing/2014/main" id="{62A07939-0746-6374-7EF9-F75BE568F5B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602967" y="1787156"/>
            <a:ext cx="393429" cy="393429"/>
          </a:xfrm>
          <a:prstGeom prst="rect">
            <a:avLst/>
          </a:prstGeom>
        </p:spPr>
      </p:pic>
      <p:sp>
        <p:nvSpPr>
          <p:cNvPr id="43" name="object 6">
            <a:extLst>
              <a:ext uri="{FF2B5EF4-FFF2-40B4-BE49-F238E27FC236}">
                <a16:creationId xmlns:a16="http://schemas.microsoft.com/office/drawing/2014/main" id="{34BF2AF8-5CFA-C39C-016A-7115DDCD7B3E}"/>
              </a:ext>
            </a:extLst>
          </p:cNvPr>
          <p:cNvSpPr/>
          <p:nvPr/>
        </p:nvSpPr>
        <p:spPr>
          <a:xfrm>
            <a:off x="432463" y="2430199"/>
            <a:ext cx="743143" cy="741971"/>
          </a:xfrm>
          <a:custGeom>
            <a:avLst/>
            <a:gdLst/>
            <a:ahLst/>
            <a:cxnLst/>
            <a:rect l="l" t="t" r="r" b="b"/>
            <a:pathLst>
              <a:path w="1011555" h="1011555">
                <a:moveTo>
                  <a:pt x="0" y="505587"/>
                </a:moveTo>
                <a:lnTo>
                  <a:pt x="2315" y="456908"/>
                </a:lnTo>
                <a:lnTo>
                  <a:pt x="9119" y="409536"/>
                </a:lnTo>
                <a:lnTo>
                  <a:pt x="20200" y="363682"/>
                </a:lnTo>
                <a:lnTo>
                  <a:pt x="35346" y="319559"/>
                </a:lnTo>
                <a:lnTo>
                  <a:pt x="54344" y="277379"/>
                </a:lnTo>
                <a:lnTo>
                  <a:pt x="76983" y="237354"/>
                </a:lnTo>
                <a:lnTo>
                  <a:pt x="103049" y="199697"/>
                </a:lnTo>
                <a:lnTo>
                  <a:pt x="132332" y="164619"/>
                </a:lnTo>
                <a:lnTo>
                  <a:pt x="164619" y="132332"/>
                </a:lnTo>
                <a:lnTo>
                  <a:pt x="199697" y="103049"/>
                </a:lnTo>
                <a:lnTo>
                  <a:pt x="237354" y="76983"/>
                </a:lnTo>
                <a:lnTo>
                  <a:pt x="277379" y="54344"/>
                </a:lnTo>
                <a:lnTo>
                  <a:pt x="319559" y="35346"/>
                </a:lnTo>
                <a:lnTo>
                  <a:pt x="363682" y="20200"/>
                </a:lnTo>
                <a:lnTo>
                  <a:pt x="409536" y="9119"/>
                </a:lnTo>
                <a:lnTo>
                  <a:pt x="456908" y="2315"/>
                </a:lnTo>
                <a:lnTo>
                  <a:pt x="505587" y="0"/>
                </a:lnTo>
                <a:lnTo>
                  <a:pt x="554285" y="2315"/>
                </a:lnTo>
                <a:lnTo>
                  <a:pt x="601672" y="9119"/>
                </a:lnTo>
                <a:lnTo>
                  <a:pt x="647536" y="20200"/>
                </a:lnTo>
                <a:lnTo>
                  <a:pt x="691666" y="35346"/>
                </a:lnTo>
                <a:lnTo>
                  <a:pt x="733850" y="54344"/>
                </a:lnTo>
                <a:lnTo>
                  <a:pt x="773875" y="76983"/>
                </a:lnTo>
                <a:lnTo>
                  <a:pt x="811530" y="103049"/>
                </a:lnTo>
                <a:lnTo>
                  <a:pt x="846605" y="132332"/>
                </a:lnTo>
                <a:lnTo>
                  <a:pt x="878885" y="164619"/>
                </a:lnTo>
                <a:lnTo>
                  <a:pt x="908162" y="199697"/>
                </a:lnTo>
                <a:lnTo>
                  <a:pt x="934221" y="237354"/>
                </a:lnTo>
                <a:lnTo>
                  <a:pt x="956852" y="277379"/>
                </a:lnTo>
                <a:lnTo>
                  <a:pt x="975843" y="319559"/>
                </a:lnTo>
                <a:lnTo>
                  <a:pt x="990983" y="363682"/>
                </a:lnTo>
                <a:lnTo>
                  <a:pt x="1002059" y="409536"/>
                </a:lnTo>
                <a:lnTo>
                  <a:pt x="1008860" y="456908"/>
                </a:lnTo>
                <a:lnTo>
                  <a:pt x="1011174" y="505587"/>
                </a:lnTo>
                <a:lnTo>
                  <a:pt x="1008860" y="554285"/>
                </a:lnTo>
                <a:lnTo>
                  <a:pt x="1002059" y="601672"/>
                </a:lnTo>
                <a:lnTo>
                  <a:pt x="990983" y="647536"/>
                </a:lnTo>
                <a:lnTo>
                  <a:pt x="975843" y="691666"/>
                </a:lnTo>
                <a:lnTo>
                  <a:pt x="956852" y="733850"/>
                </a:lnTo>
                <a:lnTo>
                  <a:pt x="934221" y="773875"/>
                </a:lnTo>
                <a:lnTo>
                  <a:pt x="908162" y="811530"/>
                </a:lnTo>
                <a:lnTo>
                  <a:pt x="878885" y="846605"/>
                </a:lnTo>
                <a:lnTo>
                  <a:pt x="846605" y="878885"/>
                </a:lnTo>
                <a:lnTo>
                  <a:pt x="811530" y="908162"/>
                </a:lnTo>
                <a:lnTo>
                  <a:pt x="773875" y="934221"/>
                </a:lnTo>
                <a:lnTo>
                  <a:pt x="733850" y="956852"/>
                </a:lnTo>
                <a:lnTo>
                  <a:pt x="691666" y="975843"/>
                </a:lnTo>
                <a:lnTo>
                  <a:pt x="647536" y="990983"/>
                </a:lnTo>
                <a:lnTo>
                  <a:pt x="601672" y="1002059"/>
                </a:lnTo>
                <a:lnTo>
                  <a:pt x="554285" y="1008860"/>
                </a:lnTo>
                <a:lnTo>
                  <a:pt x="505587" y="1011174"/>
                </a:lnTo>
                <a:lnTo>
                  <a:pt x="456908" y="1008860"/>
                </a:lnTo>
                <a:lnTo>
                  <a:pt x="409536" y="1002059"/>
                </a:lnTo>
                <a:lnTo>
                  <a:pt x="363682" y="990983"/>
                </a:lnTo>
                <a:lnTo>
                  <a:pt x="319559" y="975843"/>
                </a:lnTo>
                <a:lnTo>
                  <a:pt x="277379" y="956852"/>
                </a:lnTo>
                <a:lnTo>
                  <a:pt x="237354" y="934221"/>
                </a:lnTo>
                <a:lnTo>
                  <a:pt x="199697" y="908162"/>
                </a:lnTo>
                <a:lnTo>
                  <a:pt x="164619" y="878885"/>
                </a:lnTo>
                <a:lnTo>
                  <a:pt x="132332" y="846605"/>
                </a:lnTo>
                <a:lnTo>
                  <a:pt x="103049" y="811530"/>
                </a:lnTo>
                <a:lnTo>
                  <a:pt x="76983" y="773875"/>
                </a:lnTo>
                <a:lnTo>
                  <a:pt x="54344" y="733850"/>
                </a:lnTo>
                <a:lnTo>
                  <a:pt x="35346" y="691666"/>
                </a:lnTo>
                <a:lnTo>
                  <a:pt x="20200" y="647536"/>
                </a:lnTo>
                <a:lnTo>
                  <a:pt x="9119" y="601672"/>
                </a:lnTo>
                <a:lnTo>
                  <a:pt x="2315" y="554285"/>
                </a:lnTo>
                <a:lnTo>
                  <a:pt x="0" y="505587"/>
                </a:lnTo>
                <a:close/>
              </a:path>
            </a:pathLst>
          </a:custGeom>
          <a:solidFill>
            <a:srgbClr val="1A5187"/>
          </a:solidFill>
          <a:ln w="57150">
            <a:noFill/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4" name="Oval 165">
            <a:extLst>
              <a:ext uri="{FF2B5EF4-FFF2-40B4-BE49-F238E27FC236}">
                <a16:creationId xmlns:a16="http://schemas.microsoft.com/office/drawing/2014/main" id="{23CF76DB-41EE-CD22-AADC-742CBC582318}"/>
              </a:ext>
            </a:extLst>
          </p:cNvPr>
          <p:cNvSpPr/>
          <p:nvPr/>
        </p:nvSpPr>
        <p:spPr bwMode="auto">
          <a:xfrm>
            <a:off x="499716" y="2499033"/>
            <a:ext cx="612000" cy="611035"/>
          </a:xfrm>
          <a:prstGeom prst="ellipse">
            <a:avLst/>
          </a:prstGeom>
          <a:solidFill>
            <a:srgbClr val="F0F7FF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>
            <a:innerShdw blurRad="114300">
              <a:srgbClr val="1A5187">
                <a:alpha val="15000"/>
              </a:srgbClr>
            </a:innerShdw>
          </a:effectLst>
        </p:spPr>
        <p:txBody>
          <a:bodyPr vert="horz" wrap="none" lIns="0" tIns="0" rIns="18288" bIns="18288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400" b="0" i="0" u="none" strike="noStrike" cap="none" normalizeH="0" baseline="0">
              <a:ln>
                <a:noFill/>
              </a:ln>
              <a:solidFill>
                <a:srgbClr val="000000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  <p:pic>
        <p:nvPicPr>
          <p:cNvPr id="45" name="Graphic 195" descr="Home con riempimento a tinta unita">
            <a:extLst>
              <a:ext uri="{FF2B5EF4-FFF2-40B4-BE49-F238E27FC236}">
                <a16:creationId xmlns:a16="http://schemas.microsoft.com/office/drawing/2014/main" id="{5387C84D-5FAE-BB7B-72AB-309C6344F47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/>
        </p:blipFill>
        <p:spPr>
          <a:xfrm>
            <a:off x="602967" y="2589033"/>
            <a:ext cx="393429" cy="393429"/>
          </a:xfrm>
          <a:prstGeom prst="rect">
            <a:avLst/>
          </a:prstGeom>
        </p:spPr>
      </p:pic>
      <p:sp>
        <p:nvSpPr>
          <p:cNvPr id="46" name="object 6">
            <a:extLst>
              <a:ext uri="{FF2B5EF4-FFF2-40B4-BE49-F238E27FC236}">
                <a16:creationId xmlns:a16="http://schemas.microsoft.com/office/drawing/2014/main" id="{CEB88B9D-A377-A21F-1433-9D6D1BCDAB33}"/>
              </a:ext>
            </a:extLst>
          </p:cNvPr>
          <p:cNvSpPr/>
          <p:nvPr/>
        </p:nvSpPr>
        <p:spPr>
          <a:xfrm>
            <a:off x="432463" y="3234252"/>
            <a:ext cx="743143" cy="741971"/>
          </a:xfrm>
          <a:custGeom>
            <a:avLst/>
            <a:gdLst/>
            <a:ahLst/>
            <a:cxnLst/>
            <a:rect l="l" t="t" r="r" b="b"/>
            <a:pathLst>
              <a:path w="1011555" h="1011555">
                <a:moveTo>
                  <a:pt x="0" y="505587"/>
                </a:moveTo>
                <a:lnTo>
                  <a:pt x="2315" y="456908"/>
                </a:lnTo>
                <a:lnTo>
                  <a:pt x="9119" y="409536"/>
                </a:lnTo>
                <a:lnTo>
                  <a:pt x="20200" y="363682"/>
                </a:lnTo>
                <a:lnTo>
                  <a:pt x="35346" y="319559"/>
                </a:lnTo>
                <a:lnTo>
                  <a:pt x="54344" y="277379"/>
                </a:lnTo>
                <a:lnTo>
                  <a:pt x="76983" y="237354"/>
                </a:lnTo>
                <a:lnTo>
                  <a:pt x="103049" y="199697"/>
                </a:lnTo>
                <a:lnTo>
                  <a:pt x="132332" y="164619"/>
                </a:lnTo>
                <a:lnTo>
                  <a:pt x="164619" y="132332"/>
                </a:lnTo>
                <a:lnTo>
                  <a:pt x="199697" y="103049"/>
                </a:lnTo>
                <a:lnTo>
                  <a:pt x="237354" y="76983"/>
                </a:lnTo>
                <a:lnTo>
                  <a:pt x="277379" y="54344"/>
                </a:lnTo>
                <a:lnTo>
                  <a:pt x="319559" y="35346"/>
                </a:lnTo>
                <a:lnTo>
                  <a:pt x="363682" y="20200"/>
                </a:lnTo>
                <a:lnTo>
                  <a:pt x="409536" y="9119"/>
                </a:lnTo>
                <a:lnTo>
                  <a:pt x="456908" y="2315"/>
                </a:lnTo>
                <a:lnTo>
                  <a:pt x="505587" y="0"/>
                </a:lnTo>
                <a:lnTo>
                  <a:pt x="554285" y="2315"/>
                </a:lnTo>
                <a:lnTo>
                  <a:pt x="601672" y="9119"/>
                </a:lnTo>
                <a:lnTo>
                  <a:pt x="647536" y="20200"/>
                </a:lnTo>
                <a:lnTo>
                  <a:pt x="691666" y="35346"/>
                </a:lnTo>
                <a:lnTo>
                  <a:pt x="733850" y="54344"/>
                </a:lnTo>
                <a:lnTo>
                  <a:pt x="773875" y="76983"/>
                </a:lnTo>
                <a:lnTo>
                  <a:pt x="811530" y="103049"/>
                </a:lnTo>
                <a:lnTo>
                  <a:pt x="846605" y="132332"/>
                </a:lnTo>
                <a:lnTo>
                  <a:pt x="878885" y="164619"/>
                </a:lnTo>
                <a:lnTo>
                  <a:pt x="908162" y="199697"/>
                </a:lnTo>
                <a:lnTo>
                  <a:pt x="934221" y="237354"/>
                </a:lnTo>
                <a:lnTo>
                  <a:pt x="956852" y="277379"/>
                </a:lnTo>
                <a:lnTo>
                  <a:pt x="975843" y="319559"/>
                </a:lnTo>
                <a:lnTo>
                  <a:pt x="990983" y="363682"/>
                </a:lnTo>
                <a:lnTo>
                  <a:pt x="1002059" y="409536"/>
                </a:lnTo>
                <a:lnTo>
                  <a:pt x="1008860" y="456908"/>
                </a:lnTo>
                <a:lnTo>
                  <a:pt x="1011174" y="505587"/>
                </a:lnTo>
                <a:lnTo>
                  <a:pt x="1008860" y="554285"/>
                </a:lnTo>
                <a:lnTo>
                  <a:pt x="1002059" y="601672"/>
                </a:lnTo>
                <a:lnTo>
                  <a:pt x="990983" y="647536"/>
                </a:lnTo>
                <a:lnTo>
                  <a:pt x="975843" y="691666"/>
                </a:lnTo>
                <a:lnTo>
                  <a:pt x="956852" y="733850"/>
                </a:lnTo>
                <a:lnTo>
                  <a:pt x="934221" y="773875"/>
                </a:lnTo>
                <a:lnTo>
                  <a:pt x="908162" y="811530"/>
                </a:lnTo>
                <a:lnTo>
                  <a:pt x="878885" y="846605"/>
                </a:lnTo>
                <a:lnTo>
                  <a:pt x="846605" y="878885"/>
                </a:lnTo>
                <a:lnTo>
                  <a:pt x="811530" y="908162"/>
                </a:lnTo>
                <a:lnTo>
                  <a:pt x="773875" y="934221"/>
                </a:lnTo>
                <a:lnTo>
                  <a:pt x="733850" y="956852"/>
                </a:lnTo>
                <a:lnTo>
                  <a:pt x="691666" y="975843"/>
                </a:lnTo>
                <a:lnTo>
                  <a:pt x="647536" y="990983"/>
                </a:lnTo>
                <a:lnTo>
                  <a:pt x="601672" y="1002059"/>
                </a:lnTo>
                <a:lnTo>
                  <a:pt x="554285" y="1008860"/>
                </a:lnTo>
                <a:lnTo>
                  <a:pt x="505587" y="1011174"/>
                </a:lnTo>
                <a:lnTo>
                  <a:pt x="456908" y="1008860"/>
                </a:lnTo>
                <a:lnTo>
                  <a:pt x="409536" y="1002059"/>
                </a:lnTo>
                <a:lnTo>
                  <a:pt x="363682" y="990983"/>
                </a:lnTo>
                <a:lnTo>
                  <a:pt x="319559" y="975843"/>
                </a:lnTo>
                <a:lnTo>
                  <a:pt x="277379" y="956852"/>
                </a:lnTo>
                <a:lnTo>
                  <a:pt x="237354" y="934221"/>
                </a:lnTo>
                <a:lnTo>
                  <a:pt x="199697" y="908162"/>
                </a:lnTo>
                <a:lnTo>
                  <a:pt x="164619" y="878885"/>
                </a:lnTo>
                <a:lnTo>
                  <a:pt x="132332" y="846605"/>
                </a:lnTo>
                <a:lnTo>
                  <a:pt x="103049" y="811530"/>
                </a:lnTo>
                <a:lnTo>
                  <a:pt x="76983" y="773875"/>
                </a:lnTo>
                <a:lnTo>
                  <a:pt x="54344" y="733850"/>
                </a:lnTo>
                <a:lnTo>
                  <a:pt x="35346" y="691666"/>
                </a:lnTo>
                <a:lnTo>
                  <a:pt x="20200" y="647536"/>
                </a:lnTo>
                <a:lnTo>
                  <a:pt x="9119" y="601672"/>
                </a:lnTo>
                <a:lnTo>
                  <a:pt x="2315" y="554285"/>
                </a:lnTo>
                <a:lnTo>
                  <a:pt x="0" y="505587"/>
                </a:lnTo>
                <a:close/>
              </a:path>
            </a:pathLst>
          </a:custGeom>
          <a:solidFill>
            <a:srgbClr val="1A5187"/>
          </a:solidFill>
          <a:ln w="57150">
            <a:noFill/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7" name="Oval 165">
            <a:extLst>
              <a:ext uri="{FF2B5EF4-FFF2-40B4-BE49-F238E27FC236}">
                <a16:creationId xmlns:a16="http://schemas.microsoft.com/office/drawing/2014/main" id="{9AFAD4C4-BD9E-D7F5-B377-EE5612C8ED35}"/>
              </a:ext>
            </a:extLst>
          </p:cNvPr>
          <p:cNvSpPr/>
          <p:nvPr/>
        </p:nvSpPr>
        <p:spPr bwMode="auto">
          <a:xfrm>
            <a:off x="499716" y="3303086"/>
            <a:ext cx="612000" cy="611035"/>
          </a:xfrm>
          <a:prstGeom prst="ellipse">
            <a:avLst/>
          </a:prstGeom>
          <a:solidFill>
            <a:srgbClr val="F0F7FF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>
            <a:innerShdw blurRad="114300">
              <a:srgbClr val="1A5187">
                <a:alpha val="15000"/>
              </a:srgbClr>
            </a:innerShdw>
          </a:effectLst>
        </p:spPr>
        <p:txBody>
          <a:bodyPr vert="horz" wrap="none" lIns="0" tIns="0" rIns="18288" bIns="18288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400" b="0" i="0" u="none" strike="noStrike" cap="none" normalizeH="0" baseline="0">
              <a:ln>
                <a:noFill/>
              </a:ln>
              <a:solidFill>
                <a:srgbClr val="000000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  <p:pic>
        <p:nvPicPr>
          <p:cNvPr id="48" name="Graphic 195" descr="Cronometro 75% con riempimento a tinta unita">
            <a:extLst>
              <a:ext uri="{FF2B5EF4-FFF2-40B4-BE49-F238E27FC236}">
                <a16:creationId xmlns:a16="http://schemas.microsoft.com/office/drawing/2014/main" id="{22C1EB61-3ABD-974F-27E7-94AD6DC2BAF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/>
          <a:stretch/>
        </p:blipFill>
        <p:spPr>
          <a:xfrm>
            <a:off x="602967" y="3393086"/>
            <a:ext cx="393429" cy="393429"/>
          </a:xfrm>
          <a:prstGeom prst="rect">
            <a:avLst/>
          </a:prstGeom>
        </p:spPr>
      </p:pic>
      <p:sp>
        <p:nvSpPr>
          <p:cNvPr id="61" name="Rectangle 77">
            <a:extLst>
              <a:ext uri="{FF2B5EF4-FFF2-40B4-BE49-F238E27FC236}">
                <a16:creationId xmlns:a16="http://schemas.microsoft.com/office/drawing/2014/main" id="{6DA96420-41E7-27FC-32CA-CA9602570D41}"/>
              </a:ext>
            </a:extLst>
          </p:cNvPr>
          <p:cNvSpPr/>
          <p:nvPr/>
        </p:nvSpPr>
        <p:spPr bwMode="auto">
          <a:xfrm>
            <a:off x="499716" y="4223992"/>
            <a:ext cx="5524847" cy="2176807"/>
          </a:xfrm>
          <a:prstGeom prst="rect">
            <a:avLst/>
          </a:prstGeom>
          <a:pattFill prst="dkUpDiag">
            <a:fgClr>
              <a:srgbClr val="D9ECFF"/>
            </a:fgClr>
            <a:bgClr>
              <a:schemeClr val="bg1"/>
            </a:bgClr>
          </a:pattFill>
          <a:ln w="19050" cap="flat" cmpd="sng" algn="ctr">
            <a:solidFill>
              <a:srgbClr val="B2D1DD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0" tIns="0" rIns="18288" bIns="18288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GB" sz="1400" b="0" i="0" u="none" strike="noStrike" cap="none" normalizeH="0" baseline="0" dirty="0">
              <a:ln>
                <a:noFill/>
              </a:ln>
              <a:solidFill>
                <a:srgbClr val="000000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  <p:sp>
        <p:nvSpPr>
          <p:cNvPr id="3" name="TextBox 3">
            <a:extLst>
              <a:ext uri="{FF2B5EF4-FFF2-40B4-BE49-F238E27FC236}">
                <a16:creationId xmlns:a16="http://schemas.microsoft.com/office/drawing/2014/main" id="{020D7626-A765-E17F-3E37-F6453BDC9C0D}"/>
              </a:ext>
            </a:extLst>
          </p:cNvPr>
          <p:cNvSpPr txBox="1"/>
          <p:nvPr/>
        </p:nvSpPr>
        <p:spPr>
          <a:xfrm>
            <a:off x="1450017" y="4906440"/>
            <a:ext cx="1442837" cy="307777"/>
          </a:xfrm>
          <a:prstGeom prst="rect">
            <a:avLst/>
          </a:prstGeom>
          <a:solidFill>
            <a:srgbClr val="255C8D">
              <a:alpha val="60000"/>
            </a:srgbClr>
          </a:solidFill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1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ea typeface="+mn-ea"/>
                <a:cs typeface="Arial" pitchFamily="34" charset="0"/>
              </a:rPr>
              <a:t>Credit Risk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C7EACDC-F568-3720-96E1-D8740778033E}"/>
              </a:ext>
            </a:extLst>
          </p:cNvPr>
          <p:cNvSpPr txBox="1"/>
          <p:nvPr/>
        </p:nvSpPr>
        <p:spPr>
          <a:xfrm>
            <a:off x="3654191" y="4906440"/>
            <a:ext cx="1442837" cy="307777"/>
          </a:xfrm>
          <a:prstGeom prst="rect">
            <a:avLst/>
          </a:prstGeom>
          <a:solidFill>
            <a:srgbClr val="255C8D">
              <a:alpha val="60000"/>
            </a:srgbClr>
          </a:solidFill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1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ea typeface="+mn-ea"/>
                <a:cs typeface="Arial" pitchFamily="34" charset="0"/>
              </a:rPr>
              <a:t>Market Risk</a:t>
            </a:r>
          </a:p>
        </p:txBody>
      </p:sp>
      <p:sp>
        <p:nvSpPr>
          <p:cNvPr id="12" name="TextBox 3">
            <a:extLst>
              <a:ext uri="{FF2B5EF4-FFF2-40B4-BE49-F238E27FC236}">
                <a16:creationId xmlns:a16="http://schemas.microsoft.com/office/drawing/2014/main" id="{6C19CB76-5543-2624-598F-46567C3B8651}"/>
              </a:ext>
            </a:extLst>
          </p:cNvPr>
          <p:cNvSpPr txBox="1"/>
          <p:nvPr/>
        </p:nvSpPr>
        <p:spPr>
          <a:xfrm>
            <a:off x="1450016" y="5428733"/>
            <a:ext cx="1442837" cy="738664"/>
          </a:xfrm>
          <a:prstGeom prst="rect">
            <a:avLst/>
          </a:prstGeom>
          <a:solidFill>
            <a:srgbClr val="255C8D">
              <a:alpha val="60000"/>
            </a:srgbClr>
          </a:solidFill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1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ea typeface="+mn-ea"/>
                <a:cs typeface="Arial" pitchFamily="34" charset="0"/>
              </a:rPr>
              <a:t>Single-name concentration risk</a:t>
            </a:r>
          </a:p>
        </p:txBody>
      </p:sp>
      <p:sp>
        <p:nvSpPr>
          <p:cNvPr id="18" name="TextBox 3">
            <a:extLst>
              <a:ext uri="{FF2B5EF4-FFF2-40B4-BE49-F238E27FC236}">
                <a16:creationId xmlns:a16="http://schemas.microsoft.com/office/drawing/2014/main" id="{69772777-9C7F-1980-6239-DA522710D2B0}"/>
              </a:ext>
            </a:extLst>
          </p:cNvPr>
          <p:cNvSpPr txBox="1"/>
          <p:nvPr/>
        </p:nvSpPr>
        <p:spPr>
          <a:xfrm>
            <a:off x="3654192" y="5536455"/>
            <a:ext cx="1442837" cy="523220"/>
          </a:xfrm>
          <a:prstGeom prst="rect">
            <a:avLst/>
          </a:prstGeom>
          <a:solidFill>
            <a:srgbClr val="255C8D">
              <a:alpha val="60000"/>
            </a:srgbClr>
          </a:solidFill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1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ea typeface="+mn-ea"/>
                <a:cs typeface="Arial" pitchFamily="34" charset="0"/>
              </a:rPr>
              <a:t>Operational Risk</a:t>
            </a:r>
          </a:p>
        </p:txBody>
      </p:sp>
      <p:sp>
        <p:nvSpPr>
          <p:cNvPr id="19" name="Rectangle 21">
            <a:extLst>
              <a:ext uri="{FF2B5EF4-FFF2-40B4-BE49-F238E27FC236}">
                <a16:creationId xmlns:a16="http://schemas.microsoft.com/office/drawing/2014/main" id="{5C3024E4-86F9-30A7-BDDC-87C41465AFE5}"/>
              </a:ext>
            </a:extLst>
          </p:cNvPr>
          <p:cNvSpPr/>
          <p:nvPr/>
        </p:nvSpPr>
        <p:spPr>
          <a:xfrm>
            <a:off x="499716" y="4223992"/>
            <a:ext cx="5524847" cy="441417"/>
          </a:xfrm>
          <a:prstGeom prst="rect">
            <a:avLst/>
          </a:prstGeom>
          <a:noFill/>
          <a:ln>
            <a:solidFill>
              <a:srgbClr val="B2D1D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 dirty="0">
                <a:solidFill>
                  <a:schemeClr val="accent1"/>
                </a:solidFill>
              </a:rPr>
              <a:t>Risk Categories Covered </a:t>
            </a:r>
          </a:p>
        </p:txBody>
      </p:sp>
      <p:sp>
        <p:nvSpPr>
          <p:cNvPr id="22" name="CasellaDiTesto 21">
            <a:extLst>
              <a:ext uri="{FF2B5EF4-FFF2-40B4-BE49-F238E27FC236}">
                <a16:creationId xmlns:a16="http://schemas.microsoft.com/office/drawing/2014/main" id="{D78E3999-B34C-26CD-FD09-3FB306D8C840}"/>
              </a:ext>
            </a:extLst>
          </p:cNvPr>
          <p:cNvSpPr txBox="1"/>
          <p:nvPr/>
        </p:nvSpPr>
        <p:spPr>
          <a:xfrm>
            <a:off x="6415124" y="1628322"/>
            <a:ext cx="5235008" cy="33239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b="1" dirty="0"/>
              <a:t>Benchmark: r</a:t>
            </a:r>
            <a:r>
              <a:rPr lang="en-US" sz="1400" dirty="0"/>
              <a:t>egulatory capital ratios monitored against internal targets and recovery thresholds. No statistical confidence level applied.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b="1" dirty="0"/>
              <a:t>Stress testing: </a:t>
            </a:r>
            <a:r>
              <a:rPr lang="en-US" sz="1400" dirty="0"/>
              <a:t>quarterly ICAAP macro scenarios (baseline + at least one adverse) over a 4-year horizon, stressed ratios checked against recovery plan levels.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b="1" dirty="0"/>
              <a:t>Balance sheet assumption: </a:t>
            </a:r>
            <a:r>
              <a:rPr lang="en-US" sz="1400" dirty="0"/>
              <a:t>dynamic balance sheet with possible management actions during the projection period.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b="1" dirty="0"/>
              <a:t>Scenario transmission: </a:t>
            </a:r>
            <a:r>
              <a:rPr lang="en-US" sz="1400" dirty="0"/>
              <a:t>macroeconomic shocks fed into portfolio via regression models and expert-based stress factors.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b="1" dirty="0"/>
              <a:t>Governance: </a:t>
            </a:r>
            <a:r>
              <a:rPr lang="en-US" sz="1400" dirty="0"/>
              <a:t>results reviewed by ISTC, approved by ERM. Capital allocation ultimately signed off by the Supervisory Board.</a:t>
            </a:r>
          </a:p>
        </p:txBody>
      </p:sp>
      <p:sp>
        <p:nvSpPr>
          <p:cNvPr id="11" name="NrmBar">
            <a:extLst>
              <a:ext uri="{FF2B5EF4-FFF2-40B4-BE49-F238E27FC236}">
                <a16:creationId xmlns:a16="http://schemas.microsoft.com/office/drawing/2014/main" id="{BF9F1CC8-581B-01C6-0EE9-303E11BDB4A2}"/>
              </a:ext>
            </a:extLst>
          </p:cNvPr>
          <p:cNvSpPr>
            <a:spLocks noGrp="1"/>
          </p:cNvSpPr>
          <p:nvPr/>
        </p:nvSpPr>
        <p:spPr>
          <a:xfrm flipH="1">
            <a:off x="6347870" y="1625378"/>
            <a:ext cx="74069" cy="5009506"/>
          </a:xfrm>
          <a:prstGeom prst="rect">
            <a:avLst/>
          </a:prstGeom>
          <a:solidFill>
            <a:srgbClr val="0B2B65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1" name="FtrT">
            <a:extLst>
              <a:ext uri="{FF2B5EF4-FFF2-40B4-BE49-F238E27FC236}">
                <a16:creationId xmlns:a16="http://schemas.microsoft.com/office/drawing/2014/main" id="{B131161D-7BAB-9D88-414E-F32B992D0A5C}"/>
              </a:ext>
            </a:extLst>
          </p:cNvPr>
          <p:cNvSpPr txBox="1">
            <a:spLocks noGrp="1"/>
          </p:cNvSpPr>
          <p:nvPr/>
        </p:nvSpPr>
        <p:spPr>
          <a:xfrm>
            <a:off x="228600" y="6477000"/>
            <a:ext cx="11430000" cy="317500"/>
          </a:xfrm>
          <a:prstGeom prst="rect">
            <a:avLst/>
          </a:prstGeom>
          <a:noFill/>
          <a:ln>
            <a:noFill/>
          </a:ln>
        </p:spPr>
        <p:txBody>
          <a:bodyPr wrap="square" anchor="ctr"/>
          <a:lstStyle/>
          <a:p>
            <a:r>
              <a:rPr lang="en-US" sz="1000" dirty="0"/>
              <a:t>Source: BAWAG Pillar 3 Qualitative Report 2025 (ICAAP)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28E227AF-458C-07C0-9035-4B829889B31E}"/>
              </a:ext>
            </a:extLst>
          </p:cNvPr>
          <p:cNvSpPr txBox="1"/>
          <p:nvPr/>
        </p:nvSpPr>
        <p:spPr>
          <a:xfrm>
            <a:off x="6421941" y="5034446"/>
            <a:ext cx="5224638" cy="1600438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>
            <a:spAutoFit/>
          </a:bodyPr>
          <a:lstStyle/>
          <a:p>
            <a:r>
              <a:rPr lang="en-US" sz="1400" dirty="0"/>
              <a:t>The normative perspective answers "will we remain above SREP thresholds in a stress scenario?" No confidence level applies; capital ratio floors (CET1 10.23% MDA trigger) govern dividend capacity and external creditor confidence. The two perspectives are complementary: economic capital for actual risk appetite; normative for regulatory compliance and recovery planning.</a:t>
            </a:r>
          </a:p>
        </p:txBody>
      </p:sp>
    </p:spTree>
    <p:extLst>
      <p:ext uri="{BB962C8B-B14F-4D97-AF65-F5344CB8AC3E}">
        <p14:creationId xmlns:p14="http://schemas.microsoft.com/office/powerpoint/2010/main" val="209413298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DC2E412-2DD0-A5DC-32B7-744A3A71D9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FE0BA5C7-63AB-547B-78E8-F7A76E1F9FB4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D9D9D9">
              <a:alpha val="6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2C99F5D-DD12-117F-1B8E-0588BB2D338B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22B27FAC-2231-B7B8-0454-DF5C9BCAE21A}"/>
              </a:ext>
            </a:extLst>
          </p:cNvPr>
          <p:cNvSpPr/>
          <p:nvPr/>
        </p:nvSpPr>
        <p:spPr>
          <a:xfrm>
            <a:off x="0" y="3962400"/>
            <a:ext cx="10639425" cy="1257300"/>
          </a:xfrm>
          <a:prstGeom prst="rect">
            <a:avLst/>
          </a:prstGeom>
          <a:solidFill>
            <a:srgbClr val="0B2A65"/>
          </a:solidFill>
          <a:ln w="285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b="1" dirty="0"/>
              <a:t>Regulatory &amp; Economic Capital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B28B96FA-EDE1-BD99-C185-300DC1910CBA}"/>
              </a:ext>
            </a:extLst>
          </p:cNvPr>
          <p:cNvSpPr/>
          <p:nvPr/>
        </p:nvSpPr>
        <p:spPr>
          <a:xfrm>
            <a:off x="9721850" y="3333750"/>
            <a:ext cx="1552575" cy="1257300"/>
          </a:xfrm>
          <a:prstGeom prst="rect">
            <a:avLst/>
          </a:prstGeom>
          <a:ln w="28575">
            <a:solidFill>
              <a:schemeClr val="bg1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b="1" dirty="0"/>
              <a:t>5.</a:t>
            </a:r>
          </a:p>
        </p:txBody>
      </p:sp>
    </p:spTree>
    <p:extLst>
      <p:ext uri="{BB962C8B-B14F-4D97-AF65-F5344CB8AC3E}">
        <p14:creationId xmlns:p14="http://schemas.microsoft.com/office/powerpoint/2010/main" val="311733636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58D3F18-D9C6-782F-889C-0FE6316A1E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85BA157A-256D-6A8A-B656-A83AEEC5DFFC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b="1" dirty="0"/>
              <a:t>Regulatory Capital</a:t>
            </a:r>
          </a:p>
        </p:txBody>
      </p:sp>
      <p:sp>
        <p:nvSpPr>
          <p:cNvPr id="3" name="Shape 3">
            <a:extLst>
              <a:ext uri="{FF2B5EF4-FFF2-40B4-BE49-F238E27FC236}">
                <a16:creationId xmlns:a16="http://schemas.microsoft.com/office/drawing/2014/main" id="{24A552BA-4E35-AF94-263C-21C652BCC877}"/>
              </a:ext>
            </a:extLst>
          </p:cNvPr>
          <p:cNvSpPr/>
          <p:nvPr/>
        </p:nvSpPr>
        <p:spPr>
          <a:xfrm>
            <a:off x="457200" y="1004862"/>
            <a:ext cx="3611880" cy="3411613"/>
          </a:xfrm>
          <a:prstGeom prst="rect">
            <a:avLst/>
          </a:prstGeom>
          <a:solidFill>
            <a:srgbClr val="F4F6FA"/>
          </a:solidFill>
          <a:ln w="12700">
            <a:solidFill>
              <a:srgbClr val="F4F6FA"/>
            </a:solidFill>
            <a:prstDash val="solid"/>
          </a:ln>
        </p:spPr>
        <p:txBody>
          <a:bodyPr/>
          <a:lstStyle/>
          <a:p>
            <a:endParaRPr lang="en-HU"/>
          </a:p>
        </p:txBody>
      </p:sp>
      <p:sp>
        <p:nvSpPr>
          <p:cNvPr id="4" name="Shape 4">
            <a:extLst>
              <a:ext uri="{FF2B5EF4-FFF2-40B4-BE49-F238E27FC236}">
                <a16:creationId xmlns:a16="http://schemas.microsoft.com/office/drawing/2014/main" id="{00870F90-1C1C-ED96-893C-C3F62A9FAC57}"/>
              </a:ext>
            </a:extLst>
          </p:cNvPr>
          <p:cNvSpPr/>
          <p:nvPr/>
        </p:nvSpPr>
        <p:spPr>
          <a:xfrm>
            <a:off x="457200" y="1004862"/>
            <a:ext cx="73152" cy="3411613"/>
          </a:xfrm>
          <a:prstGeom prst="rect">
            <a:avLst/>
          </a:prstGeom>
          <a:solidFill>
            <a:srgbClr val="1A3D66"/>
          </a:solidFill>
          <a:ln w="12700">
            <a:solidFill>
              <a:srgbClr val="1A3D66"/>
            </a:solidFill>
            <a:prstDash val="solid"/>
          </a:ln>
        </p:spPr>
        <p:txBody>
          <a:bodyPr/>
          <a:lstStyle/>
          <a:p>
            <a:endParaRPr lang="en-HU"/>
          </a:p>
        </p:txBody>
      </p:sp>
      <p:sp>
        <p:nvSpPr>
          <p:cNvPr id="5" name="Text 5">
            <a:extLst>
              <a:ext uri="{FF2B5EF4-FFF2-40B4-BE49-F238E27FC236}">
                <a16:creationId xmlns:a16="http://schemas.microsoft.com/office/drawing/2014/main" id="{420AFC15-2A01-647B-C368-985DA71389C4}"/>
              </a:ext>
            </a:extLst>
          </p:cNvPr>
          <p:cNvSpPr/>
          <p:nvPr/>
        </p:nvSpPr>
        <p:spPr>
          <a:xfrm>
            <a:off x="685800" y="1023224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2B4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2800" dirty="0"/>
          </a:p>
        </p:txBody>
      </p:sp>
      <p:sp>
        <p:nvSpPr>
          <p:cNvPr id="6" name="Text 6">
            <a:extLst>
              <a:ext uri="{FF2B5EF4-FFF2-40B4-BE49-F238E27FC236}">
                <a16:creationId xmlns:a16="http://schemas.microsoft.com/office/drawing/2014/main" id="{4166895E-1C92-4673-D04A-DF967F554871}"/>
              </a:ext>
            </a:extLst>
          </p:cNvPr>
          <p:cNvSpPr/>
          <p:nvPr/>
        </p:nvSpPr>
        <p:spPr>
          <a:xfrm>
            <a:off x="685800" y="1526144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>
                <a:solidFill>
                  <a:srgbClr val="1A3D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it?</a:t>
            </a:r>
            <a:endParaRPr lang="en-US" sz="1800"/>
          </a:p>
        </p:txBody>
      </p:sp>
      <p:sp>
        <p:nvSpPr>
          <p:cNvPr id="7" name="Text 7">
            <a:extLst>
              <a:ext uri="{FF2B5EF4-FFF2-40B4-BE49-F238E27FC236}">
                <a16:creationId xmlns:a16="http://schemas.microsoft.com/office/drawing/2014/main" id="{56F68BD6-DDDF-1393-1F18-CD8411D22FC8}"/>
              </a:ext>
            </a:extLst>
          </p:cNvPr>
          <p:cNvSpPr/>
          <p:nvPr/>
        </p:nvSpPr>
        <p:spPr>
          <a:xfrm>
            <a:off x="685800" y="1983344"/>
            <a:ext cx="320040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200"/>
              </a:spcAft>
              <a:buNone/>
            </a:pPr>
            <a:r>
              <a:rPr lang="en-US" sz="125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Regulatory capital is the </a:t>
            </a:r>
            <a:r>
              <a:rPr lang="en-US" sz="1250" b="1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minimum amount of own funds</a:t>
            </a:r>
            <a:r>
              <a:rPr lang="en-US" sz="125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 bank must hold to absorb potential losses and stay solvent.</a:t>
            </a:r>
            <a:endParaRPr lang="en-US" sz="1250" dirty="0"/>
          </a:p>
          <a:p>
            <a:pPr marL="0" indent="0">
              <a:spcAft>
                <a:spcPts val="200"/>
              </a:spcAft>
              <a:buNone/>
            </a:pPr>
            <a:endParaRPr lang="en-US" sz="125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25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Measured as a </a:t>
            </a:r>
            <a:r>
              <a:rPr lang="en-US" sz="1250" b="1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ratio of capital to risk-weighted assets</a:t>
            </a:r>
            <a:r>
              <a:rPr lang="en-US" sz="125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(RWA). The headline metric is the </a:t>
            </a:r>
            <a:r>
              <a:rPr lang="en-US" sz="1250" b="1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CET1 ratio</a:t>
            </a:r>
            <a:r>
              <a:rPr lang="en-US" sz="125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- the highest quality of capital (equity + retained earnings).</a:t>
            </a:r>
            <a:endParaRPr lang="en-US" sz="1250" dirty="0"/>
          </a:p>
        </p:txBody>
      </p:sp>
      <p:sp>
        <p:nvSpPr>
          <p:cNvPr id="8" name="Shape 8">
            <a:extLst>
              <a:ext uri="{FF2B5EF4-FFF2-40B4-BE49-F238E27FC236}">
                <a16:creationId xmlns:a16="http://schemas.microsoft.com/office/drawing/2014/main" id="{881BFAB4-76C1-3800-558C-A373069DE20B}"/>
              </a:ext>
            </a:extLst>
          </p:cNvPr>
          <p:cNvSpPr/>
          <p:nvPr/>
        </p:nvSpPr>
        <p:spPr>
          <a:xfrm>
            <a:off x="4251960" y="1004862"/>
            <a:ext cx="3611880" cy="3411613"/>
          </a:xfrm>
          <a:prstGeom prst="rect">
            <a:avLst/>
          </a:prstGeom>
          <a:solidFill>
            <a:srgbClr val="F4F6FA"/>
          </a:solidFill>
          <a:ln w="12700">
            <a:solidFill>
              <a:srgbClr val="F4F6FA"/>
            </a:solidFill>
            <a:prstDash val="solid"/>
          </a:ln>
        </p:spPr>
        <p:txBody>
          <a:bodyPr/>
          <a:lstStyle/>
          <a:p>
            <a:endParaRPr lang="en-HU"/>
          </a:p>
        </p:txBody>
      </p:sp>
      <p:sp>
        <p:nvSpPr>
          <p:cNvPr id="9" name="Shape 9">
            <a:extLst>
              <a:ext uri="{FF2B5EF4-FFF2-40B4-BE49-F238E27FC236}">
                <a16:creationId xmlns:a16="http://schemas.microsoft.com/office/drawing/2014/main" id="{3785E7AC-D84C-3CC4-7331-53187EC699E3}"/>
              </a:ext>
            </a:extLst>
          </p:cNvPr>
          <p:cNvSpPr/>
          <p:nvPr/>
        </p:nvSpPr>
        <p:spPr>
          <a:xfrm>
            <a:off x="4251960" y="1004862"/>
            <a:ext cx="73152" cy="3411613"/>
          </a:xfrm>
          <a:prstGeom prst="rect">
            <a:avLst/>
          </a:prstGeom>
          <a:solidFill>
            <a:srgbClr val="1A3D66"/>
          </a:solidFill>
          <a:ln w="12700">
            <a:solidFill>
              <a:srgbClr val="1A3D66"/>
            </a:solidFill>
            <a:prstDash val="solid"/>
          </a:ln>
        </p:spPr>
        <p:txBody>
          <a:bodyPr/>
          <a:lstStyle/>
          <a:p>
            <a:endParaRPr lang="en-HU"/>
          </a:p>
        </p:txBody>
      </p:sp>
      <p:sp>
        <p:nvSpPr>
          <p:cNvPr id="10" name="Text 10">
            <a:extLst>
              <a:ext uri="{FF2B5EF4-FFF2-40B4-BE49-F238E27FC236}">
                <a16:creationId xmlns:a16="http://schemas.microsoft.com/office/drawing/2014/main" id="{8CE72A24-C6AA-1E9C-CB43-1B701FB22407}"/>
              </a:ext>
            </a:extLst>
          </p:cNvPr>
          <p:cNvSpPr/>
          <p:nvPr/>
        </p:nvSpPr>
        <p:spPr>
          <a:xfrm>
            <a:off x="4480560" y="1023224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>
                <a:solidFill>
                  <a:srgbClr val="2B4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2800"/>
          </a:p>
        </p:txBody>
      </p:sp>
      <p:sp>
        <p:nvSpPr>
          <p:cNvPr id="11" name="Text 11">
            <a:extLst>
              <a:ext uri="{FF2B5EF4-FFF2-40B4-BE49-F238E27FC236}">
                <a16:creationId xmlns:a16="http://schemas.microsoft.com/office/drawing/2014/main" id="{AD89D434-7270-2CA8-F120-0500DF9D1D15}"/>
              </a:ext>
            </a:extLst>
          </p:cNvPr>
          <p:cNvSpPr/>
          <p:nvPr/>
        </p:nvSpPr>
        <p:spPr>
          <a:xfrm>
            <a:off x="4480560" y="1526144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>
                <a:solidFill>
                  <a:srgbClr val="1A3D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is responsible?</a:t>
            </a:r>
            <a:endParaRPr lang="en-US" sz="1800"/>
          </a:p>
        </p:txBody>
      </p:sp>
      <p:sp>
        <p:nvSpPr>
          <p:cNvPr id="12" name="Text 12">
            <a:extLst>
              <a:ext uri="{FF2B5EF4-FFF2-40B4-BE49-F238E27FC236}">
                <a16:creationId xmlns:a16="http://schemas.microsoft.com/office/drawing/2014/main" id="{59C5619A-ACC7-1C0C-1CDB-0C30823B4466}"/>
              </a:ext>
            </a:extLst>
          </p:cNvPr>
          <p:cNvSpPr/>
          <p:nvPr/>
        </p:nvSpPr>
        <p:spPr>
          <a:xfrm>
            <a:off x="4480560" y="1983344"/>
            <a:ext cx="320040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200"/>
              </a:spcAft>
              <a:buNone/>
            </a:pPr>
            <a:r>
              <a:rPr lang="en-US" sz="125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Rules are set by the </a:t>
            </a:r>
            <a:r>
              <a:rPr lang="en-US" sz="1250" b="1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Basel Committee</a:t>
            </a:r>
            <a:r>
              <a:rPr lang="en-US" sz="125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and transposed into EU law via the </a:t>
            </a:r>
            <a:r>
              <a:rPr lang="en-US" sz="1250" b="1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CRR / CRD</a:t>
            </a:r>
            <a:r>
              <a:rPr lang="en-US" sz="125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(soon Basel IV).</a:t>
            </a:r>
            <a:endParaRPr lang="en-US" sz="1250"/>
          </a:p>
          <a:p>
            <a:pPr marL="0" indent="0">
              <a:spcAft>
                <a:spcPts val="200"/>
              </a:spcAft>
              <a:buNone/>
            </a:pPr>
            <a:endParaRPr lang="en-US" sz="1250"/>
          </a:p>
          <a:p>
            <a:pPr marL="0" indent="0">
              <a:spcAft>
                <a:spcPts val="200"/>
              </a:spcAft>
              <a:buNone/>
            </a:pPr>
            <a:r>
              <a:rPr lang="en-US" sz="125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Supervision for BAWAG Group runs through the </a:t>
            </a:r>
            <a:r>
              <a:rPr lang="en-US" sz="1250" b="1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ECB (SSM)</a:t>
            </a:r>
            <a:r>
              <a:rPr lang="en-US" sz="125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with national input from the </a:t>
            </a:r>
            <a:r>
              <a:rPr lang="en-US" sz="1250" b="1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FMA and OeNB</a:t>
            </a:r>
            <a:r>
              <a:rPr lang="en-US" sz="125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 They set Pillar 2 add-ons (P2R, P2G).</a:t>
            </a:r>
            <a:endParaRPr lang="en-US" sz="1250"/>
          </a:p>
        </p:txBody>
      </p:sp>
      <p:sp>
        <p:nvSpPr>
          <p:cNvPr id="13" name="Shape 13">
            <a:extLst>
              <a:ext uri="{FF2B5EF4-FFF2-40B4-BE49-F238E27FC236}">
                <a16:creationId xmlns:a16="http://schemas.microsoft.com/office/drawing/2014/main" id="{B69DA68B-34AA-F580-B118-F8CB76C2C18B}"/>
              </a:ext>
            </a:extLst>
          </p:cNvPr>
          <p:cNvSpPr/>
          <p:nvPr/>
        </p:nvSpPr>
        <p:spPr>
          <a:xfrm>
            <a:off x="8046720" y="1004862"/>
            <a:ext cx="3611880" cy="3411613"/>
          </a:xfrm>
          <a:prstGeom prst="rect">
            <a:avLst/>
          </a:prstGeom>
          <a:solidFill>
            <a:srgbClr val="F4F6FA"/>
          </a:solidFill>
          <a:ln w="12700">
            <a:solidFill>
              <a:srgbClr val="F4F6FA"/>
            </a:solidFill>
            <a:prstDash val="solid"/>
          </a:ln>
        </p:spPr>
        <p:txBody>
          <a:bodyPr/>
          <a:lstStyle/>
          <a:p>
            <a:endParaRPr lang="en-HU"/>
          </a:p>
        </p:txBody>
      </p:sp>
      <p:sp>
        <p:nvSpPr>
          <p:cNvPr id="14" name="Shape 14">
            <a:extLst>
              <a:ext uri="{FF2B5EF4-FFF2-40B4-BE49-F238E27FC236}">
                <a16:creationId xmlns:a16="http://schemas.microsoft.com/office/drawing/2014/main" id="{B041AFFC-E496-FACB-940F-141672716612}"/>
              </a:ext>
            </a:extLst>
          </p:cNvPr>
          <p:cNvSpPr/>
          <p:nvPr/>
        </p:nvSpPr>
        <p:spPr>
          <a:xfrm>
            <a:off x="8046720" y="1004862"/>
            <a:ext cx="73152" cy="3411613"/>
          </a:xfrm>
          <a:prstGeom prst="rect">
            <a:avLst/>
          </a:prstGeom>
          <a:solidFill>
            <a:srgbClr val="C8102E"/>
          </a:solidFill>
          <a:ln w="12700">
            <a:solidFill>
              <a:srgbClr val="C8102E"/>
            </a:solidFill>
            <a:prstDash val="solid"/>
          </a:ln>
        </p:spPr>
        <p:txBody>
          <a:bodyPr/>
          <a:lstStyle/>
          <a:p>
            <a:endParaRPr lang="en-HU"/>
          </a:p>
        </p:txBody>
      </p:sp>
      <p:sp>
        <p:nvSpPr>
          <p:cNvPr id="15" name="Text 15">
            <a:extLst>
              <a:ext uri="{FF2B5EF4-FFF2-40B4-BE49-F238E27FC236}">
                <a16:creationId xmlns:a16="http://schemas.microsoft.com/office/drawing/2014/main" id="{C2E40000-11F1-A349-B36A-6958281AFA64}"/>
              </a:ext>
            </a:extLst>
          </p:cNvPr>
          <p:cNvSpPr/>
          <p:nvPr/>
        </p:nvSpPr>
        <p:spPr>
          <a:xfrm>
            <a:off x="8275320" y="1023224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>
                <a:solidFill>
                  <a:srgbClr val="C81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2800"/>
          </a:p>
        </p:txBody>
      </p:sp>
      <p:sp>
        <p:nvSpPr>
          <p:cNvPr id="16" name="Text 16">
            <a:extLst>
              <a:ext uri="{FF2B5EF4-FFF2-40B4-BE49-F238E27FC236}">
                <a16:creationId xmlns:a16="http://schemas.microsoft.com/office/drawing/2014/main" id="{9BC4554C-8537-E049-CDF2-B22BC0948F9F}"/>
              </a:ext>
            </a:extLst>
          </p:cNvPr>
          <p:cNvSpPr/>
          <p:nvPr/>
        </p:nvSpPr>
        <p:spPr>
          <a:xfrm>
            <a:off x="8275320" y="1526144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A3D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Q3 - Is it available?</a:t>
            </a:r>
            <a:endParaRPr lang="en-US" sz="1800" dirty="0"/>
          </a:p>
        </p:txBody>
      </p:sp>
      <p:sp>
        <p:nvSpPr>
          <p:cNvPr id="17" name="Text 17">
            <a:extLst>
              <a:ext uri="{FF2B5EF4-FFF2-40B4-BE49-F238E27FC236}">
                <a16:creationId xmlns:a16="http://schemas.microsoft.com/office/drawing/2014/main" id="{CD95F071-4D64-830A-9CAF-31F5EB55C1C9}"/>
              </a:ext>
            </a:extLst>
          </p:cNvPr>
          <p:cNvSpPr/>
          <p:nvPr/>
        </p:nvSpPr>
        <p:spPr>
          <a:xfrm>
            <a:off x="8275320" y="1983344"/>
            <a:ext cx="320040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200"/>
              </a:spcAft>
              <a:buNone/>
            </a:pPr>
            <a:r>
              <a:rPr lang="en-US" sz="125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 - BAWAG holds </a:t>
            </a:r>
            <a:r>
              <a:rPr lang="en-US" sz="1250" b="1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substantial capital above requirements</a:t>
            </a:r>
            <a:r>
              <a:rPr lang="en-US" sz="125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250" dirty="0"/>
          </a:p>
          <a:p>
            <a:pPr marL="0" indent="0">
              <a:spcAft>
                <a:spcPts val="200"/>
              </a:spcAft>
              <a:buNone/>
            </a:pPr>
            <a:endParaRPr lang="en-US" sz="125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25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CET1 ratio of 12.9% (regulatory, KM1 Pillar 3; management CET1 = 14.2% per Key Financials) (Q4 2025) exceeds the 10.23% regulatory minimum and sits 227 bps above the MDA trigger.</a:t>
            </a:r>
            <a:endParaRPr lang="en-US" sz="1250" dirty="0"/>
          </a:p>
          <a:p>
            <a:pPr marL="0" indent="0">
              <a:spcAft>
                <a:spcPts val="200"/>
              </a:spcAft>
              <a:buNone/>
            </a:pPr>
            <a:endParaRPr lang="en-US" sz="125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25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CET1 capital of €2,915m (regulatory) on €22.6bn of RWA. (Regulatory CET1 per KM1: 12.9% / €2,915m)</a:t>
            </a:r>
            <a:endParaRPr lang="en-US" sz="1250" dirty="0"/>
          </a:p>
        </p:txBody>
      </p:sp>
      <p:sp>
        <p:nvSpPr>
          <p:cNvPr id="18" name="Shape 18">
            <a:extLst>
              <a:ext uri="{FF2B5EF4-FFF2-40B4-BE49-F238E27FC236}">
                <a16:creationId xmlns:a16="http://schemas.microsoft.com/office/drawing/2014/main" id="{C1232B60-23F9-6484-0803-FA58BC059E66}"/>
              </a:ext>
            </a:extLst>
          </p:cNvPr>
          <p:cNvSpPr/>
          <p:nvPr/>
        </p:nvSpPr>
        <p:spPr>
          <a:xfrm>
            <a:off x="457200" y="4535347"/>
            <a:ext cx="11247120" cy="1463040"/>
          </a:xfrm>
          <a:prstGeom prst="rect">
            <a:avLst/>
          </a:prstGeom>
          <a:solidFill>
            <a:srgbClr val="1A3D66"/>
          </a:solidFill>
          <a:ln w="12700">
            <a:solidFill>
              <a:srgbClr val="1A3D66"/>
            </a:solidFill>
            <a:prstDash val="solid"/>
          </a:ln>
        </p:spPr>
        <p:txBody>
          <a:bodyPr/>
          <a:lstStyle/>
          <a:p>
            <a:endParaRPr lang="en-HU"/>
          </a:p>
        </p:txBody>
      </p:sp>
      <p:sp>
        <p:nvSpPr>
          <p:cNvPr id="19" name="Text 19">
            <a:extLst>
              <a:ext uri="{FF2B5EF4-FFF2-40B4-BE49-F238E27FC236}">
                <a16:creationId xmlns:a16="http://schemas.microsoft.com/office/drawing/2014/main" id="{E81B0AE9-2C9A-70DF-95E8-DF03577365EC}"/>
              </a:ext>
            </a:extLst>
          </p:cNvPr>
          <p:cNvSpPr/>
          <p:nvPr/>
        </p:nvSpPr>
        <p:spPr>
          <a:xfrm>
            <a:off x="731520" y="4626787"/>
            <a:ext cx="10698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BAWAG Group - Key Capital Metrics (Q4 2025)</a:t>
            </a:r>
            <a:endParaRPr lang="en-US" sz="1200" dirty="0"/>
          </a:p>
        </p:txBody>
      </p:sp>
      <p:sp>
        <p:nvSpPr>
          <p:cNvPr id="20" name="Text 20">
            <a:extLst>
              <a:ext uri="{FF2B5EF4-FFF2-40B4-BE49-F238E27FC236}">
                <a16:creationId xmlns:a16="http://schemas.microsoft.com/office/drawing/2014/main" id="{395FCF11-86AC-C1C9-9988-D1B1BBFDA11E}"/>
              </a:ext>
            </a:extLst>
          </p:cNvPr>
          <p:cNvSpPr/>
          <p:nvPr/>
        </p:nvSpPr>
        <p:spPr>
          <a:xfrm>
            <a:off x="731520" y="4974259"/>
            <a:ext cx="20482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12.9%</a:t>
            </a:r>
            <a:endParaRPr lang="en-US" sz="2600"/>
          </a:p>
        </p:txBody>
      </p:sp>
      <p:sp>
        <p:nvSpPr>
          <p:cNvPr id="21" name="Text 21">
            <a:extLst>
              <a:ext uri="{FF2B5EF4-FFF2-40B4-BE49-F238E27FC236}">
                <a16:creationId xmlns:a16="http://schemas.microsoft.com/office/drawing/2014/main" id="{BD5516F7-6DAD-FECB-1BA5-7AC235097373}"/>
              </a:ext>
            </a:extLst>
          </p:cNvPr>
          <p:cNvSpPr/>
          <p:nvPr/>
        </p:nvSpPr>
        <p:spPr>
          <a:xfrm>
            <a:off x="731520" y="5431459"/>
            <a:ext cx="204825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CET1 ratio (reg., KM1)</a:t>
            </a:r>
            <a:endParaRPr lang="en-US" sz="1050"/>
          </a:p>
        </p:txBody>
      </p:sp>
      <p:sp>
        <p:nvSpPr>
          <p:cNvPr id="22" name="Text 22">
            <a:extLst>
              <a:ext uri="{FF2B5EF4-FFF2-40B4-BE49-F238E27FC236}">
                <a16:creationId xmlns:a16="http://schemas.microsoft.com/office/drawing/2014/main" id="{1B26C9F9-550B-5A1E-ABF5-42495C92C808}"/>
              </a:ext>
            </a:extLst>
          </p:cNvPr>
          <p:cNvSpPr/>
          <p:nvPr/>
        </p:nvSpPr>
        <p:spPr>
          <a:xfrm>
            <a:off x="731520" y="5632627"/>
            <a:ext cx="20482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>
                <a:solidFill>
                  <a:srgbClr val="B8C5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vs. 10.23% min  |  mgmt: 14.2%</a:t>
            </a:r>
            <a:endParaRPr lang="en-US" sz="900"/>
          </a:p>
        </p:txBody>
      </p:sp>
      <p:sp>
        <p:nvSpPr>
          <p:cNvPr id="23" name="Shape 23">
            <a:extLst>
              <a:ext uri="{FF2B5EF4-FFF2-40B4-BE49-F238E27FC236}">
                <a16:creationId xmlns:a16="http://schemas.microsoft.com/office/drawing/2014/main" id="{0C78EA2C-3853-4EAF-E26C-A2BACCE22AED}"/>
              </a:ext>
            </a:extLst>
          </p:cNvPr>
          <p:cNvSpPr/>
          <p:nvPr/>
        </p:nvSpPr>
        <p:spPr>
          <a:xfrm>
            <a:off x="2825496" y="5019979"/>
            <a:ext cx="0" cy="777240"/>
          </a:xfrm>
          <a:prstGeom prst="line">
            <a:avLst/>
          </a:prstGeom>
          <a:noFill/>
          <a:ln w="6350">
            <a:solidFill>
              <a:srgbClr val="4A6A90"/>
            </a:solidFill>
            <a:prstDash val="solid"/>
          </a:ln>
        </p:spPr>
        <p:txBody>
          <a:bodyPr/>
          <a:lstStyle/>
          <a:p>
            <a:endParaRPr lang="en-HU"/>
          </a:p>
        </p:txBody>
      </p:sp>
      <p:sp>
        <p:nvSpPr>
          <p:cNvPr id="24" name="Text 24">
            <a:extLst>
              <a:ext uri="{FF2B5EF4-FFF2-40B4-BE49-F238E27FC236}">
                <a16:creationId xmlns:a16="http://schemas.microsoft.com/office/drawing/2014/main" id="{FFB23799-6F7F-35A4-D071-8CE5BEA3E6C1}"/>
              </a:ext>
            </a:extLst>
          </p:cNvPr>
          <p:cNvSpPr/>
          <p:nvPr/>
        </p:nvSpPr>
        <p:spPr>
          <a:xfrm>
            <a:off x="2871216" y="4974259"/>
            <a:ext cx="20482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14.9%</a:t>
            </a:r>
            <a:endParaRPr lang="en-US" sz="2600" dirty="0"/>
          </a:p>
        </p:txBody>
      </p:sp>
      <p:sp>
        <p:nvSpPr>
          <p:cNvPr id="25" name="Text 25">
            <a:extLst>
              <a:ext uri="{FF2B5EF4-FFF2-40B4-BE49-F238E27FC236}">
                <a16:creationId xmlns:a16="http://schemas.microsoft.com/office/drawing/2014/main" id="{38EE881D-1D27-5BCD-FAFE-3CE045002546}"/>
              </a:ext>
            </a:extLst>
          </p:cNvPr>
          <p:cNvSpPr/>
          <p:nvPr/>
        </p:nvSpPr>
        <p:spPr>
          <a:xfrm>
            <a:off x="2871216" y="5431459"/>
            <a:ext cx="204825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Tier 1 ratio</a:t>
            </a:r>
            <a:endParaRPr lang="en-US" sz="1050"/>
          </a:p>
        </p:txBody>
      </p:sp>
      <p:sp>
        <p:nvSpPr>
          <p:cNvPr id="26" name="Text 26">
            <a:extLst>
              <a:ext uri="{FF2B5EF4-FFF2-40B4-BE49-F238E27FC236}">
                <a16:creationId xmlns:a16="http://schemas.microsoft.com/office/drawing/2014/main" id="{D701CC38-5D40-157D-928F-FFAC0E3A58EE}"/>
              </a:ext>
            </a:extLst>
          </p:cNvPr>
          <p:cNvSpPr/>
          <p:nvPr/>
        </p:nvSpPr>
        <p:spPr>
          <a:xfrm>
            <a:off x="2871216" y="5632627"/>
            <a:ext cx="20482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>
                <a:solidFill>
                  <a:srgbClr val="B8C5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vs. 12.85% limit</a:t>
            </a:r>
            <a:endParaRPr lang="en-US" sz="900"/>
          </a:p>
        </p:txBody>
      </p:sp>
      <p:sp>
        <p:nvSpPr>
          <p:cNvPr id="27" name="Shape 27">
            <a:extLst>
              <a:ext uri="{FF2B5EF4-FFF2-40B4-BE49-F238E27FC236}">
                <a16:creationId xmlns:a16="http://schemas.microsoft.com/office/drawing/2014/main" id="{3B0DAA78-ECDD-00BE-6CA7-C53909D3E598}"/>
              </a:ext>
            </a:extLst>
          </p:cNvPr>
          <p:cNvSpPr/>
          <p:nvPr/>
        </p:nvSpPr>
        <p:spPr>
          <a:xfrm>
            <a:off x="4965192" y="5019979"/>
            <a:ext cx="0" cy="777240"/>
          </a:xfrm>
          <a:prstGeom prst="line">
            <a:avLst/>
          </a:prstGeom>
          <a:noFill/>
          <a:ln w="6350">
            <a:solidFill>
              <a:srgbClr val="4A6A90"/>
            </a:solidFill>
            <a:prstDash val="solid"/>
          </a:ln>
        </p:spPr>
        <p:txBody>
          <a:bodyPr/>
          <a:lstStyle/>
          <a:p>
            <a:endParaRPr lang="en-HU"/>
          </a:p>
        </p:txBody>
      </p:sp>
      <p:sp>
        <p:nvSpPr>
          <p:cNvPr id="28" name="Text 28">
            <a:extLst>
              <a:ext uri="{FF2B5EF4-FFF2-40B4-BE49-F238E27FC236}">
                <a16:creationId xmlns:a16="http://schemas.microsoft.com/office/drawing/2014/main" id="{7C65FEE5-42E7-544A-7280-C232719E5DA0}"/>
              </a:ext>
            </a:extLst>
          </p:cNvPr>
          <p:cNvSpPr/>
          <p:nvPr/>
        </p:nvSpPr>
        <p:spPr>
          <a:xfrm>
            <a:off x="5010912" y="4974259"/>
            <a:ext cx="20482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18.0%</a:t>
            </a:r>
            <a:endParaRPr lang="en-US" sz="2600" dirty="0"/>
          </a:p>
        </p:txBody>
      </p:sp>
      <p:sp>
        <p:nvSpPr>
          <p:cNvPr id="29" name="Text 29">
            <a:extLst>
              <a:ext uri="{FF2B5EF4-FFF2-40B4-BE49-F238E27FC236}">
                <a16:creationId xmlns:a16="http://schemas.microsoft.com/office/drawing/2014/main" id="{493E7DC2-8753-7F71-FA40-C15E0A5A04ED}"/>
              </a:ext>
            </a:extLst>
          </p:cNvPr>
          <p:cNvSpPr/>
          <p:nvPr/>
        </p:nvSpPr>
        <p:spPr>
          <a:xfrm>
            <a:off x="5010912" y="5431459"/>
            <a:ext cx="204825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capital ratio</a:t>
            </a:r>
            <a:endParaRPr lang="en-US" sz="1050"/>
          </a:p>
        </p:txBody>
      </p:sp>
      <p:sp>
        <p:nvSpPr>
          <p:cNvPr id="30" name="Text 30">
            <a:extLst>
              <a:ext uri="{FF2B5EF4-FFF2-40B4-BE49-F238E27FC236}">
                <a16:creationId xmlns:a16="http://schemas.microsoft.com/office/drawing/2014/main" id="{6F7064FF-D8F4-8B45-1BA8-C31B58F2F860}"/>
              </a:ext>
            </a:extLst>
          </p:cNvPr>
          <p:cNvSpPr/>
          <p:nvPr/>
        </p:nvSpPr>
        <p:spPr>
          <a:xfrm>
            <a:off x="5010912" y="5632627"/>
            <a:ext cx="20482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>
                <a:solidFill>
                  <a:srgbClr val="B8C5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vs. 15.50% limit</a:t>
            </a:r>
            <a:endParaRPr lang="en-US" sz="900"/>
          </a:p>
        </p:txBody>
      </p:sp>
      <p:sp>
        <p:nvSpPr>
          <p:cNvPr id="31" name="Shape 31">
            <a:extLst>
              <a:ext uri="{FF2B5EF4-FFF2-40B4-BE49-F238E27FC236}">
                <a16:creationId xmlns:a16="http://schemas.microsoft.com/office/drawing/2014/main" id="{D34B76E8-504B-3A53-5128-8BFDF7637D46}"/>
              </a:ext>
            </a:extLst>
          </p:cNvPr>
          <p:cNvSpPr/>
          <p:nvPr/>
        </p:nvSpPr>
        <p:spPr>
          <a:xfrm>
            <a:off x="7104888" y="5019979"/>
            <a:ext cx="0" cy="777240"/>
          </a:xfrm>
          <a:prstGeom prst="line">
            <a:avLst/>
          </a:prstGeom>
          <a:noFill/>
          <a:ln w="6350">
            <a:solidFill>
              <a:srgbClr val="4A6A90"/>
            </a:solidFill>
            <a:prstDash val="solid"/>
          </a:ln>
        </p:spPr>
        <p:txBody>
          <a:bodyPr/>
          <a:lstStyle/>
          <a:p>
            <a:endParaRPr lang="en-HU"/>
          </a:p>
        </p:txBody>
      </p:sp>
      <p:sp>
        <p:nvSpPr>
          <p:cNvPr id="32" name="Text 32">
            <a:extLst>
              <a:ext uri="{FF2B5EF4-FFF2-40B4-BE49-F238E27FC236}">
                <a16:creationId xmlns:a16="http://schemas.microsoft.com/office/drawing/2014/main" id="{561455BA-9E84-B195-C6FA-F9FD3B85C6EC}"/>
              </a:ext>
            </a:extLst>
          </p:cNvPr>
          <p:cNvSpPr/>
          <p:nvPr/>
        </p:nvSpPr>
        <p:spPr>
          <a:xfrm>
            <a:off x="7150608" y="4992547"/>
            <a:ext cx="204825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227 vs </a:t>
            </a: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cs typeface="Calibri" pitchFamily="34" charset="-120"/>
              </a:rPr>
              <a:t>267 bps</a:t>
            </a:r>
            <a:endParaRPr lang="en-US" sz="2600" dirty="0"/>
          </a:p>
        </p:txBody>
      </p:sp>
      <p:sp>
        <p:nvSpPr>
          <p:cNvPr id="33" name="Text 33">
            <a:extLst>
              <a:ext uri="{FF2B5EF4-FFF2-40B4-BE49-F238E27FC236}">
                <a16:creationId xmlns:a16="http://schemas.microsoft.com/office/drawing/2014/main" id="{196A2786-4C1F-1FC2-5D48-85C7D24EB5CC}"/>
              </a:ext>
            </a:extLst>
          </p:cNvPr>
          <p:cNvSpPr/>
          <p:nvPr/>
        </p:nvSpPr>
        <p:spPr>
          <a:xfrm>
            <a:off x="7150608" y="5431459"/>
            <a:ext cx="204825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CET1 management buffer</a:t>
            </a:r>
            <a:endParaRPr lang="en-US" sz="1050"/>
          </a:p>
        </p:txBody>
      </p:sp>
      <p:sp>
        <p:nvSpPr>
          <p:cNvPr id="34" name="Text 34">
            <a:extLst>
              <a:ext uri="{FF2B5EF4-FFF2-40B4-BE49-F238E27FC236}">
                <a16:creationId xmlns:a16="http://schemas.microsoft.com/office/drawing/2014/main" id="{1B9E51DC-5C6C-09A2-E447-1F9848F60D0B}"/>
              </a:ext>
            </a:extLst>
          </p:cNvPr>
          <p:cNvSpPr/>
          <p:nvPr/>
        </p:nvSpPr>
        <p:spPr>
          <a:xfrm>
            <a:off x="7150608" y="5632627"/>
            <a:ext cx="20482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B8C5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above MDA trigger vs.</a:t>
            </a:r>
            <a:r>
              <a:rPr lang="en-US" sz="900" i="1" dirty="0">
                <a:solidFill>
                  <a:srgbClr val="B8C5D6"/>
                </a:solidFill>
                <a:latin typeface="Calibri" pitchFamily="34" charset="0"/>
                <a:cs typeface="Calibri" pitchFamily="34" charset="-120"/>
              </a:rPr>
              <a:t> SREP total</a:t>
            </a:r>
            <a:endParaRPr lang="en-US" sz="900" dirty="0"/>
          </a:p>
        </p:txBody>
      </p:sp>
      <p:sp>
        <p:nvSpPr>
          <p:cNvPr id="35" name="Shape 35">
            <a:extLst>
              <a:ext uri="{FF2B5EF4-FFF2-40B4-BE49-F238E27FC236}">
                <a16:creationId xmlns:a16="http://schemas.microsoft.com/office/drawing/2014/main" id="{455EAA61-7CE1-B867-3AE8-0AD899E74560}"/>
              </a:ext>
            </a:extLst>
          </p:cNvPr>
          <p:cNvSpPr/>
          <p:nvPr/>
        </p:nvSpPr>
        <p:spPr>
          <a:xfrm>
            <a:off x="9244584" y="5019979"/>
            <a:ext cx="0" cy="777240"/>
          </a:xfrm>
          <a:prstGeom prst="line">
            <a:avLst/>
          </a:prstGeom>
          <a:noFill/>
          <a:ln w="6350">
            <a:solidFill>
              <a:srgbClr val="4A6A90"/>
            </a:solidFill>
            <a:prstDash val="solid"/>
          </a:ln>
        </p:spPr>
        <p:txBody>
          <a:bodyPr/>
          <a:lstStyle/>
          <a:p>
            <a:endParaRPr lang="en-HU"/>
          </a:p>
        </p:txBody>
      </p:sp>
      <p:sp>
        <p:nvSpPr>
          <p:cNvPr id="36" name="Text 36">
            <a:extLst>
              <a:ext uri="{FF2B5EF4-FFF2-40B4-BE49-F238E27FC236}">
                <a16:creationId xmlns:a16="http://schemas.microsoft.com/office/drawing/2014/main" id="{1FD4E2B9-F180-A060-1AC2-6283B2D5DF57}"/>
              </a:ext>
            </a:extLst>
          </p:cNvPr>
          <p:cNvSpPr/>
          <p:nvPr/>
        </p:nvSpPr>
        <p:spPr>
          <a:xfrm>
            <a:off x="9290304" y="4974259"/>
            <a:ext cx="20482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4.5%</a:t>
            </a:r>
            <a:endParaRPr lang="en-US" sz="2600" dirty="0"/>
          </a:p>
        </p:txBody>
      </p:sp>
      <p:sp>
        <p:nvSpPr>
          <p:cNvPr id="37" name="Text 37">
            <a:extLst>
              <a:ext uri="{FF2B5EF4-FFF2-40B4-BE49-F238E27FC236}">
                <a16:creationId xmlns:a16="http://schemas.microsoft.com/office/drawing/2014/main" id="{CC5B4F71-4D14-442B-18A4-F6EACBB05954}"/>
              </a:ext>
            </a:extLst>
          </p:cNvPr>
          <p:cNvSpPr/>
          <p:nvPr/>
        </p:nvSpPr>
        <p:spPr>
          <a:xfrm>
            <a:off x="9290304" y="5431459"/>
            <a:ext cx="204825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Leverage ratio</a:t>
            </a:r>
            <a:endParaRPr lang="en-US" sz="1050"/>
          </a:p>
        </p:txBody>
      </p:sp>
      <p:sp>
        <p:nvSpPr>
          <p:cNvPr id="38" name="Text 38">
            <a:extLst>
              <a:ext uri="{FF2B5EF4-FFF2-40B4-BE49-F238E27FC236}">
                <a16:creationId xmlns:a16="http://schemas.microsoft.com/office/drawing/2014/main" id="{2BB2B104-E0B9-4337-15BD-97C4CF0DEEE7}"/>
              </a:ext>
            </a:extLst>
          </p:cNvPr>
          <p:cNvSpPr/>
          <p:nvPr/>
        </p:nvSpPr>
        <p:spPr>
          <a:xfrm>
            <a:off x="9290304" y="5632627"/>
            <a:ext cx="20482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>
                <a:solidFill>
                  <a:srgbClr val="B8C5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vs. 3.75% limit</a:t>
            </a:r>
            <a:endParaRPr lang="en-US" sz="900"/>
          </a:p>
        </p:txBody>
      </p:sp>
      <p:sp>
        <p:nvSpPr>
          <p:cNvPr id="39" name="Text 39">
            <a:extLst>
              <a:ext uri="{FF2B5EF4-FFF2-40B4-BE49-F238E27FC236}">
                <a16:creationId xmlns:a16="http://schemas.microsoft.com/office/drawing/2014/main" id="{71BA345A-092F-D746-EBCE-B9D1B26C669B}"/>
              </a:ext>
            </a:extLst>
          </p:cNvPr>
          <p:cNvSpPr/>
          <p:nvPr/>
        </p:nvSpPr>
        <p:spPr>
          <a:xfrm>
            <a:off x="457200" y="6263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900" i="1" dirty="0">
                <a:solidFill>
                  <a:srgbClr val="7A7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KM1 Pillar 3 Quantitative (reg. CET1 12.9%), Key Financials T02 (mgmt. CET1 14.2%), Annual Report 2025. Note: CRR Art. 26(2) vs. full retained earnings accounting difference. 12.9% - 10.23% = 2.67% = 267bps above SREP total;  approx. 227bps above MDA</a:t>
            </a:r>
          </a:p>
          <a:p>
            <a:endParaRPr lang="en-US" sz="900" dirty="0"/>
          </a:p>
        </p:txBody>
      </p:sp>
      <p:sp>
        <p:nvSpPr>
          <p:cNvPr id="40" name="Text 40">
            <a:extLst>
              <a:ext uri="{FF2B5EF4-FFF2-40B4-BE49-F238E27FC236}">
                <a16:creationId xmlns:a16="http://schemas.microsoft.com/office/drawing/2014/main" id="{A52FC1D0-A95F-9912-5011-0365EB4E5D2F}"/>
              </a:ext>
            </a:extLst>
          </p:cNvPr>
          <p:cNvSpPr/>
          <p:nvPr/>
        </p:nvSpPr>
        <p:spPr>
          <a:xfrm>
            <a:off x="8686800" y="6263640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A7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BAWAG Group - Regulatory Capital</a:t>
            </a:r>
            <a:endParaRPr lang="en-US" sz="900" dirty="0"/>
          </a:p>
        </p:txBody>
      </p:sp>
    </p:spTree>
    <p:extLst>
      <p:ext uri="{BB962C8B-B14F-4D97-AF65-F5344CB8AC3E}">
        <p14:creationId xmlns:p14="http://schemas.microsoft.com/office/powerpoint/2010/main" val="134548966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A7DEB84-01E9-957F-54EA-5D54374269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27160E84-98FC-74F3-B69B-50A87F38536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b="1" dirty="0"/>
              <a:t>Economic</a:t>
            </a:r>
            <a:r>
              <a:rPr lang="en-US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b="1" dirty="0"/>
              <a:t>Capital</a:t>
            </a:r>
          </a:p>
        </p:txBody>
      </p:sp>
      <p:sp>
        <p:nvSpPr>
          <p:cNvPr id="41" name="Shape 3">
            <a:extLst>
              <a:ext uri="{FF2B5EF4-FFF2-40B4-BE49-F238E27FC236}">
                <a16:creationId xmlns:a16="http://schemas.microsoft.com/office/drawing/2014/main" id="{814F657B-2C36-5E44-7700-DC919390A460}"/>
              </a:ext>
            </a:extLst>
          </p:cNvPr>
          <p:cNvSpPr/>
          <p:nvPr/>
        </p:nvSpPr>
        <p:spPr>
          <a:xfrm>
            <a:off x="457200" y="1068947"/>
            <a:ext cx="3611880" cy="3090672"/>
          </a:xfrm>
          <a:prstGeom prst="rect">
            <a:avLst/>
          </a:prstGeom>
          <a:solidFill>
            <a:srgbClr val="F4F6FA"/>
          </a:solidFill>
          <a:ln w="12700">
            <a:solidFill>
              <a:srgbClr val="F4F6FA"/>
            </a:solidFill>
            <a:prstDash val="solid"/>
          </a:ln>
        </p:spPr>
        <p:txBody>
          <a:bodyPr/>
          <a:lstStyle/>
          <a:p>
            <a:endParaRPr lang="en-HU"/>
          </a:p>
        </p:txBody>
      </p:sp>
      <p:sp>
        <p:nvSpPr>
          <p:cNvPr id="42" name="Shape 4">
            <a:extLst>
              <a:ext uri="{FF2B5EF4-FFF2-40B4-BE49-F238E27FC236}">
                <a16:creationId xmlns:a16="http://schemas.microsoft.com/office/drawing/2014/main" id="{CDF983C9-4DF9-839E-21D7-691CBDC4C351}"/>
              </a:ext>
            </a:extLst>
          </p:cNvPr>
          <p:cNvSpPr/>
          <p:nvPr/>
        </p:nvSpPr>
        <p:spPr>
          <a:xfrm>
            <a:off x="457200" y="1068947"/>
            <a:ext cx="73152" cy="3090672"/>
          </a:xfrm>
          <a:prstGeom prst="rect">
            <a:avLst/>
          </a:prstGeom>
          <a:solidFill>
            <a:srgbClr val="1A3D66"/>
          </a:solidFill>
          <a:ln w="12700">
            <a:solidFill>
              <a:srgbClr val="1A3D66"/>
            </a:solidFill>
            <a:prstDash val="solid"/>
          </a:ln>
        </p:spPr>
        <p:txBody>
          <a:bodyPr/>
          <a:lstStyle/>
          <a:p>
            <a:endParaRPr lang="en-HU"/>
          </a:p>
        </p:txBody>
      </p:sp>
      <p:sp>
        <p:nvSpPr>
          <p:cNvPr id="43" name="Text 5">
            <a:extLst>
              <a:ext uri="{FF2B5EF4-FFF2-40B4-BE49-F238E27FC236}">
                <a16:creationId xmlns:a16="http://schemas.microsoft.com/office/drawing/2014/main" id="{85645A22-D87E-1DC0-D9FF-5D15FF756DCF}"/>
              </a:ext>
            </a:extLst>
          </p:cNvPr>
          <p:cNvSpPr/>
          <p:nvPr/>
        </p:nvSpPr>
        <p:spPr>
          <a:xfrm>
            <a:off x="685800" y="1206107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>
                <a:solidFill>
                  <a:srgbClr val="2B4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2800"/>
          </a:p>
        </p:txBody>
      </p:sp>
      <p:sp>
        <p:nvSpPr>
          <p:cNvPr id="44" name="Text 6">
            <a:extLst>
              <a:ext uri="{FF2B5EF4-FFF2-40B4-BE49-F238E27FC236}">
                <a16:creationId xmlns:a16="http://schemas.microsoft.com/office/drawing/2014/main" id="{EE391633-46AE-DC01-51F8-39C358860F70}"/>
              </a:ext>
            </a:extLst>
          </p:cNvPr>
          <p:cNvSpPr/>
          <p:nvPr/>
        </p:nvSpPr>
        <p:spPr>
          <a:xfrm>
            <a:off x="685800" y="1709027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>
                <a:solidFill>
                  <a:srgbClr val="1A3D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it?</a:t>
            </a:r>
            <a:endParaRPr lang="en-US" sz="1800"/>
          </a:p>
        </p:txBody>
      </p:sp>
      <p:sp>
        <p:nvSpPr>
          <p:cNvPr id="45" name="Text 7">
            <a:extLst>
              <a:ext uri="{FF2B5EF4-FFF2-40B4-BE49-F238E27FC236}">
                <a16:creationId xmlns:a16="http://schemas.microsoft.com/office/drawing/2014/main" id="{42BC313A-C1ED-3818-8AA3-BF94AB496887}"/>
              </a:ext>
            </a:extLst>
          </p:cNvPr>
          <p:cNvSpPr/>
          <p:nvPr/>
        </p:nvSpPr>
        <p:spPr>
          <a:xfrm>
            <a:off x="685800" y="2166227"/>
            <a:ext cx="320040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200"/>
              </a:spcAft>
              <a:buNone/>
            </a:pPr>
            <a:r>
              <a:rPr lang="en-US" sz="12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Economic capital is the </a:t>
            </a:r>
            <a:r>
              <a:rPr lang="en-US" sz="1200" b="1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internal capital measure under Basel 3 Pillar 2</a:t>
            </a:r>
            <a:r>
              <a:rPr lang="en-US" sz="12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quantifying the capital needed to cover </a:t>
            </a:r>
            <a:r>
              <a:rPr lang="en-US" sz="1200" b="1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material risks</a:t>
            </a:r>
            <a:r>
              <a:rPr lang="en-US" sz="12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the bank faces.</a:t>
            </a:r>
            <a:endParaRPr lang="en-US" sz="1200" dirty="0"/>
          </a:p>
          <a:p>
            <a:pPr marL="0" indent="0">
              <a:spcAft>
                <a:spcPts val="200"/>
              </a:spcAft>
              <a:buNone/>
            </a:pPr>
            <a:endParaRPr lang="en-US" sz="12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2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Assessed through the </a:t>
            </a:r>
            <a:r>
              <a:rPr lang="en-US" sz="1200" b="1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ICAAP</a:t>
            </a:r>
            <a:r>
              <a:rPr lang="en-US" sz="12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(Internal Capital Adequacy Assessment Process) - goes beyond Pillar 1 to cover credit, market, operational, concentration and migration risk.</a:t>
            </a:r>
            <a:endParaRPr lang="en-US" sz="1200" dirty="0"/>
          </a:p>
        </p:txBody>
      </p:sp>
      <p:sp>
        <p:nvSpPr>
          <p:cNvPr id="46" name="Shape 8">
            <a:extLst>
              <a:ext uri="{FF2B5EF4-FFF2-40B4-BE49-F238E27FC236}">
                <a16:creationId xmlns:a16="http://schemas.microsoft.com/office/drawing/2014/main" id="{4553D066-964D-E9C1-6D66-BBF9FC8E5B96}"/>
              </a:ext>
            </a:extLst>
          </p:cNvPr>
          <p:cNvSpPr/>
          <p:nvPr/>
        </p:nvSpPr>
        <p:spPr>
          <a:xfrm>
            <a:off x="4251960" y="1068947"/>
            <a:ext cx="3611880" cy="3090672"/>
          </a:xfrm>
          <a:prstGeom prst="rect">
            <a:avLst/>
          </a:prstGeom>
          <a:solidFill>
            <a:srgbClr val="F4F6FA"/>
          </a:solidFill>
          <a:ln w="12700">
            <a:solidFill>
              <a:srgbClr val="F4F6FA"/>
            </a:solidFill>
            <a:prstDash val="solid"/>
          </a:ln>
        </p:spPr>
        <p:txBody>
          <a:bodyPr/>
          <a:lstStyle/>
          <a:p>
            <a:endParaRPr lang="en-HU"/>
          </a:p>
        </p:txBody>
      </p:sp>
      <p:sp>
        <p:nvSpPr>
          <p:cNvPr id="47" name="Shape 9">
            <a:extLst>
              <a:ext uri="{FF2B5EF4-FFF2-40B4-BE49-F238E27FC236}">
                <a16:creationId xmlns:a16="http://schemas.microsoft.com/office/drawing/2014/main" id="{F7478295-49C4-071F-DB1C-A676B2AE4920}"/>
              </a:ext>
            </a:extLst>
          </p:cNvPr>
          <p:cNvSpPr/>
          <p:nvPr/>
        </p:nvSpPr>
        <p:spPr>
          <a:xfrm>
            <a:off x="4251960" y="1068947"/>
            <a:ext cx="73152" cy="3090672"/>
          </a:xfrm>
          <a:prstGeom prst="rect">
            <a:avLst/>
          </a:prstGeom>
          <a:solidFill>
            <a:srgbClr val="1A3D66"/>
          </a:solidFill>
          <a:ln w="12700">
            <a:solidFill>
              <a:srgbClr val="1A3D66"/>
            </a:solidFill>
            <a:prstDash val="solid"/>
          </a:ln>
        </p:spPr>
        <p:txBody>
          <a:bodyPr/>
          <a:lstStyle/>
          <a:p>
            <a:endParaRPr lang="en-HU"/>
          </a:p>
        </p:txBody>
      </p:sp>
      <p:sp>
        <p:nvSpPr>
          <p:cNvPr id="48" name="Text 10">
            <a:extLst>
              <a:ext uri="{FF2B5EF4-FFF2-40B4-BE49-F238E27FC236}">
                <a16:creationId xmlns:a16="http://schemas.microsoft.com/office/drawing/2014/main" id="{BABF08DA-ACD1-AC6B-6F86-12E1AD471EE8}"/>
              </a:ext>
            </a:extLst>
          </p:cNvPr>
          <p:cNvSpPr/>
          <p:nvPr/>
        </p:nvSpPr>
        <p:spPr>
          <a:xfrm>
            <a:off x="4480560" y="1206107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>
                <a:solidFill>
                  <a:srgbClr val="2B4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2800"/>
          </a:p>
        </p:txBody>
      </p:sp>
      <p:sp>
        <p:nvSpPr>
          <p:cNvPr id="49" name="Text 11">
            <a:extLst>
              <a:ext uri="{FF2B5EF4-FFF2-40B4-BE49-F238E27FC236}">
                <a16:creationId xmlns:a16="http://schemas.microsoft.com/office/drawing/2014/main" id="{C6D45DB8-068D-6C05-3152-4ADF0DE67E61}"/>
              </a:ext>
            </a:extLst>
          </p:cNvPr>
          <p:cNvSpPr/>
          <p:nvPr/>
        </p:nvSpPr>
        <p:spPr>
          <a:xfrm>
            <a:off x="4480560" y="1709027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>
                <a:solidFill>
                  <a:srgbClr val="1A3D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is responsible?</a:t>
            </a:r>
            <a:endParaRPr lang="en-US" sz="1800"/>
          </a:p>
        </p:txBody>
      </p:sp>
      <p:sp>
        <p:nvSpPr>
          <p:cNvPr id="50" name="Text 12">
            <a:extLst>
              <a:ext uri="{FF2B5EF4-FFF2-40B4-BE49-F238E27FC236}">
                <a16:creationId xmlns:a16="http://schemas.microsoft.com/office/drawing/2014/main" id="{8A6131A9-C389-D0C7-E0D1-E224175DE62F}"/>
              </a:ext>
            </a:extLst>
          </p:cNvPr>
          <p:cNvSpPr/>
          <p:nvPr/>
        </p:nvSpPr>
        <p:spPr>
          <a:xfrm>
            <a:off x="4480560" y="2166227"/>
            <a:ext cx="320040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200"/>
              </a:spcAft>
              <a:buNone/>
            </a:pPr>
            <a:r>
              <a:rPr lang="en-US" sz="120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Unlike regulatory capital, the framework is </a:t>
            </a:r>
            <a:r>
              <a:rPr lang="en-US" sz="1200" b="1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defined internally</a:t>
            </a:r>
            <a:r>
              <a:rPr lang="en-US" sz="120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and reviewed by supervisors.</a:t>
            </a:r>
            <a:endParaRPr lang="en-US" sz="1200"/>
          </a:p>
          <a:p>
            <a:pPr marL="0" indent="0">
              <a:spcAft>
                <a:spcPts val="200"/>
              </a:spcAft>
              <a:buNone/>
            </a:pPr>
            <a:endParaRPr lang="en-US" sz="1200"/>
          </a:p>
          <a:p>
            <a:pPr marL="0" indent="0">
              <a:spcAft>
                <a:spcPts val="200"/>
              </a:spcAft>
              <a:buNone/>
            </a:pPr>
            <a:r>
              <a:rPr lang="en-US" sz="120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BAWAG: the </a:t>
            </a:r>
            <a:r>
              <a:rPr lang="en-US" sz="1200" b="1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Management Board</a:t>
            </a:r>
            <a:r>
              <a:rPr lang="en-US" sz="120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approves risk appetite annually; the </a:t>
            </a:r>
            <a:r>
              <a:rPr lang="en-US" sz="1200" b="1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 Risk Management &amp; Analytics</a:t>
            </a:r>
            <a:r>
              <a:rPr lang="en-US" sz="120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division coordinates risk strategy.</a:t>
            </a:r>
            <a:endParaRPr lang="en-US" sz="1200"/>
          </a:p>
          <a:p>
            <a:pPr marL="0" indent="0">
              <a:spcAft>
                <a:spcPts val="200"/>
              </a:spcAft>
              <a:buNone/>
            </a:pPr>
            <a:endParaRPr lang="en-US" sz="1200"/>
          </a:p>
          <a:p>
            <a:pPr marL="0" indent="0">
              <a:spcAft>
                <a:spcPts val="200"/>
              </a:spcAft>
              <a:buNone/>
            </a:pPr>
            <a:r>
              <a:rPr lang="en-US" sz="120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</a:t>
            </a:r>
            <a:r>
              <a:rPr lang="en-US" sz="1200" b="1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ECB (SSM)</a:t>
            </a:r>
            <a:r>
              <a:rPr lang="en-US" sz="120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challenges the ICAAP via the SREP.</a:t>
            </a:r>
            <a:endParaRPr lang="en-US" sz="1200"/>
          </a:p>
        </p:txBody>
      </p:sp>
      <p:sp>
        <p:nvSpPr>
          <p:cNvPr id="51" name="Shape 13">
            <a:extLst>
              <a:ext uri="{FF2B5EF4-FFF2-40B4-BE49-F238E27FC236}">
                <a16:creationId xmlns:a16="http://schemas.microsoft.com/office/drawing/2014/main" id="{0DED2A9F-5AD9-31C0-DE54-AD20899DD6F4}"/>
              </a:ext>
            </a:extLst>
          </p:cNvPr>
          <p:cNvSpPr/>
          <p:nvPr/>
        </p:nvSpPr>
        <p:spPr>
          <a:xfrm>
            <a:off x="8046720" y="1068947"/>
            <a:ext cx="3611880" cy="3090672"/>
          </a:xfrm>
          <a:prstGeom prst="rect">
            <a:avLst/>
          </a:prstGeom>
          <a:solidFill>
            <a:srgbClr val="F4F6FA"/>
          </a:solidFill>
          <a:ln w="12700">
            <a:solidFill>
              <a:srgbClr val="F4F6FA"/>
            </a:solidFill>
            <a:prstDash val="solid"/>
          </a:ln>
        </p:spPr>
        <p:txBody>
          <a:bodyPr/>
          <a:lstStyle/>
          <a:p>
            <a:endParaRPr lang="en-HU"/>
          </a:p>
        </p:txBody>
      </p:sp>
      <p:sp>
        <p:nvSpPr>
          <p:cNvPr id="52" name="Shape 14">
            <a:extLst>
              <a:ext uri="{FF2B5EF4-FFF2-40B4-BE49-F238E27FC236}">
                <a16:creationId xmlns:a16="http://schemas.microsoft.com/office/drawing/2014/main" id="{4220DB61-836F-348A-E6A8-ED976927DA19}"/>
              </a:ext>
            </a:extLst>
          </p:cNvPr>
          <p:cNvSpPr/>
          <p:nvPr/>
        </p:nvSpPr>
        <p:spPr>
          <a:xfrm>
            <a:off x="8046720" y="1068947"/>
            <a:ext cx="73152" cy="3090672"/>
          </a:xfrm>
          <a:prstGeom prst="rect">
            <a:avLst/>
          </a:prstGeom>
          <a:solidFill>
            <a:srgbClr val="C8102E"/>
          </a:solidFill>
          <a:ln w="12700">
            <a:solidFill>
              <a:srgbClr val="C8102E"/>
            </a:solidFill>
            <a:prstDash val="solid"/>
          </a:ln>
        </p:spPr>
        <p:txBody>
          <a:bodyPr/>
          <a:lstStyle/>
          <a:p>
            <a:endParaRPr lang="en-HU"/>
          </a:p>
        </p:txBody>
      </p:sp>
      <p:sp>
        <p:nvSpPr>
          <p:cNvPr id="53" name="Text 15">
            <a:extLst>
              <a:ext uri="{FF2B5EF4-FFF2-40B4-BE49-F238E27FC236}">
                <a16:creationId xmlns:a16="http://schemas.microsoft.com/office/drawing/2014/main" id="{F0408FB3-43AC-98B1-8511-808B529D55C8}"/>
              </a:ext>
            </a:extLst>
          </p:cNvPr>
          <p:cNvSpPr/>
          <p:nvPr/>
        </p:nvSpPr>
        <p:spPr>
          <a:xfrm>
            <a:off x="8275320" y="1206107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>
                <a:solidFill>
                  <a:srgbClr val="C81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2800"/>
          </a:p>
        </p:txBody>
      </p:sp>
      <p:sp>
        <p:nvSpPr>
          <p:cNvPr id="54" name="Text 16">
            <a:extLst>
              <a:ext uri="{FF2B5EF4-FFF2-40B4-BE49-F238E27FC236}">
                <a16:creationId xmlns:a16="http://schemas.microsoft.com/office/drawing/2014/main" id="{E9D83768-6B80-F257-881E-3D2D19CC54FD}"/>
              </a:ext>
            </a:extLst>
          </p:cNvPr>
          <p:cNvSpPr/>
          <p:nvPr/>
        </p:nvSpPr>
        <p:spPr>
          <a:xfrm>
            <a:off x="8275320" y="1709027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A3D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Q3 - ICAAP adequacy</a:t>
            </a:r>
            <a:endParaRPr lang="en-US" sz="1800" dirty="0"/>
          </a:p>
        </p:txBody>
      </p:sp>
      <p:sp>
        <p:nvSpPr>
          <p:cNvPr id="55" name="Text 17">
            <a:extLst>
              <a:ext uri="{FF2B5EF4-FFF2-40B4-BE49-F238E27FC236}">
                <a16:creationId xmlns:a16="http://schemas.microsoft.com/office/drawing/2014/main" id="{FD66EDC7-3404-DF2A-F7A4-963CF859712C}"/>
              </a:ext>
            </a:extLst>
          </p:cNvPr>
          <p:cNvSpPr/>
          <p:nvPr/>
        </p:nvSpPr>
        <p:spPr>
          <a:xfrm>
            <a:off x="8275320" y="2166227"/>
            <a:ext cx="320040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200"/>
              </a:spcAft>
              <a:buNone/>
            </a:pPr>
            <a:r>
              <a:rPr lang="en-US" sz="12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 - BAWAG operates with </a:t>
            </a:r>
            <a:r>
              <a:rPr lang="en-US" sz="1200" b="1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comfortable internal capital headroom</a:t>
            </a:r>
            <a:r>
              <a:rPr lang="en-US" sz="12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200" dirty="0"/>
          </a:p>
          <a:p>
            <a:pPr marL="0" indent="0">
              <a:spcAft>
                <a:spcPts val="200"/>
              </a:spcAft>
              <a:buNone/>
            </a:pPr>
            <a:endParaRPr lang="en-US" sz="12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2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Internal capital utilization of </a:t>
            </a:r>
            <a:r>
              <a:rPr lang="en-US" sz="1200" b="1" dirty="0">
                <a:solidFill>
                  <a:srgbClr val="C81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71.5%</a:t>
            </a:r>
            <a:r>
              <a:rPr lang="en-US" sz="12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well below the 90% target and 95% limit.</a:t>
            </a:r>
            <a:endParaRPr lang="en-US" sz="1200" dirty="0"/>
          </a:p>
          <a:p>
            <a:pPr marL="0" indent="0">
              <a:spcAft>
                <a:spcPts val="200"/>
              </a:spcAft>
              <a:buNone/>
            </a:pPr>
            <a:endParaRPr lang="en-US" sz="12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2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ICAAP limits utilization of </a:t>
            </a:r>
            <a:r>
              <a:rPr lang="en-US" sz="1200" b="1" dirty="0">
                <a:solidFill>
                  <a:srgbClr val="C81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77.0%</a:t>
            </a:r>
            <a:r>
              <a:rPr lang="en-US" sz="12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(limit &lt; 100%).</a:t>
            </a:r>
            <a:endParaRPr lang="en-US" sz="1200" dirty="0"/>
          </a:p>
          <a:p>
            <a:pPr marL="0" indent="0">
              <a:spcAft>
                <a:spcPts val="200"/>
              </a:spcAft>
              <a:buNone/>
            </a:pPr>
            <a:endParaRPr lang="en-US" sz="12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2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Dedicated economic capital is allocated for </a:t>
            </a:r>
            <a:r>
              <a:rPr lang="en-US" sz="1200" b="1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migration risk</a:t>
            </a:r>
            <a:r>
              <a:rPr lang="en-US" sz="12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and concentration risk.</a:t>
            </a:r>
            <a:endParaRPr lang="en-US" sz="1200" dirty="0"/>
          </a:p>
          <a:p>
            <a:endParaRPr lang="en-US" sz="1200" dirty="0"/>
          </a:p>
          <a:p>
            <a:r>
              <a:rPr lang="en-US" sz="12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Interpretation: At 71.5% internal capital </a:t>
            </a:r>
            <a:r>
              <a:rPr lang="en-US" sz="1200" dirty="0" err="1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utilisation</a:t>
            </a:r>
            <a:r>
              <a:rPr lang="en-US" sz="12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BAWAG has 28.5pp headroom vs. the 95% limit - meaning the bank holds substantial voluntary capital above what its own risk models require. Unlike regulatory capital (a Pillar 1 floor), economic capital is calibrated to actual risk exposure and can inform dividend and growth decisions.</a:t>
            </a:r>
          </a:p>
        </p:txBody>
      </p:sp>
      <p:sp>
        <p:nvSpPr>
          <p:cNvPr id="56" name="Shape 18">
            <a:extLst>
              <a:ext uri="{FF2B5EF4-FFF2-40B4-BE49-F238E27FC236}">
                <a16:creationId xmlns:a16="http://schemas.microsoft.com/office/drawing/2014/main" id="{0676C5AA-854D-07FD-1A5D-8651A2CC0D73}"/>
              </a:ext>
            </a:extLst>
          </p:cNvPr>
          <p:cNvSpPr/>
          <p:nvPr/>
        </p:nvSpPr>
        <p:spPr>
          <a:xfrm>
            <a:off x="457200" y="4269347"/>
            <a:ext cx="11247120" cy="1463040"/>
          </a:xfrm>
          <a:prstGeom prst="rect">
            <a:avLst/>
          </a:prstGeom>
          <a:solidFill>
            <a:srgbClr val="1A3D66"/>
          </a:solidFill>
          <a:ln w="12700">
            <a:solidFill>
              <a:srgbClr val="1A3D66"/>
            </a:solidFill>
            <a:prstDash val="solid"/>
          </a:ln>
        </p:spPr>
        <p:txBody>
          <a:bodyPr/>
          <a:lstStyle/>
          <a:p>
            <a:endParaRPr lang="en-HU"/>
          </a:p>
        </p:txBody>
      </p:sp>
      <p:sp>
        <p:nvSpPr>
          <p:cNvPr id="57" name="Text 19">
            <a:extLst>
              <a:ext uri="{FF2B5EF4-FFF2-40B4-BE49-F238E27FC236}">
                <a16:creationId xmlns:a16="http://schemas.microsoft.com/office/drawing/2014/main" id="{00A5A617-87C3-784B-9056-6E4166091C8B}"/>
              </a:ext>
            </a:extLst>
          </p:cNvPr>
          <p:cNvSpPr/>
          <p:nvPr/>
        </p:nvSpPr>
        <p:spPr>
          <a:xfrm>
            <a:off x="731520" y="4360787"/>
            <a:ext cx="10698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BAWAG Group - Key Internal Capital Metrics (31.12.2025)</a:t>
            </a:r>
            <a:endParaRPr lang="en-US" sz="1200" dirty="0"/>
          </a:p>
        </p:txBody>
      </p:sp>
      <p:sp>
        <p:nvSpPr>
          <p:cNvPr id="58" name="Text 20">
            <a:extLst>
              <a:ext uri="{FF2B5EF4-FFF2-40B4-BE49-F238E27FC236}">
                <a16:creationId xmlns:a16="http://schemas.microsoft.com/office/drawing/2014/main" id="{7BAE51FF-7B91-49B9-8D9B-484A66C23DC9}"/>
              </a:ext>
            </a:extLst>
          </p:cNvPr>
          <p:cNvSpPr/>
          <p:nvPr/>
        </p:nvSpPr>
        <p:spPr>
          <a:xfrm>
            <a:off x="731520" y="4708259"/>
            <a:ext cx="20482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71.5%</a:t>
            </a:r>
            <a:endParaRPr lang="en-US" sz="2600"/>
          </a:p>
        </p:txBody>
      </p:sp>
      <p:sp>
        <p:nvSpPr>
          <p:cNvPr id="59" name="Text 21">
            <a:extLst>
              <a:ext uri="{FF2B5EF4-FFF2-40B4-BE49-F238E27FC236}">
                <a16:creationId xmlns:a16="http://schemas.microsoft.com/office/drawing/2014/main" id="{EE96BDD1-16BE-3946-BFCB-2D3CE323EAAB}"/>
              </a:ext>
            </a:extLst>
          </p:cNvPr>
          <p:cNvSpPr/>
          <p:nvPr/>
        </p:nvSpPr>
        <p:spPr>
          <a:xfrm>
            <a:off x="731520" y="5165459"/>
            <a:ext cx="204825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Internal capital utilization</a:t>
            </a:r>
            <a:endParaRPr lang="en-US" sz="1050"/>
          </a:p>
        </p:txBody>
      </p:sp>
      <p:sp>
        <p:nvSpPr>
          <p:cNvPr id="60" name="Text 22">
            <a:extLst>
              <a:ext uri="{FF2B5EF4-FFF2-40B4-BE49-F238E27FC236}">
                <a16:creationId xmlns:a16="http://schemas.microsoft.com/office/drawing/2014/main" id="{BE77938A-87C4-27B5-624C-F5CA792FF30A}"/>
              </a:ext>
            </a:extLst>
          </p:cNvPr>
          <p:cNvSpPr/>
          <p:nvPr/>
        </p:nvSpPr>
        <p:spPr>
          <a:xfrm>
            <a:off x="731520" y="5366627"/>
            <a:ext cx="20482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>
                <a:solidFill>
                  <a:srgbClr val="B8C5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&lt; 90% / limit &lt; 95%</a:t>
            </a:r>
            <a:endParaRPr lang="en-US" sz="900"/>
          </a:p>
        </p:txBody>
      </p:sp>
      <p:sp>
        <p:nvSpPr>
          <p:cNvPr id="61" name="Shape 23">
            <a:extLst>
              <a:ext uri="{FF2B5EF4-FFF2-40B4-BE49-F238E27FC236}">
                <a16:creationId xmlns:a16="http://schemas.microsoft.com/office/drawing/2014/main" id="{EE65BADF-D7C8-3C4D-BE59-7BAF05507E8D}"/>
              </a:ext>
            </a:extLst>
          </p:cNvPr>
          <p:cNvSpPr/>
          <p:nvPr/>
        </p:nvSpPr>
        <p:spPr>
          <a:xfrm>
            <a:off x="2825496" y="4753979"/>
            <a:ext cx="0" cy="777240"/>
          </a:xfrm>
          <a:prstGeom prst="line">
            <a:avLst/>
          </a:prstGeom>
          <a:noFill/>
          <a:ln w="6350">
            <a:solidFill>
              <a:srgbClr val="4A6A90"/>
            </a:solidFill>
            <a:prstDash val="solid"/>
          </a:ln>
        </p:spPr>
        <p:txBody>
          <a:bodyPr/>
          <a:lstStyle/>
          <a:p>
            <a:endParaRPr lang="en-HU"/>
          </a:p>
        </p:txBody>
      </p:sp>
      <p:sp>
        <p:nvSpPr>
          <p:cNvPr id="62" name="Text 24">
            <a:extLst>
              <a:ext uri="{FF2B5EF4-FFF2-40B4-BE49-F238E27FC236}">
                <a16:creationId xmlns:a16="http://schemas.microsoft.com/office/drawing/2014/main" id="{40315A3C-7118-D35C-A90F-4E4CE3C01775}"/>
              </a:ext>
            </a:extLst>
          </p:cNvPr>
          <p:cNvSpPr/>
          <p:nvPr/>
        </p:nvSpPr>
        <p:spPr>
          <a:xfrm>
            <a:off x="2871216" y="4708259"/>
            <a:ext cx="20482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77.0%</a:t>
            </a:r>
            <a:endParaRPr lang="en-US" sz="2600"/>
          </a:p>
        </p:txBody>
      </p:sp>
      <p:sp>
        <p:nvSpPr>
          <p:cNvPr id="63" name="Text 25">
            <a:extLst>
              <a:ext uri="{FF2B5EF4-FFF2-40B4-BE49-F238E27FC236}">
                <a16:creationId xmlns:a16="http://schemas.microsoft.com/office/drawing/2014/main" id="{430DC6FF-42A6-5F99-69DC-1F75D639BEB5}"/>
              </a:ext>
            </a:extLst>
          </p:cNvPr>
          <p:cNvSpPr/>
          <p:nvPr/>
        </p:nvSpPr>
        <p:spPr>
          <a:xfrm>
            <a:off x="2871216" y="5165459"/>
            <a:ext cx="204825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ICAAP limits utilization</a:t>
            </a:r>
            <a:endParaRPr lang="en-US" sz="1050"/>
          </a:p>
        </p:txBody>
      </p:sp>
      <p:sp>
        <p:nvSpPr>
          <p:cNvPr id="64" name="Text 26">
            <a:extLst>
              <a:ext uri="{FF2B5EF4-FFF2-40B4-BE49-F238E27FC236}">
                <a16:creationId xmlns:a16="http://schemas.microsoft.com/office/drawing/2014/main" id="{1B840B16-5B2E-1E40-5A76-3C9C919F6A2B}"/>
              </a:ext>
            </a:extLst>
          </p:cNvPr>
          <p:cNvSpPr/>
          <p:nvPr/>
        </p:nvSpPr>
        <p:spPr>
          <a:xfrm>
            <a:off x="2871216" y="5366627"/>
            <a:ext cx="20482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>
                <a:solidFill>
                  <a:srgbClr val="B8C5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 &lt; 100%</a:t>
            </a:r>
            <a:endParaRPr lang="en-US" sz="900"/>
          </a:p>
        </p:txBody>
      </p:sp>
      <p:sp>
        <p:nvSpPr>
          <p:cNvPr id="65" name="Shape 27">
            <a:extLst>
              <a:ext uri="{FF2B5EF4-FFF2-40B4-BE49-F238E27FC236}">
                <a16:creationId xmlns:a16="http://schemas.microsoft.com/office/drawing/2014/main" id="{712CCE72-15A1-0030-3040-BD1911B47844}"/>
              </a:ext>
            </a:extLst>
          </p:cNvPr>
          <p:cNvSpPr/>
          <p:nvPr/>
        </p:nvSpPr>
        <p:spPr>
          <a:xfrm>
            <a:off x="4965192" y="4753979"/>
            <a:ext cx="0" cy="777240"/>
          </a:xfrm>
          <a:prstGeom prst="line">
            <a:avLst/>
          </a:prstGeom>
          <a:noFill/>
          <a:ln w="6350">
            <a:solidFill>
              <a:srgbClr val="4A6A90"/>
            </a:solidFill>
            <a:prstDash val="solid"/>
          </a:ln>
        </p:spPr>
        <p:txBody>
          <a:bodyPr/>
          <a:lstStyle/>
          <a:p>
            <a:endParaRPr lang="en-HU"/>
          </a:p>
        </p:txBody>
      </p:sp>
      <p:sp>
        <p:nvSpPr>
          <p:cNvPr id="66" name="Text 28">
            <a:extLst>
              <a:ext uri="{FF2B5EF4-FFF2-40B4-BE49-F238E27FC236}">
                <a16:creationId xmlns:a16="http://schemas.microsoft.com/office/drawing/2014/main" id="{0216287B-D315-4020-3937-4F14582EB071}"/>
              </a:ext>
            </a:extLst>
          </p:cNvPr>
          <p:cNvSpPr/>
          <p:nvPr/>
        </p:nvSpPr>
        <p:spPr>
          <a:xfrm>
            <a:off x="5010912" y="4708259"/>
            <a:ext cx="20482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204% vs 218%</a:t>
            </a:r>
            <a:endParaRPr lang="en-US" sz="2600" dirty="0"/>
          </a:p>
        </p:txBody>
      </p:sp>
      <p:sp>
        <p:nvSpPr>
          <p:cNvPr id="67" name="Text 29">
            <a:extLst>
              <a:ext uri="{FF2B5EF4-FFF2-40B4-BE49-F238E27FC236}">
                <a16:creationId xmlns:a16="http://schemas.microsoft.com/office/drawing/2014/main" id="{E8518398-D55F-65CB-885C-38E5C99FC0B7}"/>
              </a:ext>
            </a:extLst>
          </p:cNvPr>
          <p:cNvSpPr/>
          <p:nvPr/>
        </p:nvSpPr>
        <p:spPr>
          <a:xfrm>
            <a:off x="5010912" y="5165459"/>
            <a:ext cx="204825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LCR (</a:t>
            </a:r>
            <a:r>
              <a:rPr lang="en-US" sz="1050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Mgmt</a:t>
            </a: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vs Regulatory</a:t>
            </a:r>
            <a:endParaRPr lang="en-US" sz="1050" dirty="0"/>
          </a:p>
        </p:txBody>
      </p:sp>
      <p:sp>
        <p:nvSpPr>
          <p:cNvPr id="68" name="Text 30">
            <a:extLst>
              <a:ext uri="{FF2B5EF4-FFF2-40B4-BE49-F238E27FC236}">
                <a16:creationId xmlns:a16="http://schemas.microsoft.com/office/drawing/2014/main" id="{FAD74CC5-931E-7C02-353D-4E0D540814FF}"/>
              </a:ext>
            </a:extLst>
          </p:cNvPr>
          <p:cNvSpPr/>
          <p:nvPr/>
        </p:nvSpPr>
        <p:spPr>
          <a:xfrm>
            <a:off x="5010912" y="5366627"/>
            <a:ext cx="20482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>
                <a:solidFill>
                  <a:srgbClr val="B8C5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&gt; 130% / limit &gt; 110%</a:t>
            </a:r>
            <a:endParaRPr lang="en-US" sz="900"/>
          </a:p>
        </p:txBody>
      </p:sp>
      <p:sp>
        <p:nvSpPr>
          <p:cNvPr id="69" name="Shape 31">
            <a:extLst>
              <a:ext uri="{FF2B5EF4-FFF2-40B4-BE49-F238E27FC236}">
                <a16:creationId xmlns:a16="http://schemas.microsoft.com/office/drawing/2014/main" id="{633C63C0-9E17-98C2-53BD-4CF05D94369C}"/>
              </a:ext>
            </a:extLst>
          </p:cNvPr>
          <p:cNvSpPr/>
          <p:nvPr/>
        </p:nvSpPr>
        <p:spPr>
          <a:xfrm>
            <a:off x="7104888" y="4753979"/>
            <a:ext cx="0" cy="777240"/>
          </a:xfrm>
          <a:prstGeom prst="line">
            <a:avLst/>
          </a:prstGeom>
          <a:noFill/>
          <a:ln w="6350">
            <a:solidFill>
              <a:srgbClr val="4A6A90"/>
            </a:solidFill>
            <a:prstDash val="solid"/>
          </a:ln>
        </p:spPr>
        <p:txBody>
          <a:bodyPr/>
          <a:lstStyle/>
          <a:p>
            <a:endParaRPr lang="en-HU"/>
          </a:p>
        </p:txBody>
      </p:sp>
      <p:sp>
        <p:nvSpPr>
          <p:cNvPr id="70" name="Text 32">
            <a:extLst>
              <a:ext uri="{FF2B5EF4-FFF2-40B4-BE49-F238E27FC236}">
                <a16:creationId xmlns:a16="http://schemas.microsoft.com/office/drawing/2014/main" id="{6F572440-F3BC-59E3-5CCB-A2C98FD21915}"/>
              </a:ext>
            </a:extLst>
          </p:cNvPr>
          <p:cNvSpPr/>
          <p:nvPr/>
        </p:nvSpPr>
        <p:spPr>
          <a:xfrm>
            <a:off x="7150608" y="4708259"/>
            <a:ext cx="20482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142%</a:t>
            </a:r>
            <a:endParaRPr lang="en-US" sz="2600"/>
          </a:p>
        </p:txBody>
      </p:sp>
      <p:sp>
        <p:nvSpPr>
          <p:cNvPr id="71" name="Text 33">
            <a:extLst>
              <a:ext uri="{FF2B5EF4-FFF2-40B4-BE49-F238E27FC236}">
                <a16:creationId xmlns:a16="http://schemas.microsoft.com/office/drawing/2014/main" id="{5E82A72A-B83F-FC6F-7447-133309AC9092}"/>
              </a:ext>
            </a:extLst>
          </p:cNvPr>
          <p:cNvSpPr/>
          <p:nvPr/>
        </p:nvSpPr>
        <p:spPr>
          <a:xfrm>
            <a:off x="7150608" y="5165459"/>
            <a:ext cx="204825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NSFR</a:t>
            </a:r>
            <a:endParaRPr lang="en-US" sz="1050"/>
          </a:p>
        </p:txBody>
      </p:sp>
      <p:sp>
        <p:nvSpPr>
          <p:cNvPr id="72" name="Text 34">
            <a:extLst>
              <a:ext uri="{FF2B5EF4-FFF2-40B4-BE49-F238E27FC236}">
                <a16:creationId xmlns:a16="http://schemas.microsoft.com/office/drawing/2014/main" id="{23EE4910-A7C0-0DCD-8257-D8893BF2349D}"/>
              </a:ext>
            </a:extLst>
          </p:cNvPr>
          <p:cNvSpPr/>
          <p:nvPr/>
        </p:nvSpPr>
        <p:spPr>
          <a:xfrm>
            <a:off x="7150608" y="5366627"/>
            <a:ext cx="20482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>
                <a:solidFill>
                  <a:srgbClr val="B8C5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 &gt; 110%</a:t>
            </a:r>
            <a:endParaRPr lang="en-US" sz="900"/>
          </a:p>
        </p:txBody>
      </p:sp>
      <p:sp>
        <p:nvSpPr>
          <p:cNvPr id="73" name="Shape 35">
            <a:extLst>
              <a:ext uri="{FF2B5EF4-FFF2-40B4-BE49-F238E27FC236}">
                <a16:creationId xmlns:a16="http://schemas.microsoft.com/office/drawing/2014/main" id="{5F22B6E2-B0EC-F3E3-1B94-3699CAA4B11D}"/>
              </a:ext>
            </a:extLst>
          </p:cNvPr>
          <p:cNvSpPr/>
          <p:nvPr/>
        </p:nvSpPr>
        <p:spPr>
          <a:xfrm>
            <a:off x="9244584" y="4753979"/>
            <a:ext cx="0" cy="777240"/>
          </a:xfrm>
          <a:prstGeom prst="line">
            <a:avLst/>
          </a:prstGeom>
          <a:noFill/>
          <a:ln w="6350">
            <a:solidFill>
              <a:srgbClr val="4A6A90"/>
            </a:solidFill>
            <a:prstDash val="solid"/>
          </a:ln>
        </p:spPr>
        <p:txBody>
          <a:bodyPr/>
          <a:lstStyle/>
          <a:p>
            <a:endParaRPr lang="en-HU"/>
          </a:p>
        </p:txBody>
      </p:sp>
      <p:sp>
        <p:nvSpPr>
          <p:cNvPr id="74" name="Text 36">
            <a:extLst>
              <a:ext uri="{FF2B5EF4-FFF2-40B4-BE49-F238E27FC236}">
                <a16:creationId xmlns:a16="http://schemas.microsoft.com/office/drawing/2014/main" id="{8D8F4C8E-7A72-0546-6878-D627BA5FE106}"/>
              </a:ext>
            </a:extLst>
          </p:cNvPr>
          <p:cNvSpPr/>
          <p:nvPr/>
        </p:nvSpPr>
        <p:spPr>
          <a:xfrm>
            <a:off x="9290304" y="4708259"/>
            <a:ext cx="20482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0.8%</a:t>
            </a:r>
            <a:endParaRPr lang="en-US" sz="2600"/>
          </a:p>
        </p:txBody>
      </p:sp>
      <p:sp>
        <p:nvSpPr>
          <p:cNvPr id="75" name="Text 37">
            <a:extLst>
              <a:ext uri="{FF2B5EF4-FFF2-40B4-BE49-F238E27FC236}">
                <a16:creationId xmlns:a16="http://schemas.microsoft.com/office/drawing/2014/main" id="{6D8CA742-36B3-9731-19BF-A049986AA0D5}"/>
              </a:ext>
            </a:extLst>
          </p:cNvPr>
          <p:cNvSpPr/>
          <p:nvPr/>
        </p:nvSpPr>
        <p:spPr>
          <a:xfrm>
            <a:off x="9290304" y="5165459"/>
            <a:ext cx="204825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NPL ratio</a:t>
            </a:r>
            <a:endParaRPr lang="en-US" sz="1050" dirty="0"/>
          </a:p>
        </p:txBody>
      </p:sp>
      <p:sp>
        <p:nvSpPr>
          <p:cNvPr id="76" name="Text 38">
            <a:extLst>
              <a:ext uri="{FF2B5EF4-FFF2-40B4-BE49-F238E27FC236}">
                <a16:creationId xmlns:a16="http://schemas.microsoft.com/office/drawing/2014/main" id="{27BF837D-E2AD-59CE-0732-9B87E314E186}"/>
              </a:ext>
            </a:extLst>
          </p:cNvPr>
          <p:cNvSpPr/>
          <p:nvPr/>
        </p:nvSpPr>
        <p:spPr>
          <a:xfrm>
            <a:off x="9290304" y="5366627"/>
            <a:ext cx="20482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>
                <a:solidFill>
                  <a:srgbClr val="B8C5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&lt; 2.5% / limit &lt; 3.0%</a:t>
            </a:r>
            <a:endParaRPr lang="en-US" sz="900"/>
          </a:p>
        </p:txBody>
      </p:sp>
      <p:sp>
        <p:nvSpPr>
          <p:cNvPr id="77" name="Text 39">
            <a:extLst>
              <a:ext uri="{FF2B5EF4-FFF2-40B4-BE49-F238E27FC236}">
                <a16:creationId xmlns:a16="http://schemas.microsoft.com/office/drawing/2014/main" id="{5280EE20-B1ED-599F-B4BD-3B451E6FFB54}"/>
              </a:ext>
            </a:extLst>
          </p:cNvPr>
          <p:cNvSpPr/>
          <p:nvPr/>
        </p:nvSpPr>
        <p:spPr>
          <a:xfrm>
            <a:off x="457200" y="6263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7A7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BAWAG Group Annual Report 2025 - Risk Appetite Statement &amp; ICAAP disclosures</a:t>
            </a:r>
            <a:endParaRPr lang="en-US" sz="900" dirty="0"/>
          </a:p>
        </p:txBody>
      </p:sp>
      <p:sp>
        <p:nvSpPr>
          <p:cNvPr id="78" name="Text 40">
            <a:extLst>
              <a:ext uri="{FF2B5EF4-FFF2-40B4-BE49-F238E27FC236}">
                <a16:creationId xmlns:a16="http://schemas.microsoft.com/office/drawing/2014/main" id="{D20C26C3-B8B2-49E3-8C99-7455C1F137E2}"/>
              </a:ext>
            </a:extLst>
          </p:cNvPr>
          <p:cNvSpPr/>
          <p:nvPr/>
        </p:nvSpPr>
        <p:spPr>
          <a:xfrm>
            <a:off x="8686800" y="6263640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A7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BAWAG Group - Economic Capital</a:t>
            </a:r>
            <a:endParaRPr lang="en-US" sz="900" dirty="0"/>
          </a:p>
        </p:txBody>
      </p:sp>
    </p:spTree>
    <p:extLst>
      <p:ext uri="{BB962C8B-B14F-4D97-AF65-F5344CB8AC3E}">
        <p14:creationId xmlns:p14="http://schemas.microsoft.com/office/powerpoint/2010/main" val="350070021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003E0BF-8748-1882-CA31-F18E58C8BB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81106514-796F-90E2-B0FC-93400141C86B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D9D9D9">
              <a:alpha val="6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13E4DA2-B0A4-BADF-407E-0B14764D2E33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10A6FA0E-150F-7388-AF64-EF78D4FBF664}"/>
              </a:ext>
            </a:extLst>
          </p:cNvPr>
          <p:cNvSpPr/>
          <p:nvPr/>
        </p:nvSpPr>
        <p:spPr>
          <a:xfrm>
            <a:off x="0" y="3962400"/>
            <a:ext cx="10639425" cy="1257300"/>
          </a:xfrm>
          <a:prstGeom prst="rect">
            <a:avLst/>
          </a:prstGeom>
          <a:solidFill>
            <a:srgbClr val="0B2A65"/>
          </a:solidFill>
          <a:ln w="285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b="1" dirty="0"/>
              <a:t>Energy Price Impact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7BB162AE-01E8-17EA-0577-B156FDDF8E72}"/>
              </a:ext>
            </a:extLst>
          </p:cNvPr>
          <p:cNvSpPr/>
          <p:nvPr/>
        </p:nvSpPr>
        <p:spPr>
          <a:xfrm>
            <a:off x="9721850" y="3333750"/>
            <a:ext cx="1552575" cy="1257300"/>
          </a:xfrm>
          <a:prstGeom prst="rect">
            <a:avLst/>
          </a:prstGeom>
          <a:ln w="28575">
            <a:solidFill>
              <a:schemeClr val="bg1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b="1" dirty="0"/>
              <a:t>6.</a:t>
            </a:r>
          </a:p>
        </p:txBody>
      </p:sp>
    </p:spTree>
    <p:extLst>
      <p:ext uri="{BB962C8B-B14F-4D97-AF65-F5344CB8AC3E}">
        <p14:creationId xmlns:p14="http://schemas.microsoft.com/office/powerpoint/2010/main" val="141142159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8F2C14E-1EA6-ED22-FACA-8E015D3EF7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E9D1414C-2220-E99E-9919-C75AB9FE9CB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hu-HU" b="1" dirty="0" err="1"/>
              <a:t>Energy</a:t>
            </a:r>
            <a:r>
              <a:rPr lang="hu-HU" b="1" dirty="0"/>
              <a:t> Price </a:t>
            </a:r>
            <a:r>
              <a:rPr lang="hu-HU" b="1" dirty="0" err="1"/>
              <a:t>Impact</a:t>
            </a:r>
            <a:r>
              <a:rPr lang="hu-HU" b="1" dirty="0"/>
              <a:t> - </a:t>
            </a:r>
            <a:r>
              <a:rPr lang="hu-HU" b="1" dirty="0" err="1"/>
              <a:t>Transmission</a:t>
            </a:r>
            <a:r>
              <a:rPr lang="hu-HU" b="1" dirty="0"/>
              <a:t> </a:t>
            </a:r>
            <a:r>
              <a:rPr lang="hu-HU" b="1" dirty="0" err="1"/>
              <a:t>Channels</a:t>
            </a:r>
            <a:endParaRPr lang="hu-HU" b="1" dirty="0"/>
          </a:p>
        </p:txBody>
      </p:sp>
      <p:sp>
        <p:nvSpPr>
          <p:cNvPr id="3" name="Card bg 0">
            <a:extLst>
              <a:ext uri="{FF2B5EF4-FFF2-40B4-BE49-F238E27FC236}">
                <a16:creationId xmlns:a16="http://schemas.microsoft.com/office/drawing/2014/main" id="{9C5E126E-F6C9-1F9A-70E6-2093F6F4E790}"/>
              </a:ext>
            </a:extLst>
          </p:cNvPr>
          <p:cNvSpPr>
            <a:spLocks noGrp="1"/>
          </p:cNvSpPr>
          <p:nvPr/>
        </p:nvSpPr>
        <p:spPr>
          <a:xfrm>
            <a:off x="190500" y="736600"/>
            <a:ext cx="3873500" cy="2019300"/>
          </a:xfrm>
          <a:prstGeom prst="rect">
            <a:avLst/>
          </a:prstGeom>
          <a:solidFill>
            <a:srgbClr val="F8F9FB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4" name="Card bar 0">
            <a:extLst>
              <a:ext uri="{FF2B5EF4-FFF2-40B4-BE49-F238E27FC236}">
                <a16:creationId xmlns:a16="http://schemas.microsoft.com/office/drawing/2014/main" id="{BF20D204-258C-5AF9-6B09-52B4AC4D7FF8}"/>
              </a:ext>
            </a:extLst>
          </p:cNvPr>
          <p:cNvSpPr>
            <a:spLocks noGrp="1"/>
          </p:cNvSpPr>
          <p:nvPr/>
        </p:nvSpPr>
        <p:spPr>
          <a:xfrm>
            <a:off x="190500" y="736600"/>
            <a:ext cx="76200" cy="2019300"/>
          </a:xfrm>
          <a:prstGeom prst="rect">
            <a:avLst/>
          </a:prstGeom>
          <a:solidFill>
            <a:srgbClr val="2D7A2D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" name="Card hdr 0">
            <a:extLst>
              <a:ext uri="{FF2B5EF4-FFF2-40B4-BE49-F238E27FC236}">
                <a16:creationId xmlns:a16="http://schemas.microsoft.com/office/drawing/2014/main" id="{7EE0C270-2222-CED3-8675-3DC36CFA626D}"/>
              </a:ext>
            </a:extLst>
          </p:cNvPr>
          <p:cNvSpPr>
            <a:spLocks noGrp="1"/>
          </p:cNvSpPr>
          <p:nvPr/>
        </p:nvSpPr>
        <p:spPr>
          <a:xfrm>
            <a:off x="266700" y="736600"/>
            <a:ext cx="3797300" cy="381000"/>
          </a:xfrm>
          <a:prstGeom prst="rect">
            <a:avLst/>
          </a:prstGeom>
          <a:solidFill>
            <a:srgbClr val="0B2B65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6" name="Card title 0">
            <a:extLst>
              <a:ext uri="{FF2B5EF4-FFF2-40B4-BE49-F238E27FC236}">
                <a16:creationId xmlns:a16="http://schemas.microsoft.com/office/drawing/2014/main" id="{4CD9D10B-A2AB-6233-CA79-B79E1F8A5F29}"/>
              </a:ext>
            </a:extLst>
          </p:cNvPr>
          <p:cNvSpPr txBox="1">
            <a:spLocks noGrp="1"/>
          </p:cNvSpPr>
          <p:nvPr/>
        </p:nvSpPr>
        <p:spPr>
          <a:xfrm>
            <a:off x="317500" y="787400"/>
            <a:ext cx="3695700" cy="279400"/>
          </a:xfrm>
          <a:prstGeom prst="rect">
            <a:avLst/>
          </a:prstGeom>
          <a:noFill/>
          <a:ln>
            <a:noFill/>
          </a:ln>
        </p:spPr>
        <p:txBody>
          <a:bodyPr wrap="square" anchor="ctr"/>
          <a:lstStyle/>
          <a:p>
            <a:r>
              <a:rPr lang="en-US" sz="1100" b="1" dirty="0">
                <a:solidFill>
                  <a:srgbClr val="FFFFFF"/>
                </a:solidFill>
              </a:rPr>
              <a:t>Direct: Corporate Credit</a:t>
            </a:r>
          </a:p>
        </p:txBody>
      </p:sp>
      <p:sp>
        <p:nvSpPr>
          <p:cNvPr id="7" name="Card rating 0">
            <a:extLst>
              <a:ext uri="{FF2B5EF4-FFF2-40B4-BE49-F238E27FC236}">
                <a16:creationId xmlns:a16="http://schemas.microsoft.com/office/drawing/2014/main" id="{12F97EEC-BAB6-5BF2-C66D-ED29B0BF24D7}"/>
              </a:ext>
            </a:extLst>
          </p:cNvPr>
          <p:cNvSpPr txBox="1">
            <a:spLocks noGrp="1"/>
          </p:cNvSpPr>
          <p:nvPr/>
        </p:nvSpPr>
        <p:spPr>
          <a:xfrm>
            <a:off x="2946400" y="787400"/>
            <a:ext cx="1016000" cy="279400"/>
          </a:xfrm>
          <a:prstGeom prst="rect">
            <a:avLst/>
          </a:prstGeom>
          <a:noFill/>
          <a:ln>
            <a:noFill/>
          </a:ln>
        </p:spPr>
        <p:txBody>
          <a:bodyPr wrap="square" anchor="ctr"/>
          <a:lstStyle/>
          <a:p>
            <a:pPr algn="r"/>
            <a:r>
              <a:rPr lang="en-US" sz="1000" b="1" dirty="0">
                <a:solidFill>
                  <a:srgbClr val="2D7A2D"/>
                </a:solidFill>
              </a:rPr>
              <a:t>● LOW</a:t>
            </a:r>
          </a:p>
        </p:txBody>
      </p:sp>
      <p:sp>
        <p:nvSpPr>
          <p:cNvPr id="8" name="Card book 0">
            <a:extLst>
              <a:ext uri="{FF2B5EF4-FFF2-40B4-BE49-F238E27FC236}">
                <a16:creationId xmlns:a16="http://schemas.microsoft.com/office/drawing/2014/main" id="{7C81D186-2379-9E52-9874-F45C55DCFC44}"/>
              </a:ext>
            </a:extLst>
          </p:cNvPr>
          <p:cNvSpPr txBox="1">
            <a:spLocks noGrp="1"/>
          </p:cNvSpPr>
          <p:nvPr/>
        </p:nvSpPr>
        <p:spPr>
          <a:xfrm>
            <a:off x="317500" y="1143000"/>
            <a:ext cx="3695700" cy="2286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r>
              <a:rPr lang="en-US" sz="1050" i="1" dirty="0">
                <a:solidFill>
                  <a:srgbClr val="44546A"/>
                </a:solidFill>
              </a:rPr>
              <a:t>€2.7bn corporate loans (5.3%)</a:t>
            </a:r>
          </a:p>
        </p:txBody>
      </p:sp>
      <p:sp>
        <p:nvSpPr>
          <p:cNvPr id="9" name="Card bullets 0">
            <a:extLst>
              <a:ext uri="{FF2B5EF4-FFF2-40B4-BE49-F238E27FC236}">
                <a16:creationId xmlns:a16="http://schemas.microsoft.com/office/drawing/2014/main" id="{C29AE2F8-D15C-E7C6-F6C4-ED5897994835}"/>
              </a:ext>
            </a:extLst>
          </p:cNvPr>
          <p:cNvSpPr txBox="1">
            <a:spLocks noGrp="1"/>
          </p:cNvSpPr>
          <p:nvPr/>
        </p:nvSpPr>
        <p:spPr>
          <a:xfrm>
            <a:off x="317500" y="1371600"/>
            <a:ext cx="3695700" cy="1905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r>
              <a:rPr lang="en-US" sz="1200" dirty="0">
                <a:solidFill>
                  <a:srgbClr val="000000"/>
                </a:solidFill>
              </a:rPr>
              <a:t>• Restricted/prohibited exposure: 0.2% (limit: &lt;10%)</a:t>
            </a:r>
          </a:p>
          <a:p>
            <a:r>
              <a:rPr lang="en-US" sz="1200" dirty="0">
                <a:solidFill>
                  <a:srgbClr val="000000"/>
                </a:solidFill>
              </a:rPr>
              <a:t>• Non-cyclical industries only</a:t>
            </a:r>
          </a:p>
          <a:p>
            <a:r>
              <a:rPr lang="en-US" sz="1200" dirty="0">
                <a:solidFill>
                  <a:srgbClr val="000000"/>
                </a:solidFill>
              </a:rPr>
              <a:t>• Corporate NPL: 1.1% | RW density: 38.6%</a:t>
            </a:r>
          </a:p>
          <a:p>
            <a:r>
              <a:rPr lang="en-US" sz="1200" dirty="0">
                <a:solidFill>
                  <a:srgbClr val="000000"/>
                </a:solidFill>
              </a:rPr>
              <a:t>• No NACE-sector breakdown (transparency gap)</a:t>
            </a:r>
          </a:p>
        </p:txBody>
      </p:sp>
      <p:sp>
        <p:nvSpPr>
          <p:cNvPr id="10" name="Card bg 1">
            <a:extLst>
              <a:ext uri="{FF2B5EF4-FFF2-40B4-BE49-F238E27FC236}">
                <a16:creationId xmlns:a16="http://schemas.microsoft.com/office/drawing/2014/main" id="{C153B7BE-3E39-9668-975F-802F884BBF25}"/>
              </a:ext>
            </a:extLst>
          </p:cNvPr>
          <p:cNvSpPr>
            <a:spLocks noGrp="1"/>
          </p:cNvSpPr>
          <p:nvPr/>
        </p:nvSpPr>
        <p:spPr>
          <a:xfrm>
            <a:off x="4191000" y="736600"/>
            <a:ext cx="3873500" cy="2019300"/>
          </a:xfrm>
          <a:prstGeom prst="rect">
            <a:avLst/>
          </a:prstGeom>
          <a:solidFill>
            <a:srgbClr val="F8F9FB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1" name="Card bar 1">
            <a:extLst>
              <a:ext uri="{FF2B5EF4-FFF2-40B4-BE49-F238E27FC236}">
                <a16:creationId xmlns:a16="http://schemas.microsoft.com/office/drawing/2014/main" id="{60046E93-A0BE-5E13-9215-1F5F495CD8F5}"/>
              </a:ext>
            </a:extLst>
          </p:cNvPr>
          <p:cNvSpPr>
            <a:spLocks noGrp="1"/>
          </p:cNvSpPr>
          <p:nvPr/>
        </p:nvSpPr>
        <p:spPr>
          <a:xfrm>
            <a:off x="4191000" y="736600"/>
            <a:ext cx="76200" cy="2019300"/>
          </a:xfrm>
          <a:prstGeom prst="rect">
            <a:avLst/>
          </a:prstGeom>
          <a:solidFill>
            <a:srgbClr val="D0A616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2" name="Card hdr 1">
            <a:extLst>
              <a:ext uri="{FF2B5EF4-FFF2-40B4-BE49-F238E27FC236}">
                <a16:creationId xmlns:a16="http://schemas.microsoft.com/office/drawing/2014/main" id="{378FAE8A-6CE3-AE1C-7BB2-ED526E4A1345}"/>
              </a:ext>
            </a:extLst>
          </p:cNvPr>
          <p:cNvSpPr>
            <a:spLocks noGrp="1"/>
          </p:cNvSpPr>
          <p:nvPr/>
        </p:nvSpPr>
        <p:spPr>
          <a:xfrm>
            <a:off x="4267200" y="736600"/>
            <a:ext cx="3797300" cy="381000"/>
          </a:xfrm>
          <a:prstGeom prst="rect">
            <a:avLst/>
          </a:prstGeom>
          <a:solidFill>
            <a:srgbClr val="0B2B65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3" name="Card title 1">
            <a:extLst>
              <a:ext uri="{FF2B5EF4-FFF2-40B4-BE49-F238E27FC236}">
                <a16:creationId xmlns:a16="http://schemas.microsoft.com/office/drawing/2014/main" id="{DD12268C-6E1A-2696-C795-21C1F8677378}"/>
              </a:ext>
            </a:extLst>
          </p:cNvPr>
          <p:cNvSpPr txBox="1">
            <a:spLocks noGrp="1"/>
          </p:cNvSpPr>
          <p:nvPr/>
        </p:nvSpPr>
        <p:spPr>
          <a:xfrm>
            <a:off x="4318000" y="787400"/>
            <a:ext cx="3695700" cy="279400"/>
          </a:xfrm>
          <a:prstGeom prst="rect">
            <a:avLst/>
          </a:prstGeom>
          <a:noFill/>
          <a:ln>
            <a:noFill/>
          </a:ln>
        </p:spPr>
        <p:txBody>
          <a:bodyPr wrap="square" anchor="ctr"/>
          <a:lstStyle/>
          <a:p>
            <a:r>
              <a:rPr lang="en-US" sz="1100" b="1" dirty="0">
                <a:solidFill>
                  <a:srgbClr val="FFFFFF"/>
                </a:solidFill>
              </a:rPr>
              <a:t>Indirect: Mortgage Book</a:t>
            </a:r>
          </a:p>
        </p:txBody>
      </p:sp>
      <p:sp>
        <p:nvSpPr>
          <p:cNvPr id="14" name="Card rating 1">
            <a:extLst>
              <a:ext uri="{FF2B5EF4-FFF2-40B4-BE49-F238E27FC236}">
                <a16:creationId xmlns:a16="http://schemas.microsoft.com/office/drawing/2014/main" id="{F6BC5E2B-A76A-8CC1-A67C-2AA23C6DCBC2}"/>
              </a:ext>
            </a:extLst>
          </p:cNvPr>
          <p:cNvSpPr txBox="1">
            <a:spLocks noGrp="1"/>
          </p:cNvSpPr>
          <p:nvPr/>
        </p:nvSpPr>
        <p:spPr>
          <a:xfrm>
            <a:off x="6946900" y="787400"/>
            <a:ext cx="1016000" cy="279400"/>
          </a:xfrm>
          <a:prstGeom prst="rect">
            <a:avLst/>
          </a:prstGeom>
          <a:noFill/>
          <a:ln>
            <a:noFill/>
          </a:ln>
        </p:spPr>
        <p:txBody>
          <a:bodyPr wrap="square" anchor="ctr"/>
          <a:lstStyle/>
          <a:p>
            <a:pPr algn="r"/>
            <a:r>
              <a:rPr lang="en-US" sz="1000" b="1" dirty="0">
                <a:solidFill>
                  <a:srgbClr val="D0A616"/>
                </a:solidFill>
              </a:rPr>
              <a:t>● LOW-MOD</a:t>
            </a:r>
          </a:p>
        </p:txBody>
      </p:sp>
      <p:sp>
        <p:nvSpPr>
          <p:cNvPr id="15" name="Card book 1">
            <a:extLst>
              <a:ext uri="{FF2B5EF4-FFF2-40B4-BE49-F238E27FC236}">
                <a16:creationId xmlns:a16="http://schemas.microsoft.com/office/drawing/2014/main" id="{71E2D47F-F233-6941-E89B-E87149A2F9E1}"/>
              </a:ext>
            </a:extLst>
          </p:cNvPr>
          <p:cNvSpPr txBox="1">
            <a:spLocks noGrp="1"/>
          </p:cNvSpPr>
          <p:nvPr/>
        </p:nvSpPr>
        <p:spPr>
          <a:xfrm>
            <a:off x="4318000" y="1143000"/>
            <a:ext cx="3695700" cy="2286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r>
              <a:rPr lang="en-US" sz="1050" i="1" dirty="0">
                <a:solidFill>
                  <a:srgbClr val="44546A"/>
                </a:solidFill>
              </a:rPr>
              <a:t>€26.6bn (52.4% of loans)</a:t>
            </a:r>
          </a:p>
        </p:txBody>
      </p:sp>
      <p:sp>
        <p:nvSpPr>
          <p:cNvPr id="16" name="Card bullets 1">
            <a:extLst>
              <a:ext uri="{FF2B5EF4-FFF2-40B4-BE49-F238E27FC236}">
                <a16:creationId xmlns:a16="http://schemas.microsoft.com/office/drawing/2014/main" id="{6604E878-DC48-3CE7-7388-0980509F7051}"/>
              </a:ext>
            </a:extLst>
          </p:cNvPr>
          <p:cNvSpPr txBox="1">
            <a:spLocks noGrp="1"/>
          </p:cNvSpPr>
          <p:nvPr/>
        </p:nvSpPr>
        <p:spPr>
          <a:xfrm>
            <a:off x="4318000" y="1371600"/>
            <a:ext cx="3695700" cy="1905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r>
              <a:rPr lang="en-US" sz="1200" dirty="0">
                <a:solidFill>
                  <a:srgbClr val="000000"/>
                </a:solidFill>
              </a:rPr>
              <a:t>• 90% fixed-rate - no ECB hike pass-through</a:t>
            </a:r>
          </a:p>
          <a:p>
            <a:r>
              <a:rPr lang="en-US" sz="1200" dirty="0">
                <a:solidFill>
                  <a:srgbClr val="000000"/>
                </a:solidFill>
              </a:rPr>
              <a:t>• 37% state/insurance guaranteed</a:t>
            </a:r>
          </a:p>
          <a:p>
            <a:r>
              <a:rPr lang="en-US" sz="1200" dirty="0">
                <a:solidFill>
                  <a:srgbClr val="000000"/>
                </a:solidFill>
              </a:rPr>
              <a:t>• WA LTV: 54% (conservative buffer)</a:t>
            </a:r>
          </a:p>
          <a:p>
            <a:r>
              <a:rPr lang="en-US" sz="1200" dirty="0">
                <a:solidFill>
                  <a:srgbClr val="000000"/>
                </a:solidFill>
              </a:rPr>
              <a:t>• Low unemployment in core markets (AT 5%, NL 4%)</a:t>
            </a:r>
          </a:p>
        </p:txBody>
      </p:sp>
      <p:sp>
        <p:nvSpPr>
          <p:cNvPr id="17" name="Card bg 2">
            <a:extLst>
              <a:ext uri="{FF2B5EF4-FFF2-40B4-BE49-F238E27FC236}">
                <a16:creationId xmlns:a16="http://schemas.microsoft.com/office/drawing/2014/main" id="{7BB02110-FDBE-5F3E-B97E-7F32204E2336}"/>
              </a:ext>
            </a:extLst>
          </p:cNvPr>
          <p:cNvSpPr>
            <a:spLocks noGrp="1"/>
          </p:cNvSpPr>
          <p:nvPr/>
        </p:nvSpPr>
        <p:spPr>
          <a:xfrm>
            <a:off x="8191500" y="736600"/>
            <a:ext cx="3873500" cy="2019300"/>
          </a:xfrm>
          <a:prstGeom prst="rect">
            <a:avLst/>
          </a:prstGeom>
          <a:solidFill>
            <a:srgbClr val="F8F9FB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8" name="Card bar 2">
            <a:extLst>
              <a:ext uri="{FF2B5EF4-FFF2-40B4-BE49-F238E27FC236}">
                <a16:creationId xmlns:a16="http://schemas.microsoft.com/office/drawing/2014/main" id="{BF074A6E-6CEF-1DA9-0408-BCD692817251}"/>
              </a:ext>
            </a:extLst>
          </p:cNvPr>
          <p:cNvSpPr>
            <a:spLocks noGrp="1"/>
          </p:cNvSpPr>
          <p:nvPr/>
        </p:nvSpPr>
        <p:spPr>
          <a:xfrm>
            <a:off x="8191500" y="736600"/>
            <a:ext cx="76200" cy="2019300"/>
          </a:xfrm>
          <a:prstGeom prst="rect">
            <a:avLst/>
          </a:prstGeom>
          <a:solidFill>
            <a:srgbClr val="C0510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9" name="Card hdr 2">
            <a:extLst>
              <a:ext uri="{FF2B5EF4-FFF2-40B4-BE49-F238E27FC236}">
                <a16:creationId xmlns:a16="http://schemas.microsoft.com/office/drawing/2014/main" id="{23F6D24A-214A-F9B8-EE45-478CC631D891}"/>
              </a:ext>
            </a:extLst>
          </p:cNvPr>
          <p:cNvSpPr>
            <a:spLocks noGrp="1"/>
          </p:cNvSpPr>
          <p:nvPr/>
        </p:nvSpPr>
        <p:spPr>
          <a:xfrm>
            <a:off x="8267700" y="736600"/>
            <a:ext cx="3797300" cy="381000"/>
          </a:xfrm>
          <a:prstGeom prst="rect">
            <a:avLst/>
          </a:prstGeom>
          <a:solidFill>
            <a:srgbClr val="0B2B65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0" name="Card title 2">
            <a:extLst>
              <a:ext uri="{FF2B5EF4-FFF2-40B4-BE49-F238E27FC236}">
                <a16:creationId xmlns:a16="http://schemas.microsoft.com/office/drawing/2014/main" id="{AEC01777-57C6-613F-890C-7B8EDD8AE1D0}"/>
              </a:ext>
            </a:extLst>
          </p:cNvPr>
          <p:cNvSpPr txBox="1">
            <a:spLocks noGrp="1"/>
          </p:cNvSpPr>
          <p:nvPr/>
        </p:nvSpPr>
        <p:spPr>
          <a:xfrm>
            <a:off x="8318500" y="787400"/>
            <a:ext cx="3695700" cy="279400"/>
          </a:xfrm>
          <a:prstGeom prst="rect">
            <a:avLst/>
          </a:prstGeom>
          <a:noFill/>
          <a:ln>
            <a:noFill/>
          </a:ln>
        </p:spPr>
        <p:txBody>
          <a:bodyPr wrap="square" anchor="ctr"/>
          <a:lstStyle/>
          <a:p>
            <a:r>
              <a:rPr lang="en-US" sz="1100" b="1" dirty="0">
                <a:solidFill>
                  <a:srgbClr val="FFFFFF"/>
                </a:solidFill>
              </a:rPr>
              <a:t>Indirect: Consumer Unsecured</a:t>
            </a:r>
          </a:p>
        </p:txBody>
      </p:sp>
      <p:sp>
        <p:nvSpPr>
          <p:cNvPr id="21" name="Card rating 2">
            <a:extLst>
              <a:ext uri="{FF2B5EF4-FFF2-40B4-BE49-F238E27FC236}">
                <a16:creationId xmlns:a16="http://schemas.microsoft.com/office/drawing/2014/main" id="{AB977C8B-BB85-AE82-8B0D-D3EC86CECE3C}"/>
              </a:ext>
            </a:extLst>
          </p:cNvPr>
          <p:cNvSpPr txBox="1">
            <a:spLocks noGrp="1"/>
          </p:cNvSpPr>
          <p:nvPr/>
        </p:nvSpPr>
        <p:spPr>
          <a:xfrm>
            <a:off x="10947400" y="787400"/>
            <a:ext cx="1016000" cy="279400"/>
          </a:xfrm>
          <a:prstGeom prst="rect">
            <a:avLst/>
          </a:prstGeom>
          <a:noFill/>
          <a:ln>
            <a:noFill/>
          </a:ln>
        </p:spPr>
        <p:txBody>
          <a:bodyPr wrap="square" anchor="ctr"/>
          <a:lstStyle/>
          <a:p>
            <a:pPr algn="r"/>
            <a:r>
              <a:rPr lang="en-US" sz="1000" b="1" dirty="0">
                <a:solidFill>
                  <a:srgbClr val="C0510A"/>
                </a:solidFill>
              </a:rPr>
              <a:t>● MODERATE</a:t>
            </a:r>
          </a:p>
        </p:txBody>
      </p:sp>
      <p:sp>
        <p:nvSpPr>
          <p:cNvPr id="22" name="Card book 2">
            <a:extLst>
              <a:ext uri="{FF2B5EF4-FFF2-40B4-BE49-F238E27FC236}">
                <a16:creationId xmlns:a16="http://schemas.microsoft.com/office/drawing/2014/main" id="{E07C6ED1-9554-96F2-0FA3-3251CB2EA3FB}"/>
              </a:ext>
            </a:extLst>
          </p:cNvPr>
          <p:cNvSpPr txBox="1">
            <a:spLocks noGrp="1"/>
          </p:cNvSpPr>
          <p:nvPr/>
        </p:nvSpPr>
        <p:spPr>
          <a:xfrm>
            <a:off x="8318500" y="1143000"/>
            <a:ext cx="3695700" cy="2286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r>
              <a:rPr lang="en-US" sz="1050" i="1" dirty="0">
                <a:solidFill>
                  <a:srgbClr val="44546A"/>
                </a:solidFill>
              </a:rPr>
              <a:t>€8.0bn (16% of loans)</a:t>
            </a:r>
          </a:p>
        </p:txBody>
      </p:sp>
      <p:sp>
        <p:nvSpPr>
          <p:cNvPr id="23" name="Card bullets 2">
            <a:extLst>
              <a:ext uri="{FF2B5EF4-FFF2-40B4-BE49-F238E27FC236}">
                <a16:creationId xmlns:a16="http://schemas.microsoft.com/office/drawing/2014/main" id="{A0C095B9-DBA8-E941-C100-FD22E6A81125}"/>
              </a:ext>
            </a:extLst>
          </p:cNvPr>
          <p:cNvSpPr txBox="1">
            <a:spLocks noGrp="1"/>
          </p:cNvSpPr>
          <p:nvPr/>
        </p:nvSpPr>
        <p:spPr>
          <a:xfrm>
            <a:off x="8318500" y="1371600"/>
            <a:ext cx="3695700" cy="1905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r>
              <a:rPr lang="en-US" sz="1200" dirty="0">
                <a:solidFill>
                  <a:srgbClr val="000000"/>
                </a:solidFill>
              </a:rPr>
              <a:t>• Most energy-sensitive sub-segment</a:t>
            </a:r>
          </a:p>
          <a:p>
            <a:r>
              <a:rPr lang="en-US" sz="1200" dirty="0">
                <a:solidFill>
                  <a:srgbClr val="000000"/>
                </a:solidFill>
              </a:rPr>
              <a:t>• No real asset collateral - pure income risk</a:t>
            </a:r>
          </a:p>
          <a:p>
            <a:r>
              <a:rPr lang="en-US" sz="1200" dirty="0">
                <a:solidFill>
                  <a:srgbClr val="000000"/>
                </a:solidFill>
              </a:rPr>
              <a:t>• Growing via Knab (NL) acquisition</a:t>
            </a:r>
          </a:p>
          <a:p>
            <a:r>
              <a:rPr lang="en-US" sz="1200" dirty="0">
                <a:solidFill>
                  <a:srgbClr val="000000"/>
                </a:solidFill>
              </a:rPr>
              <a:t>• IFRS 9 three-scenario ECL stress coverage</a:t>
            </a:r>
          </a:p>
        </p:txBody>
      </p:sp>
      <p:sp>
        <p:nvSpPr>
          <p:cNvPr id="24" name="Card bg 3">
            <a:extLst>
              <a:ext uri="{FF2B5EF4-FFF2-40B4-BE49-F238E27FC236}">
                <a16:creationId xmlns:a16="http://schemas.microsoft.com/office/drawing/2014/main" id="{8D724B2F-690F-49DC-A50B-15FED3378DC9}"/>
              </a:ext>
            </a:extLst>
          </p:cNvPr>
          <p:cNvSpPr>
            <a:spLocks noGrp="1"/>
          </p:cNvSpPr>
          <p:nvPr/>
        </p:nvSpPr>
        <p:spPr>
          <a:xfrm>
            <a:off x="190500" y="2969798"/>
            <a:ext cx="3873500" cy="2019300"/>
          </a:xfrm>
          <a:prstGeom prst="rect">
            <a:avLst/>
          </a:prstGeom>
          <a:solidFill>
            <a:srgbClr val="F8F9FB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5" name="Card bar 3">
            <a:extLst>
              <a:ext uri="{FF2B5EF4-FFF2-40B4-BE49-F238E27FC236}">
                <a16:creationId xmlns:a16="http://schemas.microsoft.com/office/drawing/2014/main" id="{BFEF1D24-C0EC-979D-E567-B4EB3C27850B}"/>
              </a:ext>
            </a:extLst>
          </p:cNvPr>
          <p:cNvSpPr>
            <a:spLocks noGrp="1"/>
          </p:cNvSpPr>
          <p:nvPr/>
        </p:nvSpPr>
        <p:spPr>
          <a:xfrm>
            <a:off x="190500" y="2969798"/>
            <a:ext cx="76200" cy="2019300"/>
          </a:xfrm>
          <a:prstGeom prst="rect">
            <a:avLst/>
          </a:prstGeom>
          <a:solidFill>
            <a:srgbClr val="C0510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6" name="Card hdr 3">
            <a:extLst>
              <a:ext uri="{FF2B5EF4-FFF2-40B4-BE49-F238E27FC236}">
                <a16:creationId xmlns:a16="http://schemas.microsoft.com/office/drawing/2014/main" id="{C6F20C3B-3F52-1162-3F53-F86C21E37F97}"/>
              </a:ext>
            </a:extLst>
          </p:cNvPr>
          <p:cNvSpPr>
            <a:spLocks noGrp="1"/>
          </p:cNvSpPr>
          <p:nvPr/>
        </p:nvSpPr>
        <p:spPr>
          <a:xfrm>
            <a:off x="266700" y="2969798"/>
            <a:ext cx="3797300" cy="381000"/>
          </a:xfrm>
          <a:prstGeom prst="rect">
            <a:avLst/>
          </a:prstGeom>
          <a:solidFill>
            <a:srgbClr val="0B2B65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7" name="Card title 3">
            <a:extLst>
              <a:ext uri="{FF2B5EF4-FFF2-40B4-BE49-F238E27FC236}">
                <a16:creationId xmlns:a16="http://schemas.microsoft.com/office/drawing/2014/main" id="{8A7A0B2A-FAD6-B323-8C53-BF03E4A3F1BF}"/>
              </a:ext>
            </a:extLst>
          </p:cNvPr>
          <p:cNvSpPr txBox="1">
            <a:spLocks noGrp="1"/>
          </p:cNvSpPr>
          <p:nvPr/>
        </p:nvSpPr>
        <p:spPr>
          <a:xfrm>
            <a:off x="317500" y="3020598"/>
            <a:ext cx="3695700" cy="279400"/>
          </a:xfrm>
          <a:prstGeom prst="rect">
            <a:avLst/>
          </a:prstGeom>
          <a:noFill/>
          <a:ln>
            <a:noFill/>
          </a:ln>
        </p:spPr>
        <p:txBody>
          <a:bodyPr wrap="square" anchor="ctr"/>
          <a:lstStyle/>
          <a:p>
            <a:r>
              <a:rPr lang="en-US" sz="1100" b="1" dirty="0">
                <a:solidFill>
                  <a:srgbClr val="FFFFFF"/>
                </a:solidFill>
              </a:rPr>
              <a:t>CRE Collateral (EPC Risk)</a:t>
            </a:r>
          </a:p>
        </p:txBody>
      </p:sp>
      <p:sp>
        <p:nvSpPr>
          <p:cNvPr id="28" name="Card rating 3">
            <a:extLst>
              <a:ext uri="{FF2B5EF4-FFF2-40B4-BE49-F238E27FC236}">
                <a16:creationId xmlns:a16="http://schemas.microsoft.com/office/drawing/2014/main" id="{A1D27B50-9026-310F-463E-D3F9C0D79FCF}"/>
              </a:ext>
            </a:extLst>
          </p:cNvPr>
          <p:cNvSpPr txBox="1">
            <a:spLocks noGrp="1"/>
          </p:cNvSpPr>
          <p:nvPr/>
        </p:nvSpPr>
        <p:spPr>
          <a:xfrm>
            <a:off x="2946400" y="3020598"/>
            <a:ext cx="1016000" cy="279400"/>
          </a:xfrm>
          <a:prstGeom prst="rect">
            <a:avLst/>
          </a:prstGeom>
          <a:noFill/>
          <a:ln>
            <a:noFill/>
          </a:ln>
        </p:spPr>
        <p:txBody>
          <a:bodyPr wrap="square" anchor="ctr"/>
          <a:lstStyle/>
          <a:p>
            <a:pPr algn="r"/>
            <a:r>
              <a:rPr lang="en-US" sz="1000" b="1" dirty="0">
                <a:solidFill>
                  <a:srgbClr val="C0510A"/>
                </a:solidFill>
              </a:rPr>
              <a:t>● MODERATE</a:t>
            </a:r>
          </a:p>
        </p:txBody>
      </p:sp>
      <p:sp>
        <p:nvSpPr>
          <p:cNvPr id="29" name="Card book 3">
            <a:extLst>
              <a:ext uri="{FF2B5EF4-FFF2-40B4-BE49-F238E27FC236}">
                <a16:creationId xmlns:a16="http://schemas.microsoft.com/office/drawing/2014/main" id="{AF898753-8759-924D-99CD-B412DA47BB87}"/>
              </a:ext>
            </a:extLst>
          </p:cNvPr>
          <p:cNvSpPr txBox="1">
            <a:spLocks noGrp="1"/>
          </p:cNvSpPr>
          <p:nvPr/>
        </p:nvSpPr>
        <p:spPr>
          <a:xfrm>
            <a:off x="317500" y="3376198"/>
            <a:ext cx="3695700" cy="2286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r>
              <a:rPr lang="en-US" sz="1050" i="1" dirty="0">
                <a:solidFill>
                  <a:srgbClr val="44546A"/>
                </a:solidFill>
              </a:rPr>
              <a:t>€5.7bn CRE (11% of loans)</a:t>
            </a:r>
          </a:p>
        </p:txBody>
      </p:sp>
      <p:sp>
        <p:nvSpPr>
          <p:cNvPr id="30" name="Card bullets 3">
            <a:extLst>
              <a:ext uri="{FF2B5EF4-FFF2-40B4-BE49-F238E27FC236}">
                <a16:creationId xmlns:a16="http://schemas.microsoft.com/office/drawing/2014/main" id="{88D492A2-B49C-2DF0-6B56-AD0B99521513}"/>
              </a:ext>
            </a:extLst>
          </p:cNvPr>
          <p:cNvSpPr txBox="1">
            <a:spLocks noGrp="1"/>
          </p:cNvSpPr>
          <p:nvPr/>
        </p:nvSpPr>
        <p:spPr>
          <a:xfrm>
            <a:off x="317500" y="3604798"/>
            <a:ext cx="3695700" cy="1143668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r>
              <a:rPr lang="en-US" sz="1200" dirty="0">
                <a:solidFill>
                  <a:srgbClr val="000000"/>
                </a:solidFill>
              </a:rPr>
              <a:t>• EPC labels tracked as KRI</a:t>
            </a:r>
          </a:p>
          <a:p>
            <a:r>
              <a:rPr lang="en-US" sz="1200" dirty="0">
                <a:solidFill>
                  <a:srgbClr val="000000"/>
                </a:solidFill>
              </a:rPr>
              <a:t>• Residential RE in high physical-risk: 13%</a:t>
            </a:r>
          </a:p>
          <a:p>
            <a:r>
              <a:rPr lang="en-US" sz="1200" dirty="0">
                <a:solidFill>
                  <a:srgbClr val="000000"/>
                </a:solidFill>
              </a:rPr>
              <a:t>• CRE avg LTV ~50%; 62% residential mix</a:t>
            </a:r>
          </a:p>
          <a:p>
            <a:r>
              <a:rPr lang="en-US" sz="1200" dirty="0">
                <a:solidFill>
                  <a:srgbClr val="000000"/>
                </a:solidFill>
              </a:rPr>
              <a:t>• Cross-collateralization on &gt;80% of deals</a:t>
            </a:r>
          </a:p>
        </p:txBody>
      </p:sp>
      <p:sp>
        <p:nvSpPr>
          <p:cNvPr id="31" name="Card bg 4">
            <a:extLst>
              <a:ext uri="{FF2B5EF4-FFF2-40B4-BE49-F238E27FC236}">
                <a16:creationId xmlns:a16="http://schemas.microsoft.com/office/drawing/2014/main" id="{90566A8D-BEB4-B6BC-32AA-6337569B7B77}"/>
              </a:ext>
            </a:extLst>
          </p:cNvPr>
          <p:cNvSpPr>
            <a:spLocks noGrp="1"/>
          </p:cNvSpPr>
          <p:nvPr/>
        </p:nvSpPr>
        <p:spPr>
          <a:xfrm>
            <a:off x="4191000" y="2969798"/>
            <a:ext cx="3873500" cy="2019300"/>
          </a:xfrm>
          <a:prstGeom prst="rect">
            <a:avLst/>
          </a:prstGeom>
          <a:solidFill>
            <a:srgbClr val="F8F9FB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32" name="Card bar 4">
            <a:extLst>
              <a:ext uri="{FF2B5EF4-FFF2-40B4-BE49-F238E27FC236}">
                <a16:creationId xmlns:a16="http://schemas.microsoft.com/office/drawing/2014/main" id="{5EB59E51-8B7D-9428-C3F5-6E7D52D3F51C}"/>
              </a:ext>
            </a:extLst>
          </p:cNvPr>
          <p:cNvSpPr>
            <a:spLocks noGrp="1"/>
          </p:cNvSpPr>
          <p:nvPr/>
        </p:nvSpPr>
        <p:spPr>
          <a:xfrm>
            <a:off x="4191000" y="2969798"/>
            <a:ext cx="76200" cy="2019300"/>
          </a:xfrm>
          <a:prstGeom prst="rect">
            <a:avLst/>
          </a:prstGeom>
          <a:solidFill>
            <a:srgbClr val="2D7A2D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33" name="Card hdr 4">
            <a:extLst>
              <a:ext uri="{FF2B5EF4-FFF2-40B4-BE49-F238E27FC236}">
                <a16:creationId xmlns:a16="http://schemas.microsoft.com/office/drawing/2014/main" id="{9A07ED5C-6E09-B9B0-10C7-4B20F8FED3F8}"/>
              </a:ext>
            </a:extLst>
          </p:cNvPr>
          <p:cNvSpPr>
            <a:spLocks noGrp="1"/>
          </p:cNvSpPr>
          <p:nvPr/>
        </p:nvSpPr>
        <p:spPr>
          <a:xfrm>
            <a:off x="4267200" y="2969798"/>
            <a:ext cx="3797300" cy="381000"/>
          </a:xfrm>
          <a:prstGeom prst="rect">
            <a:avLst/>
          </a:prstGeom>
          <a:solidFill>
            <a:srgbClr val="0B2B65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34" name="Card title 4">
            <a:extLst>
              <a:ext uri="{FF2B5EF4-FFF2-40B4-BE49-F238E27FC236}">
                <a16:creationId xmlns:a16="http://schemas.microsoft.com/office/drawing/2014/main" id="{605DDCC0-6AB6-4A43-6957-FC1D8591FFD8}"/>
              </a:ext>
            </a:extLst>
          </p:cNvPr>
          <p:cNvSpPr txBox="1">
            <a:spLocks noGrp="1"/>
          </p:cNvSpPr>
          <p:nvPr/>
        </p:nvSpPr>
        <p:spPr>
          <a:xfrm>
            <a:off x="4318000" y="3020598"/>
            <a:ext cx="3695700" cy="279400"/>
          </a:xfrm>
          <a:prstGeom prst="rect">
            <a:avLst/>
          </a:prstGeom>
          <a:noFill/>
          <a:ln>
            <a:noFill/>
          </a:ln>
        </p:spPr>
        <p:txBody>
          <a:bodyPr wrap="square" anchor="ctr"/>
          <a:lstStyle/>
          <a:p>
            <a:r>
              <a:rPr lang="en-US" sz="1100" b="1" dirty="0">
                <a:solidFill>
                  <a:srgbClr val="FFFFFF"/>
                </a:solidFill>
              </a:rPr>
              <a:t>IRRBB (Rate Response)</a:t>
            </a:r>
          </a:p>
        </p:txBody>
      </p:sp>
      <p:sp>
        <p:nvSpPr>
          <p:cNvPr id="35" name="Card rating 4">
            <a:extLst>
              <a:ext uri="{FF2B5EF4-FFF2-40B4-BE49-F238E27FC236}">
                <a16:creationId xmlns:a16="http://schemas.microsoft.com/office/drawing/2014/main" id="{ECBACE30-C121-4556-CE51-92D9BDB401F1}"/>
              </a:ext>
            </a:extLst>
          </p:cNvPr>
          <p:cNvSpPr txBox="1">
            <a:spLocks noGrp="1"/>
          </p:cNvSpPr>
          <p:nvPr/>
        </p:nvSpPr>
        <p:spPr>
          <a:xfrm>
            <a:off x="6946900" y="3020598"/>
            <a:ext cx="1016000" cy="279400"/>
          </a:xfrm>
          <a:prstGeom prst="rect">
            <a:avLst/>
          </a:prstGeom>
          <a:noFill/>
          <a:ln>
            <a:noFill/>
          </a:ln>
        </p:spPr>
        <p:txBody>
          <a:bodyPr wrap="square" anchor="ctr"/>
          <a:lstStyle/>
          <a:p>
            <a:pPr algn="r"/>
            <a:r>
              <a:rPr lang="en-US" sz="1000" b="1" dirty="0">
                <a:solidFill>
                  <a:srgbClr val="2D7A2D"/>
                </a:solidFill>
              </a:rPr>
              <a:t>● LOW</a:t>
            </a:r>
          </a:p>
        </p:txBody>
      </p:sp>
      <p:sp>
        <p:nvSpPr>
          <p:cNvPr id="36" name="Card book 4">
            <a:extLst>
              <a:ext uri="{FF2B5EF4-FFF2-40B4-BE49-F238E27FC236}">
                <a16:creationId xmlns:a16="http://schemas.microsoft.com/office/drawing/2014/main" id="{73E47401-0DF6-4D57-B7F4-B88067E1EBF7}"/>
              </a:ext>
            </a:extLst>
          </p:cNvPr>
          <p:cNvSpPr txBox="1">
            <a:spLocks noGrp="1"/>
          </p:cNvSpPr>
          <p:nvPr/>
        </p:nvSpPr>
        <p:spPr>
          <a:xfrm>
            <a:off x="4318000" y="3376198"/>
            <a:ext cx="3695700" cy="2286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r>
              <a:rPr lang="en-US" sz="1050" i="1" dirty="0">
                <a:solidFill>
                  <a:srgbClr val="44546A"/>
                </a:solidFill>
              </a:rPr>
              <a:t>EVE sensitivity only</a:t>
            </a:r>
          </a:p>
        </p:txBody>
      </p:sp>
      <p:sp>
        <p:nvSpPr>
          <p:cNvPr id="37" name="Card bullets 4">
            <a:extLst>
              <a:ext uri="{FF2B5EF4-FFF2-40B4-BE49-F238E27FC236}">
                <a16:creationId xmlns:a16="http://schemas.microsoft.com/office/drawing/2014/main" id="{CCF82C07-D7DB-3BC9-58A3-E36B1F9DCC86}"/>
              </a:ext>
            </a:extLst>
          </p:cNvPr>
          <p:cNvSpPr txBox="1">
            <a:spLocks noGrp="1"/>
          </p:cNvSpPr>
          <p:nvPr/>
        </p:nvSpPr>
        <p:spPr>
          <a:xfrm>
            <a:off x="4318000" y="3604798"/>
            <a:ext cx="3873500" cy="1143668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r>
              <a:rPr lang="en-US" sz="1200" dirty="0">
                <a:solidFill>
                  <a:srgbClr val="000000"/>
                </a:solidFill>
              </a:rPr>
              <a:t>• Energy shock → inflation → CB rate hike</a:t>
            </a:r>
          </a:p>
          <a:p>
            <a:r>
              <a:rPr lang="en-US" sz="1200" dirty="0">
                <a:solidFill>
                  <a:srgbClr val="000000"/>
                </a:solidFill>
              </a:rPr>
              <a:t>• Parallel Up: EVE -€406m = -12.4% of Tier 1 capital</a:t>
            </a:r>
          </a:p>
          <a:p>
            <a:r>
              <a:rPr lang="en-US" sz="1200" dirty="0">
                <a:solidFill>
                  <a:srgbClr val="000000"/>
                </a:solidFill>
              </a:rPr>
              <a:t>• Within SOT limit (threshold: -15%)</a:t>
            </a:r>
          </a:p>
          <a:p>
            <a:r>
              <a:rPr lang="en-US" sz="1200" dirty="0">
                <a:solidFill>
                  <a:srgbClr val="000000"/>
                </a:solidFill>
              </a:rPr>
              <a:t>• NII impact: only -€22m (~1% of revenues)</a:t>
            </a:r>
          </a:p>
        </p:txBody>
      </p:sp>
      <p:sp>
        <p:nvSpPr>
          <p:cNvPr id="38" name="Card bg 5">
            <a:extLst>
              <a:ext uri="{FF2B5EF4-FFF2-40B4-BE49-F238E27FC236}">
                <a16:creationId xmlns:a16="http://schemas.microsoft.com/office/drawing/2014/main" id="{8AB13199-C56E-7AC0-42A0-302A53A41FD9}"/>
              </a:ext>
            </a:extLst>
          </p:cNvPr>
          <p:cNvSpPr>
            <a:spLocks noGrp="1"/>
          </p:cNvSpPr>
          <p:nvPr/>
        </p:nvSpPr>
        <p:spPr>
          <a:xfrm>
            <a:off x="8191500" y="2969798"/>
            <a:ext cx="3873500" cy="2019300"/>
          </a:xfrm>
          <a:prstGeom prst="rect">
            <a:avLst/>
          </a:prstGeom>
          <a:solidFill>
            <a:srgbClr val="F8F9FB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39" name="Card bar 5">
            <a:extLst>
              <a:ext uri="{FF2B5EF4-FFF2-40B4-BE49-F238E27FC236}">
                <a16:creationId xmlns:a16="http://schemas.microsoft.com/office/drawing/2014/main" id="{DC947112-F14E-8F4E-EA79-A7FA94831AD5}"/>
              </a:ext>
            </a:extLst>
          </p:cNvPr>
          <p:cNvSpPr>
            <a:spLocks noGrp="1"/>
          </p:cNvSpPr>
          <p:nvPr/>
        </p:nvSpPr>
        <p:spPr>
          <a:xfrm>
            <a:off x="8191500" y="2969798"/>
            <a:ext cx="76200" cy="2019300"/>
          </a:xfrm>
          <a:prstGeom prst="rect">
            <a:avLst/>
          </a:prstGeom>
          <a:solidFill>
            <a:srgbClr val="D0A616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40" name="Card hdr 5">
            <a:extLst>
              <a:ext uri="{FF2B5EF4-FFF2-40B4-BE49-F238E27FC236}">
                <a16:creationId xmlns:a16="http://schemas.microsoft.com/office/drawing/2014/main" id="{4BFA0675-E28A-EFB8-1C79-327A3816E950}"/>
              </a:ext>
            </a:extLst>
          </p:cNvPr>
          <p:cNvSpPr>
            <a:spLocks noGrp="1"/>
          </p:cNvSpPr>
          <p:nvPr/>
        </p:nvSpPr>
        <p:spPr>
          <a:xfrm>
            <a:off x="8267700" y="2969798"/>
            <a:ext cx="3797300" cy="381000"/>
          </a:xfrm>
          <a:prstGeom prst="rect">
            <a:avLst/>
          </a:prstGeom>
          <a:solidFill>
            <a:srgbClr val="0B2B65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41" name="Card title 5">
            <a:extLst>
              <a:ext uri="{FF2B5EF4-FFF2-40B4-BE49-F238E27FC236}">
                <a16:creationId xmlns:a16="http://schemas.microsoft.com/office/drawing/2014/main" id="{1AF9F373-2196-5E9F-9BEC-C863F052F793}"/>
              </a:ext>
            </a:extLst>
          </p:cNvPr>
          <p:cNvSpPr txBox="1">
            <a:spLocks noGrp="1"/>
          </p:cNvSpPr>
          <p:nvPr/>
        </p:nvSpPr>
        <p:spPr>
          <a:xfrm>
            <a:off x="8318500" y="3020598"/>
            <a:ext cx="3695700" cy="279400"/>
          </a:xfrm>
          <a:prstGeom prst="rect">
            <a:avLst/>
          </a:prstGeom>
          <a:noFill/>
          <a:ln>
            <a:noFill/>
          </a:ln>
        </p:spPr>
        <p:txBody>
          <a:bodyPr wrap="square" anchor="ctr"/>
          <a:lstStyle/>
          <a:p>
            <a:r>
              <a:rPr lang="en-US" sz="1100" b="1" dirty="0">
                <a:solidFill>
                  <a:srgbClr val="FFFFFF"/>
                </a:solidFill>
              </a:rPr>
              <a:t>ESG / Regulatory Transition</a:t>
            </a:r>
          </a:p>
        </p:txBody>
      </p:sp>
      <p:sp>
        <p:nvSpPr>
          <p:cNvPr id="42" name="Card rating 5">
            <a:extLst>
              <a:ext uri="{FF2B5EF4-FFF2-40B4-BE49-F238E27FC236}">
                <a16:creationId xmlns:a16="http://schemas.microsoft.com/office/drawing/2014/main" id="{B98954C7-27B2-C2FF-8DD3-B635302E3AE1}"/>
              </a:ext>
            </a:extLst>
          </p:cNvPr>
          <p:cNvSpPr txBox="1">
            <a:spLocks noGrp="1"/>
          </p:cNvSpPr>
          <p:nvPr/>
        </p:nvSpPr>
        <p:spPr>
          <a:xfrm>
            <a:off x="10947400" y="3020598"/>
            <a:ext cx="1016000" cy="279400"/>
          </a:xfrm>
          <a:prstGeom prst="rect">
            <a:avLst/>
          </a:prstGeom>
          <a:noFill/>
          <a:ln>
            <a:noFill/>
          </a:ln>
        </p:spPr>
        <p:txBody>
          <a:bodyPr wrap="square" anchor="ctr"/>
          <a:lstStyle/>
          <a:p>
            <a:pPr algn="r"/>
            <a:r>
              <a:rPr lang="en-US" sz="1000" b="1" dirty="0">
                <a:solidFill>
                  <a:srgbClr val="D0A616"/>
                </a:solidFill>
              </a:rPr>
              <a:t>● LOW-MOD</a:t>
            </a:r>
          </a:p>
        </p:txBody>
      </p:sp>
      <p:sp>
        <p:nvSpPr>
          <p:cNvPr id="43" name="Card book 5">
            <a:extLst>
              <a:ext uri="{FF2B5EF4-FFF2-40B4-BE49-F238E27FC236}">
                <a16:creationId xmlns:a16="http://schemas.microsoft.com/office/drawing/2014/main" id="{C9A88630-3E54-D517-A5F8-767AA0AEA313}"/>
              </a:ext>
            </a:extLst>
          </p:cNvPr>
          <p:cNvSpPr txBox="1">
            <a:spLocks noGrp="1"/>
          </p:cNvSpPr>
          <p:nvPr/>
        </p:nvSpPr>
        <p:spPr>
          <a:xfrm>
            <a:off x="8318500" y="3376198"/>
            <a:ext cx="3695700" cy="2286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r>
              <a:rPr lang="en-US" sz="1050" i="1" dirty="0">
                <a:solidFill>
                  <a:srgbClr val="44546A"/>
                </a:solidFill>
              </a:rPr>
              <a:t>Capital buffer in ICAAP</a:t>
            </a:r>
          </a:p>
        </p:txBody>
      </p:sp>
      <p:sp>
        <p:nvSpPr>
          <p:cNvPr id="44" name="Card bullets 5">
            <a:extLst>
              <a:ext uri="{FF2B5EF4-FFF2-40B4-BE49-F238E27FC236}">
                <a16:creationId xmlns:a16="http://schemas.microsoft.com/office/drawing/2014/main" id="{454546EC-A359-6227-E9BA-93164542B451}"/>
              </a:ext>
            </a:extLst>
          </p:cNvPr>
          <p:cNvSpPr txBox="1">
            <a:spLocks noGrp="1"/>
          </p:cNvSpPr>
          <p:nvPr/>
        </p:nvSpPr>
        <p:spPr>
          <a:xfrm>
            <a:off x="8318500" y="3604798"/>
            <a:ext cx="3695700" cy="903037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r>
              <a:rPr lang="en-US" sz="1200" dirty="0">
                <a:solidFill>
                  <a:srgbClr val="000000"/>
                </a:solidFill>
              </a:rPr>
              <a:t>• ESG capital buffer per risk category</a:t>
            </a:r>
          </a:p>
          <a:p>
            <a:r>
              <a:rPr lang="en-US" sz="1200" dirty="0">
                <a:solidFill>
                  <a:srgbClr val="000000"/>
                </a:solidFill>
              </a:rPr>
              <a:t>• Expert model: transition + physical risk</a:t>
            </a:r>
          </a:p>
          <a:p>
            <a:r>
              <a:rPr lang="en-US" sz="1200" dirty="0">
                <a:solidFill>
                  <a:srgbClr val="000000"/>
                </a:solidFill>
              </a:rPr>
              <a:t>• Restricted high-emitting sector list</a:t>
            </a:r>
          </a:p>
          <a:p>
            <a:r>
              <a:rPr lang="en-US" sz="1200" dirty="0">
                <a:solidFill>
                  <a:srgbClr val="000000"/>
                </a:solidFill>
              </a:rPr>
              <a:t>• EBA climate risk guidelines binding ~2027</a:t>
            </a:r>
          </a:p>
        </p:txBody>
      </p:sp>
      <p:sp>
        <p:nvSpPr>
          <p:cNvPr id="46" name="FtrT">
            <a:extLst>
              <a:ext uri="{FF2B5EF4-FFF2-40B4-BE49-F238E27FC236}">
                <a16:creationId xmlns:a16="http://schemas.microsoft.com/office/drawing/2014/main" id="{6D9C491C-25EA-E524-C187-A3E14EB217CE}"/>
              </a:ext>
            </a:extLst>
          </p:cNvPr>
          <p:cNvSpPr txBox="1">
            <a:spLocks noGrp="1"/>
          </p:cNvSpPr>
          <p:nvPr/>
        </p:nvSpPr>
        <p:spPr>
          <a:xfrm>
            <a:off x="228600" y="6477000"/>
            <a:ext cx="11430000" cy="317500"/>
          </a:xfrm>
          <a:prstGeom prst="rect">
            <a:avLst/>
          </a:prstGeom>
          <a:noFill/>
          <a:ln>
            <a:noFill/>
          </a:ln>
        </p:spPr>
        <p:txBody>
          <a:bodyPr wrap="square" anchor="ctr"/>
          <a:lstStyle/>
          <a:p>
            <a:r>
              <a:rPr lang="en-US" sz="1000" dirty="0"/>
              <a:t>Source: BAWAG Pillar 3 Qualitative Report 2025; FY2025 Results Presentation; EU IRRBB1 template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284734" y="5163235"/>
            <a:ext cx="11686032" cy="1015663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r>
              <a:rPr sz="1200" b="1" dirty="0"/>
              <a:t>Back-of-envelope ECL stress: ΔPD (200bp stress) × LGD (30%*) × EAD (€8bn consumer book) = ∼€48m </a:t>
            </a:r>
            <a:endParaRPr lang="hu-HU" sz="1200" b="1" dirty="0"/>
          </a:p>
          <a:p>
            <a:r>
              <a:rPr lang="en-US" sz="1200" b="1" dirty="0"/>
              <a:t>If energy prices rise 30%, household incomes fall enough to push consumer loan default rates up by 2pp (200bps). Applying that to BAWAG's €8bn unsecured consumer book with a 30% loss rate gives ~€48m in extra loan loss provisions. Adding uncertainty for staging migration and model error: plausible range €45–65m (vs. baseline FY2025 provisions of €227.5m). </a:t>
            </a:r>
          </a:p>
          <a:p>
            <a:r>
              <a:rPr lang="en-US" sz="1200" b="1" dirty="0"/>
              <a:t>Corporate energy exposure is negligible (0.2% of the book is restricted/prohibited). Overall: moderate indirect risk, low direct risk.</a:t>
            </a:r>
            <a:endParaRPr sz="1200" b="1" dirty="0"/>
          </a:p>
        </p:txBody>
      </p:sp>
    </p:spTree>
    <p:extLst>
      <p:ext uri="{BB962C8B-B14F-4D97-AF65-F5344CB8AC3E}">
        <p14:creationId xmlns:p14="http://schemas.microsoft.com/office/powerpoint/2010/main" val="354014947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78B0A9D-9AA1-AAF3-5EC2-2A37B58A9B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13ACA702-8C8F-B8E3-C36B-C2A23400DED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hu-HU" b="1" dirty="0" err="1"/>
              <a:t>Energy</a:t>
            </a:r>
            <a:r>
              <a:rPr lang="hu-HU" b="1" dirty="0"/>
              <a:t> Price </a:t>
            </a:r>
            <a:r>
              <a:rPr lang="hu-HU" b="1" dirty="0" err="1"/>
              <a:t>Resilience</a:t>
            </a:r>
            <a:r>
              <a:rPr lang="hu-HU" b="1" dirty="0"/>
              <a:t> - Overall </a:t>
            </a:r>
            <a:r>
              <a:rPr lang="hu-HU" b="1" dirty="0" err="1"/>
              <a:t>Assessment</a:t>
            </a:r>
            <a:endParaRPr lang="hu-HU" b="1" dirty="0"/>
          </a:p>
        </p:txBody>
      </p:sp>
      <p:sp>
        <p:nvSpPr>
          <p:cNvPr id="3" name="TH">
            <a:extLst>
              <a:ext uri="{FF2B5EF4-FFF2-40B4-BE49-F238E27FC236}">
                <a16:creationId xmlns:a16="http://schemas.microsoft.com/office/drawing/2014/main" id="{29B357EC-727B-61A6-CB7D-24634DAF381F}"/>
              </a:ext>
            </a:extLst>
          </p:cNvPr>
          <p:cNvSpPr>
            <a:spLocks noGrp="1"/>
          </p:cNvSpPr>
          <p:nvPr/>
        </p:nvSpPr>
        <p:spPr>
          <a:xfrm>
            <a:off x="190500" y="711200"/>
            <a:ext cx="11811000" cy="355600"/>
          </a:xfrm>
          <a:prstGeom prst="rect">
            <a:avLst/>
          </a:prstGeom>
          <a:solidFill>
            <a:srgbClr val="44546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4" name="TH txt 0">
            <a:extLst>
              <a:ext uri="{FF2B5EF4-FFF2-40B4-BE49-F238E27FC236}">
                <a16:creationId xmlns:a16="http://schemas.microsoft.com/office/drawing/2014/main" id="{1250EE1C-17F6-030C-F94A-3DD7709B83CE}"/>
              </a:ext>
            </a:extLst>
          </p:cNvPr>
          <p:cNvSpPr txBox="1">
            <a:spLocks noGrp="1"/>
          </p:cNvSpPr>
          <p:nvPr/>
        </p:nvSpPr>
        <p:spPr>
          <a:xfrm>
            <a:off x="228600" y="736600"/>
            <a:ext cx="2667000" cy="304800"/>
          </a:xfrm>
          <a:prstGeom prst="rect">
            <a:avLst/>
          </a:prstGeom>
          <a:noFill/>
          <a:ln>
            <a:noFill/>
          </a:ln>
        </p:spPr>
        <p:txBody>
          <a:bodyPr wrap="square" anchor="ctr"/>
          <a:lstStyle/>
          <a:p>
            <a:r>
              <a:rPr lang="en-US" sz="1100" b="1" dirty="0">
                <a:solidFill>
                  <a:srgbClr val="FFFFFF"/>
                </a:solidFill>
              </a:rPr>
              <a:t>Transmission Channel</a:t>
            </a:r>
          </a:p>
        </p:txBody>
      </p:sp>
      <p:sp>
        <p:nvSpPr>
          <p:cNvPr id="5" name="TH txt 1">
            <a:extLst>
              <a:ext uri="{FF2B5EF4-FFF2-40B4-BE49-F238E27FC236}">
                <a16:creationId xmlns:a16="http://schemas.microsoft.com/office/drawing/2014/main" id="{596E90F8-3A78-21E2-E82A-919227330378}"/>
              </a:ext>
            </a:extLst>
          </p:cNvPr>
          <p:cNvSpPr txBox="1">
            <a:spLocks noGrp="1"/>
          </p:cNvSpPr>
          <p:nvPr/>
        </p:nvSpPr>
        <p:spPr>
          <a:xfrm>
            <a:off x="2921000" y="736600"/>
            <a:ext cx="1879600" cy="304800"/>
          </a:xfrm>
          <a:prstGeom prst="rect">
            <a:avLst/>
          </a:prstGeom>
          <a:noFill/>
          <a:ln>
            <a:noFill/>
          </a:ln>
        </p:spPr>
        <p:txBody>
          <a:bodyPr wrap="square" anchor="ctr"/>
          <a:lstStyle/>
          <a:p>
            <a:r>
              <a:rPr lang="en-US" sz="1100" b="1" dirty="0">
                <a:solidFill>
                  <a:srgbClr val="FFFFFF"/>
                </a:solidFill>
              </a:rPr>
              <a:t>Book Size</a:t>
            </a:r>
          </a:p>
        </p:txBody>
      </p:sp>
      <p:sp>
        <p:nvSpPr>
          <p:cNvPr id="6" name="TH txt 2">
            <a:extLst>
              <a:ext uri="{FF2B5EF4-FFF2-40B4-BE49-F238E27FC236}">
                <a16:creationId xmlns:a16="http://schemas.microsoft.com/office/drawing/2014/main" id="{FA7AB0D5-2E7F-910D-949C-BDB7DD89BA64}"/>
              </a:ext>
            </a:extLst>
          </p:cNvPr>
          <p:cNvSpPr txBox="1">
            <a:spLocks noGrp="1"/>
          </p:cNvSpPr>
          <p:nvPr/>
        </p:nvSpPr>
        <p:spPr>
          <a:xfrm>
            <a:off x="4826000" y="736600"/>
            <a:ext cx="1333500" cy="304800"/>
          </a:xfrm>
          <a:prstGeom prst="rect">
            <a:avLst/>
          </a:prstGeom>
          <a:noFill/>
          <a:ln>
            <a:noFill/>
          </a:ln>
        </p:spPr>
        <p:txBody>
          <a:bodyPr wrap="square" anchor="ctr"/>
          <a:lstStyle/>
          <a:p>
            <a:r>
              <a:rPr lang="en-US" sz="1100" b="1" dirty="0">
                <a:solidFill>
                  <a:srgbClr val="FFFFFF"/>
                </a:solidFill>
              </a:rPr>
              <a:t>Rating</a:t>
            </a:r>
          </a:p>
        </p:txBody>
      </p:sp>
      <p:sp>
        <p:nvSpPr>
          <p:cNvPr id="7" name="TH txt 3">
            <a:extLst>
              <a:ext uri="{FF2B5EF4-FFF2-40B4-BE49-F238E27FC236}">
                <a16:creationId xmlns:a16="http://schemas.microsoft.com/office/drawing/2014/main" id="{76071E79-35D9-F1F3-51BB-FACAD8011777}"/>
              </a:ext>
            </a:extLst>
          </p:cNvPr>
          <p:cNvSpPr txBox="1">
            <a:spLocks noGrp="1"/>
          </p:cNvSpPr>
          <p:nvPr/>
        </p:nvSpPr>
        <p:spPr>
          <a:xfrm>
            <a:off x="6159500" y="736600"/>
            <a:ext cx="5778500" cy="304800"/>
          </a:xfrm>
          <a:prstGeom prst="rect">
            <a:avLst/>
          </a:prstGeom>
          <a:noFill/>
          <a:ln>
            <a:noFill/>
          </a:ln>
        </p:spPr>
        <p:txBody>
          <a:bodyPr wrap="square" anchor="ctr"/>
          <a:lstStyle/>
          <a:p>
            <a:r>
              <a:rPr lang="en-US" sz="1100" b="1" dirty="0">
                <a:solidFill>
                  <a:srgbClr val="FFFFFF"/>
                </a:solidFill>
              </a:rPr>
              <a:t>Key Mitigation Factor</a:t>
            </a:r>
          </a:p>
        </p:txBody>
      </p:sp>
      <p:sp>
        <p:nvSpPr>
          <p:cNvPr id="8" name="Row bg 0">
            <a:extLst>
              <a:ext uri="{FF2B5EF4-FFF2-40B4-BE49-F238E27FC236}">
                <a16:creationId xmlns:a16="http://schemas.microsoft.com/office/drawing/2014/main" id="{B7A137BD-2F5B-CAAA-EE6A-CF771E33D355}"/>
              </a:ext>
            </a:extLst>
          </p:cNvPr>
          <p:cNvSpPr>
            <a:spLocks noGrp="1"/>
          </p:cNvSpPr>
          <p:nvPr/>
        </p:nvSpPr>
        <p:spPr>
          <a:xfrm>
            <a:off x="190500" y="1117600"/>
            <a:ext cx="11811000" cy="6731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9" name="Row bar 0">
            <a:extLst>
              <a:ext uri="{FF2B5EF4-FFF2-40B4-BE49-F238E27FC236}">
                <a16:creationId xmlns:a16="http://schemas.microsoft.com/office/drawing/2014/main" id="{B2F460C3-A501-C452-F83D-9EF3B6264AF9}"/>
              </a:ext>
            </a:extLst>
          </p:cNvPr>
          <p:cNvSpPr>
            <a:spLocks noGrp="1"/>
          </p:cNvSpPr>
          <p:nvPr/>
        </p:nvSpPr>
        <p:spPr>
          <a:xfrm>
            <a:off x="190500" y="1117600"/>
            <a:ext cx="50800" cy="673100"/>
          </a:xfrm>
          <a:prstGeom prst="rect">
            <a:avLst/>
          </a:prstGeom>
          <a:solidFill>
            <a:srgbClr val="2D7A2D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0" name="Row ch 0">
            <a:extLst>
              <a:ext uri="{FF2B5EF4-FFF2-40B4-BE49-F238E27FC236}">
                <a16:creationId xmlns:a16="http://schemas.microsoft.com/office/drawing/2014/main" id="{A920C8F6-AB75-234D-0AB2-06C17D1671FD}"/>
              </a:ext>
            </a:extLst>
          </p:cNvPr>
          <p:cNvSpPr txBox="1">
            <a:spLocks noGrp="1"/>
          </p:cNvSpPr>
          <p:nvPr/>
        </p:nvSpPr>
        <p:spPr>
          <a:xfrm>
            <a:off x="228600" y="1193800"/>
            <a:ext cx="2667000" cy="5334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r>
              <a:rPr lang="en-US" sz="1050" b="1" dirty="0">
                <a:solidFill>
                  <a:srgbClr val="0B2B65"/>
                </a:solidFill>
              </a:rPr>
              <a:t>Direct: Corporate Credit</a:t>
            </a:r>
          </a:p>
        </p:txBody>
      </p:sp>
      <p:sp>
        <p:nvSpPr>
          <p:cNvPr id="11" name="Row exp 0">
            <a:extLst>
              <a:ext uri="{FF2B5EF4-FFF2-40B4-BE49-F238E27FC236}">
                <a16:creationId xmlns:a16="http://schemas.microsoft.com/office/drawing/2014/main" id="{4346C18E-6224-EBDE-A0FD-EA0D6D2DFF0B}"/>
              </a:ext>
            </a:extLst>
          </p:cNvPr>
          <p:cNvSpPr txBox="1">
            <a:spLocks noGrp="1"/>
          </p:cNvSpPr>
          <p:nvPr/>
        </p:nvSpPr>
        <p:spPr>
          <a:xfrm>
            <a:off x="2921000" y="1193800"/>
            <a:ext cx="1879600" cy="5334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r>
              <a:rPr lang="en-US" sz="1000" dirty="0">
                <a:solidFill>
                  <a:srgbClr val="44546A"/>
                </a:solidFill>
              </a:rPr>
              <a:t>€2.7bn (5.3%)</a:t>
            </a:r>
          </a:p>
        </p:txBody>
      </p:sp>
      <p:sp>
        <p:nvSpPr>
          <p:cNvPr id="12" name="Rating badge 0">
            <a:extLst>
              <a:ext uri="{FF2B5EF4-FFF2-40B4-BE49-F238E27FC236}">
                <a16:creationId xmlns:a16="http://schemas.microsoft.com/office/drawing/2014/main" id="{60F3EF38-343A-BBDD-912B-A48B54382995}"/>
              </a:ext>
            </a:extLst>
          </p:cNvPr>
          <p:cNvSpPr>
            <a:spLocks noGrp="1"/>
          </p:cNvSpPr>
          <p:nvPr/>
        </p:nvSpPr>
        <p:spPr>
          <a:xfrm>
            <a:off x="4826000" y="1219200"/>
            <a:ext cx="1206500" cy="381000"/>
          </a:xfrm>
          <a:prstGeom prst="rect">
            <a:avLst/>
          </a:prstGeom>
          <a:solidFill>
            <a:srgbClr val="2D7A2D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3" name="Rating txt 0">
            <a:extLst>
              <a:ext uri="{FF2B5EF4-FFF2-40B4-BE49-F238E27FC236}">
                <a16:creationId xmlns:a16="http://schemas.microsoft.com/office/drawing/2014/main" id="{13C60FE1-3D27-ADBD-005D-6E4C7718FB89}"/>
              </a:ext>
            </a:extLst>
          </p:cNvPr>
          <p:cNvSpPr txBox="1">
            <a:spLocks noGrp="1"/>
          </p:cNvSpPr>
          <p:nvPr/>
        </p:nvSpPr>
        <p:spPr>
          <a:xfrm>
            <a:off x="4826000" y="1219200"/>
            <a:ext cx="1206500" cy="381000"/>
          </a:xfrm>
          <a:prstGeom prst="rect">
            <a:avLst/>
          </a:prstGeom>
          <a:noFill/>
          <a:ln>
            <a:noFill/>
          </a:ln>
        </p:spPr>
        <p:txBody>
          <a:bodyPr wrap="square" anchor="ctr"/>
          <a:lstStyle/>
          <a:p>
            <a:pPr algn="ctr"/>
            <a:r>
              <a:rPr lang="en-US" sz="1000" b="1" dirty="0">
                <a:solidFill>
                  <a:srgbClr val="FFFFFF"/>
                </a:solidFill>
              </a:rPr>
              <a:t>LOW</a:t>
            </a:r>
          </a:p>
        </p:txBody>
      </p:sp>
      <p:sp>
        <p:nvSpPr>
          <p:cNvPr id="14" name="Row mit 0">
            <a:extLst>
              <a:ext uri="{FF2B5EF4-FFF2-40B4-BE49-F238E27FC236}">
                <a16:creationId xmlns:a16="http://schemas.microsoft.com/office/drawing/2014/main" id="{34772D25-81C2-82AE-D135-E0023B8AF62F}"/>
              </a:ext>
            </a:extLst>
          </p:cNvPr>
          <p:cNvSpPr txBox="1">
            <a:spLocks noGrp="1"/>
          </p:cNvSpPr>
          <p:nvPr/>
        </p:nvSpPr>
        <p:spPr>
          <a:xfrm>
            <a:off x="6159500" y="1193800"/>
            <a:ext cx="5778500" cy="5334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r>
              <a:rPr lang="en-US" sz="1000" dirty="0">
                <a:solidFill>
                  <a:srgbClr val="000000"/>
                </a:solidFill>
              </a:rPr>
              <a:t>0.2% restricted/prohibited exposure; non-cyclical industry focus</a:t>
            </a:r>
          </a:p>
        </p:txBody>
      </p:sp>
      <p:sp>
        <p:nvSpPr>
          <p:cNvPr id="15" name="Row bg 1">
            <a:extLst>
              <a:ext uri="{FF2B5EF4-FFF2-40B4-BE49-F238E27FC236}">
                <a16:creationId xmlns:a16="http://schemas.microsoft.com/office/drawing/2014/main" id="{32CFCFFE-DEF2-0EA6-632D-B72046E8AB63}"/>
              </a:ext>
            </a:extLst>
          </p:cNvPr>
          <p:cNvSpPr>
            <a:spLocks noGrp="1"/>
          </p:cNvSpPr>
          <p:nvPr/>
        </p:nvSpPr>
        <p:spPr>
          <a:xfrm>
            <a:off x="190500" y="1790700"/>
            <a:ext cx="11811000" cy="6731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6" name="Row bar 1">
            <a:extLst>
              <a:ext uri="{FF2B5EF4-FFF2-40B4-BE49-F238E27FC236}">
                <a16:creationId xmlns:a16="http://schemas.microsoft.com/office/drawing/2014/main" id="{5619CB23-4798-87B1-A1DD-ABC143B6A7B1}"/>
              </a:ext>
            </a:extLst>
          </p:cNvPr>
          <p:cNvSpPr>
            <a:spLocks noGrp="1"/>
          </p:cNvSpPr>
          <p:nvPr/>
        </p:nvSpPr>
        <p:spPr>
          <a:xfrm>
            <a:off x="190500" y="1790700"/>
            <a:ext cx="50800" cy="673100"/>
          </a:xfrm>
          <a:prstGeom prst="rect">
            <a:avLst/>
          </a:prstGeom>
          <a:solidFill>
            <a:srgbClr val="D0A616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7" name="Row ch 1">
            <a:extLst>
              <a:ext uri="{FF2B5EF4-FFF2-40B4-BE49-F238E27FC236}">
                <a16:creationId xmlns:a16="http://schemas.microsoft.com/office/drawing/2014/main" id="{31B99FDE-B9AD-46F2-FA45-299E73EFA92D}"/>
              </a:ext>
            </a:extLst>
          </p:cNvPr>
          <p:cNvSpPr txBox="1">
            <a:spLocks noGrp="1"/>
          </p:cNvSpPr>
          <p:nvPr/>
        </p:nvSpPr>
        <p:spPr>
          <a:xfrm>
            <a:off x="228600" y="1866900"/>
            <a:ext cx="2667000" cy="5334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r>
              <a:rPr lang="en-US" sz="1050" b="1" dirty="0">
                <a:solidFill>
                  <a:srgbClr val="0B2B65"/>
                </a:solidFill>
              </a:rPr>
              <a:t>Mortgage / Household Income</a:t>
            </a:r>
          </a:p>
        </p:txBody>
      </p:sp>
      <p:sp>
        <p:nvSpPr>
          <p:cNvPr id="18" name="Row exp 1">
            <a:extLst>
              <a:ext uri="{FF2B5EF4-FFF2-40B4-BE49-F238E27FC236}">
                <a16:creationId xmlns:a16="http://schemas.microsoft.com/office/drawing/2014/main" id="{8C237B62-73EC-94F6-0CFF-EE4BB019FFFB}"/>
              </a:ext>
            </a:extLst>
          </p:cNvPr>
          <p:cNvSpPr txBox="1">
            <a:spLocks noGrp="1"/>
          </p:cNvSpPr>
          <p:nvPr/>
        </p:nvSpPr>
        <p:spPr>
          <a:xfrm>
            <a:off x="2921000" y="1866900"/>
            <a:ext cx="1879600" cy="5334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r>
              <a:rPr lang="en-US" sz="1000" dirty="0">
                <a:solidFill>
                  <a:srgbClr val="44546A"/>
                </a:solidFill>
              </a:rPr>
              <a:t>€26.6bn (52%)</a:t>
            </a:r>
          </a:p>
        </p:txBody>
      </p:sp>
      <p:sp>
        <p:nvSpPr>
          <p:cNvPr id="19" name="Rating badge 1">
            <a:extLst>
              <a:ext uri="{FF2B5EF4-FFF2-40B4-BE49-F238E27FC236}">
                <a16:creationId xmlns:a16="http://schemas.microsoft.com/office/drawing/2014/main" id="{18C09F73-58AE-80BF-E7C5-1A4A1B642134}"/>
              </a:ext>
            </a:extLst>
          </p:cNvPr>
          <p:cNvSpPr>
            <a:spLocks noGrp="1"/>
          </p:cNvSpPr>
          <p:nvPr/>
        </p:nvSpPr>
        <p:spPr>
          <a:xfrm>
            <a:off x="4826000" y="1892300"/>
            <a:ext cx="1206500" cy="381000"/>
          </a:xfrm>
          <a:prstGeom prst="rect">
            <a:avLst/>
          </a:prstGeom>
          <a:solidFill>
            <a:srgbClr val="D0A616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0" name="Rating txt 1">
            <a:extLst>
              <a:ext uri="{FF2B5EF4-FFF2-40B4-BE49-F238E27FC236}">
                <a16:creationId xmlns:a16="http://schemas.microsoft.com/office/drawing/2014/main" id="{DBBE8C4D-1F57-05A2-C736-9561C11B5D37}"/>
              </a:ext>
            </a:extLst>
          </p:cNvPr>
          <p:cNvSpPr txBox="1">
            <a:spLocks noGrp="1"/>
          </p:cNvSpPr>
          <p:nvPr/>
        </p:nvSpPr>
        <p:spPr>
          <a:xfrm>
            <a:off x="4826000" y="1892300"/>
            <a:ext cx="1206500" cy="381000"/>
          </a:xfrm>
          <a:prstGeom prst="rect">
            <a:avLst/>
          </a:prstGeom>
          <a:noFill/>
          <a:ln>
            <a:noFill/>
          </a:ln>
        </p:spPr>
        <p:txBody>
          <a:bodyPr wrap="square" anchor="ctr"/>
          <a:lstStyle/>
          <a:p>
            <a:pPr algn="ctr"/>
            <a:r>
              <a:rPr lang="en-US" sz="1000" b="1" dirty="0">
                <a:solidFill>
                  <a:srgbClr val="FFFFFF"/>
                </a:solidFill>
              </a:rPr>
              <a:t>LOW-MOD</a:t>
            </a:r>
          </a:p>
        </p:txBody>
      </p:sp>
      <p:sp>
        <p:nvSpPr>
          <p:cNvPr id="21" name="Row mit 1">
            <a:extLst>
              <a:ext uri="{FF2B5EF4-FFF2-40B4-BE49-F238E27FC236}">
                <a16:creationId xmlns:a16="http://schemas.microsoft.com/office/drawing/2014/main" id="{F5475F83-1AE4-302B-6466-8A04A61C0CCD}"/>
              </a:ext>
            </a:extLst>
          </p:cNvPr>
          <p:cNvSpPr txBox="1">
            <a:spLocks noGrp="1"/>
          </p:cNvSpPr>
          <p:nvPr/>
        </p:nvSpPr>
        <p:spPr>
          <a:xfrm>
            <a:off x="6159500" y="1866900"/>
            <a:ext cx="5778500" cy="5334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r>
              <a:rPr lang="en-US" sz="1000" dirty="0">
                <a:solidFill>
                  <a:srgbClr val="000000"/>
                </a:solidFill>
              </a:rPr>
              <a:t>90% fixed-rate; 37% guaranteed; WA LTV 55%; low unemployment</a:t>
            </a:r>
          </a:p>
        </p:txBody>
      </p:sp>
      <p:sp>
        <p:nvSpPr>
          <p:cNvPr id="22" name="Row bg 2">
            <a:extLst>
              <a:ext uri="{FF2B5EF4-FFF2-40B4-BE49-F238E27FC236}">
                <a16:creationId xmlns:a16="http://schemas.microsoft.com/office/drawing/2014/main" id="{424E95EB-5069-BA23-A1E3-3036ACA8024C}"/>
              </a:ext>
            </a:extLst>
          </p:cNvPr>
          <p:cNvSpPr>
            <a:spLocks noGrp="1"/>
          </p:cNvSpPr>
          <p:nvPr/>
        </p:nvSpPr>
        <p:spPr>
          <a:xfrm>
            <a:off x="190500" y="2463800"/>
            <a:ext cx="11811000" cy="6731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3" name="Row bar 2">
            <a:extLst>
              <a:ext uri="{FF2B5EF4-FFF2-40B4-BE49-F238E27FC236}">
                <a16:creationId xmlns:a16="http://schemas.microsoft.com/office/drawing/2014/main" id="{7305B9BE-BE9A-DC69-4DBA-9658BA49892F}"/>
              </a:ext>
            </a:extLst>
          </p:cNvPr>
          <p:cNvSpPr>
            <a:spLocks noGrp="1"/>
          </p:cNvSpPr>
          <p:nvPr/>
        </p:nvSpPr>
        <p:spPr>
          <a:xfrm>
            <a:off x="190500" y="2463800"/>
            <a:ext cx="50800" cy="673100"/>
          </a:xfrm>
          <a:prstGeom prst="rect">
            <a:avLst/>
          </a:prstGeom>
          <a:solidFill>
            <a:srgbClr val="C0510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4" name="Row ch 2">
            <a:extLst>
              <a:ext uri="{FF2B5EF4-FFF2-40B4-BE49-F238E27FC236}">
                <a16:creationId xmlns:a16="http://schemas.microsoft.com/office/drawing/2014/main" id="{840993BB-DFD2-9DE8-9610-BF43A5945097}"/>
              </a:ext>
            </a:extLst>
          </p:cNvPr>
          <p:cNvSpPr txBox="1">
            <a:spLocks noGrp="1"/>
          </p:cNvSpPr>
          <p:nvPr/>
        </p:nvSpPr>
        <p:spPr>
          <a:xfrm>
            <a:off x="228600" y="2540000"/>
            <a:ext cx="2667000" cy="5334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r>
              <a:rPr lang="en-US" sz="1050" b="1" dirty="0">
                <a:solidFill>
                  <a:srgbClr val="0B2B65"/>
                </a:solidFill>
              </a:rPr>
              <a:t>Consumer Unsecured</a:t>
            </a:r>
          </a:p>
        </p:txBody>
      </p:sp>
      <p:sp>
        <p:nvSpPr>
          <p:cNvPr id="25" name="Row exp 2">
            <a:extLst>
              <a:ext uri="{FF2B5EF4-FFF2-40B4-BE49-F238E27FC236}">
                <a16:creationId xmlns:a16="http://schemas.microsoft.com/office/drawing/2014/main" id="{D0192200-D257-AB8D-B2BE-72313AECFDBE}"/>
              </a:ext>
            </a:extLst>
          </p:cNvPr>
          <p:cNvSpPr txBox="1">
            <a:spLocks noGrp="1"/>
          </p:cNvSpPr>
          <p:nvPr/>
        </p:nvSpPr>
        <p:spPr>
          <a:xfrm>
            <a:off x="2921000" y="2540000"/>
            <a:ext cx="1879600" cy="5334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r>
              <a:rPr lang="en-US" sz="1000" dirty="0">
                <a:solidFill>
                  <a:srgbClr val="44546A"/>
                </a:solidFill>
              </a:rPr>
              <a:t>€8.0bn (16%)</a:t>
            </a:r>
          </a:p>
        </p:txBody>
      </p:sp>
      <p:sp>
        <p:nvSpPr>
          <p:cNvPr id="26" name="Rating badge 2">
            <a:extLst>
              <a:ext uri="{FF2B5EF4-FFF2-40B4-BE49-F238E27FC236}">
                <a16:creationId xmlns:a16="http://schemas.microsoft.com/office/drawing/2014/main" id="{A18CF7B1-286D-2046-4570-469109A8DB92}"/>
              </a:ext>
            </a:extLst>
          </p:cNvPr>
          <p:cNvSpPr>
            <a:spLocks noGrp="1"/>
          </p:cNvSpPr>
          <p:nvPr/>
        </p:nvSpPr>
        <p:spPr>
          <a:xfrm>
            <a:off x="4826000" y="2565400"/>
            <a:ext cx="1206500" cy="381000"/>
          </a:xfrm>
          <a:prstGeom prst="rect">
            <a:avLst/>
          </a:prstGeom>
          <a:solidFill>
            <a:srgbClr val="C0510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7" name="Rating txt 2">
            <a:extLst>
              <a:ext uri="{FF2B5EF4-FFF2-40B4-BE49-F238E27FC236}">
                <a16:creationId xmlns:a16="http://schemas.microsoft.com/office/drawing/2014/main" id="{7AE9F905-B37A-0533-E94F-099EDAC7A568}"/>
              </a:ext>
            </a:extLst>
          </p:cNvPr>
          <p:cNvSpPr txBox="1">
            <a:spLocks noGrp="1"/>
          </p:cNvSpPr>
          <p:nvPr/>
        </p:nvSpPr>
        <p:spPr>
          <a:xfrm>
            <a:off x="4826000" y="2565400"/>
            <a:ext cx="1206500" cy="381000"/>
          </a:xfrm>
          <a:prstGeom prst="rect">
            <a:avLst/>
          </a:prstGeom>
          <a:noFill/>
          <a:ln>
            <a:noFill/>
          </a:ln>
        </p:spPr>
        <p:txBody>
          <a:bodyPr wrap="square" anchor="ctr"/>
          <a:lstStyle/>
          <a:p>
            <a:pPr algn="ctr"/>
            <a:r>
              <a:rPr lang="en-US" sz="1000" b="1" dirty="0">
                <a:solidFill>
                  <a:srgbClr val="FFFFFF"/>
                </a:solidFill>
              </a:rPr>
              <a:t>MODERATE</a:t>
            </a:r>
          </a:p>
        </p:txBody>
      </p:sp>
      <p:sp>
        <p:nvSpPr>
          <p:cNvPr id="28" name="Row mit 2">
            <a:extLst>
              <a:ext uri="{FF2B5EF4-FFF2-40B4-BE49-F238E27FC236}">
                <a16:creationId xmlns:a16="http://schemas.microsoft.com/office/drawing/2014/main" id="{D7B72312-CBBE-19DB-A9AA-6C94C63F6EF0}"/>
              </a:ext>
            </a:extLst>
          </p:cNvPr>
          <p:cNvSpPr txBox="1">
            <a:spLocks noGrp="1"/>
          </p:cNvSpPr>
          <p:nvPr/>
        </p:nvSpPr>
        <p:spPr>
          <a:xfrm>
            <a:off x="6159500" y="2540000"/>
            <a:ext cx="5778500" cy="5334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r>
              <a:rPr lang="en-US" sz="1000" dirty="0">
                <a:solidFill>
                  <a:srgbClr val="000000"/>
                </a:solidFill>
              </a:rPr>
              <a:t>Diversified geographies; IFRS 9 ECL scenario stress; growing risk</a:t>
            </a:r>
          </a:p>
        </p:txBody>
      </p:sp>
      <p:sp>
        <p:nvSpPr>
          <p:cNvPr id="29" name="Row bg 3">
            <a:extLst>
              <a:ext uri="{FF2B5EF4-FFF2-40B4-BE49-F238E27FC236}">
                <a16:creationId xmlns:a16="http://schemas.microsoft.com/office/drawing/2014/main" id="{BCC9C71D-E688-F64E-D670-59EF9F3E731F}"/>
              </a:ext>
            </a:extLst>
          </p:cNvPr>
          <p:cNvSpPr>
            <a:spLocks noGrp="1"/>
          </p:cNvSpPr>
          <p:nvPr/>
        </p:nvSpPr>
        <p:spPr>
          <a:xfrm>
            <a:off x="190500" y="3136900"/>
            <a:ext cx="11811000" cy="6731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30" name="Row bar 3">
            <a:extLst>
              <a:ext uri="{FF2B5EF4-FFF2-40B4-BE49-F238E27FC236}">
                <a16:creationId xmlns:a16="http://schemas.microsoft.com/office/drawing/2014/main" id="{A235BE23-7536-B325-677D-88B196C334FD}"/>
              </a:ext>
            </a:extLst>
          </p:cNvPr>
          <p:cNvSpPr>
            <a:spLocks noGrp="1"/>
          </p:cNvSpPr>
          <p:nvPr/>
        </p:nvSpPr>
        <p:spPr>
          <a:xfrm>
            <a:off x="190500" y="3136900"/>
            <a:ext cx="50800" cy="673100"/>
          </a:xfrm>
          <a:prstGeom prst="rect">
            <a:avLst/>
          </a:prstGeom>
          <a:solidFill>
            <a:srgbClr val="C0510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31" name="Row ch 3">
            <a:extLst>
              <a:ext uri="{FF2B5EF4-FFF2-40B4-BE49-F238E27FC236}">
                <a16:creationId xmlns:a16="http://schemas.microsoft.com/office/drawing/2014/main" id="{A2453CBF-C04A-6097-77F2-ADED73DB79D7}"/>
              </a:ext>
            </a:extLst>
          </p:cNvPr>
          <p:cNvSpPr txBox="1">
            <a:spLocks noGrp="1"/>
          </p:cNvSpPr>
          <p:nvPr/>
        </p:nvSpPr>
        <p:spPr>
          <a:xfrm>
            <a:off x="228600" y="3213100"/>
            <a:ext cx="2667000" cy="5334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r>
              <a:rPr lang="en-US" sz="1050" b="1" dirty="0">
                <a:solidFill>
                  <a:srgbClr val="0B2B65"/>
                </a:solidFill>
              </a:rPr>
              <a:t>CRE Collateral (EPC Risk)</a:t>
            </a:r>
          </a:p>
        </p:txBody>
      </p:sp>
      <p:sp>
        <p:nvSpPr>
          <p:cNvPr id="32" name="Row exp 3">
            <a:extLst>
              <a:ext uri="{FF2B5EF4-FFF2-40B4-BE49-F238E27FC236}">
                <a16:creationId xmlns:a16="http://schemas.microsoft.com/office/drawing/2014/main" id="{234DFEDC-D165-37BC-ECD6-AF314CADB3DC}"/>
              </a:ext>
            </a:extLst>
          </p:cNvPr>
          <p:cNvSpPr txBox="1">
            <a:spLocks noGrp="1"/>
          </p:cNvSpPr>
          <p:nvPr/>
        </p:nvSpPr>
        <p:spPr>
          <a:xfrm>
            <a:off x="2921000" y="3213100"/>
            <a:ext cx="1879600" cy="5334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r>
              <a:rPr lang="en-US" sz="1000" dirty="0">
                <a:solidFill>
                  <a:srgbClr val="44546A"/>
                </a:solidFill>
              </a:rPr>
              <a:t>€5.7bn (11%)</a:t>
            </a:r>
          </a:p>
        </p:txBody>
      </p:sp>
      <p:sp>
        <p:nvSpPr>
          <p:cNvPr id="33" name="Rating badge 3">
            <a:extLst>
              <a:ext uri="{FF2B5EF4-FFF2-40B4-BE49-F238E27FC236}">
                <a16:creationId xmlns:a16="http://schemas.microsoft.com/office/drawing/2014/main" id="{54F659F1-3946-310F-E6C6-5705FE0EAA30}"/>
              </a:ext>
            </a:extLst>
          </p:cNvPr>
          <p:cNvSpPr>
            <a:spLocks noGrp="1"/>
          </p:cNvSpPr>
          <p:nvPr/>
        </p:nvSpPr>
        <p:spPr>
          <a:xfrm>
            <a:off x="4826000" y="3238500"/>
            <a:ext cx="1206500" cy="381000"/>
          </a:xfrm>
          <a:prstGeom prst="rect">
            <a:avLst/>
          </a:prstGeom>
          <a:solidFill>
            <a:srgbClr val="C0510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34" name="Rating txt 3">
            <a:extLst>
              <a:ext uri="{FF2B5EF4-FFF2-40B4-BE49-F238E27FC236}">
                <a16:creationId xmlns:a16="http://schemas.microsoft.com/office/drawing/2014/main" id="{30048F82-0A01-7ED5-2D3D-3969CA3330DD}"/>
              </a:ext>
            </a:extLst>
          </p:cNvPr>
          <p:cNvSpPr txBox="1">
            <a:spLocks noGrp="1"/>
          </p:cNvSpPr>
          <p:nvPr/>
        </p:nvSpPr>
        <p:spPr>
          <a:xfrm>
            <a:off x="4826000" y="3238500"/>
            <a:ext cx="1206500" cy="381000"/>
          </a:xfrm>
          <a:prstGeom prst="rect">
            <a:avLst/>
          </a:prstGeom>
          <a:noFill/>
          <a:ln>
            <a:noFill/>
          </a:ln>
        </p:spPr>
        <p:txBody>
          <a:bodyPr wrap="square" anchor="ctr"/>
          <a:lstStyle/>
          <a:p>
            <a:pPr algn="ctr"/>
            <a:r>
              <a:rPr lang="en-US" sz="1000" b="1" dirty="0">
                <a:solidFill>
                  <a:srgbClr val="FFFFFF"/>
                </a:solidFill>
              </a:rPr>
              <a:t>MODERATE</a:t>
            </a:r>
          </a:p>
        </p:txBody>
      </p:sp>
      <p:sp>
        <p:nvSpPr>
          <p:cNvPr id="35" name="Row mit 3">
            <a:extLst>
              <a:ext uri="{FF2B5EF4-FFF2-40B4-BE49-F238E27FC236}">
                <a16:creationId xmlns:a16="http://schemas.microsoft.com/office/drawing/2014/main" id="{171E0576-8A64-E1B7-D401-64B2A301ED2C}"/>
              </a:ext>
            </a:extLst>
          </p:cNvPr>
          <p:cNvSpPr txBox="1">
            <a:spLocks noGrp="1"/>
          </p:cNvSpPr>
          <p:nvPr/>
        </p:nvSpPr>
        <p:spPr>
          <a:xfrm>
            <a:off x="6159500" y="3213100"/>
            <a:ext cx="5778500" cy="5334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r>
              <a:rPr lang="en-US" sz="1000" dirty="0">
                <a:solidFill>
                  <a:srgbClr val="000000"/>
                </a:solidFill>
              </a:rPr>
              <a:t>EPC KRI tracked; LTV ~50%; cross-collateralization; insurance req.</a:t>
            </a:r>
          </a:p>
        </p:txBody>
      </p:sp>
      <p:sp>
        <p:nvSpPr>
          <p:cNvPr id="36" name="Row bg 4">
            <a:extLst>
              <a:ext uri="{FF2B5EF4-FFF2-40B4-BE49-F238E27FC236}">
                <a16:creationId xmlns:a16="http://schemas.microsoft.com/office/drawing/2014/main" id="{F9DBF3EA-E55C-B1C0-18B6-BF33690A3D77}"/>
              </a:ext>
            </a:extLst>
          </p:cNvPr>
          <p:cNvSpPr>
            <a:spLocks noGrp="1"/>
          </p:cNvSpPr>
          <p:nvPr/>
        </p:nvSpPr>
        <p:spPr>
          <a:xfrm>
            <a:off x="190500" y="3810000"/>
            <a:ext cx="11811000" cy="6731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37" name="Row bar 4">
            <a:extLst>
              <a:ext uri="{FF2B5EF4-FFF2-40B4-BE49-F238E27FC236}">
                <a16:creationId xmlns:a16="http://schemas.microsoft.com/office/drawing/2014/main" id="{FCF9BB1A-65F6-812E-FBA4-F0B37549EBA7}"/>
              </a:ext>
            </a:extLst>
          </p:cNvPr>
          <p:cNvSpPr>
            <a:spLocks noGrp="1"/>
          </p:cNvSpPr>
          <p:nvPr/>
        </p:nvSpPr>
        <p:spPr>
          <a:xfrm>
            <a:off x="190500" y="3810000"/>
            <a:ext cx="50800" cy="673100"/>
          </a:xfrm>
          <a:prstGeom prst="rect">
            <a:avLst/>
          </a:prstGeom>
          <a:solidFill>
            <a:srgbClr val="2D7A2D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38" name="Row ch 4">
            <a:extLst>
              <a:ext uri="{FF2B5EF4-FFF2-40B4-BE49-F238E27FC236}">
                <a16:creationId xmlns:a16="http://schemas.microsoft.com/office/drawing/2014/main" id="{1C40761C-0835-D36F-B9B5-F5E2FD74123E}"/>
              </a:ext>
            </a:extLst>
          </p:cNvPr>
          <p:cNvSpPr txBox="1">
            <a:spLocks noGrp="1"/>
          </p:cNvSpPr>
          <p:nvPr/>
        </p:nvSpPr>
        <p:spPr>
          <a:xfrm>
            <a:off x="228600" y="3886200"/>
            <a:ext cx="2667000" cy="5334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r>
              <a:rPr lang="en-US" sz="1050" b="1" dirty="0">
                <a:solidFill>
                  <a:srgbClr val="0B2B65"/>
                </a:solidFill>
              </a:rPr>
              <a:t>IRRBB (Rate Response)</a:t>
            </a:r>
          </a:p>
        </p:txBody>
      </p:sp>
      <p:sp>
        <p:nvSpPr>
          <p:cNvPr id="39" name="Row exp 4">
            <a:extLst>
              <a:ext uri="{FF2B5EF4-FFF2-40B4-BE49-F238E27FC236}">
                <a16:creationId xmlns:a16="http://schemas.microsoft.com/office/drawing/2014/main" id="{08B8D30D-5EC4-8321-9A3B-5245B6C7E7E6}"/>
              </a:ext>
            </a:extLst>
          </p:cNvPr>
          <p:cNvSpPr txBox="1">
            <a:spLocks noGrp="1"/>
          </p:cNvSpPr>
          <p:nvPr/>
        </p:nvSpPr>
        <p:spPr>
          <a:xfrm>
            <a:off x="2921000" y="3886200"/>
            <a:ext cx="1879600" cy="5334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r>
              <a:rPr lang="en-US" sz="1000" dirty="0">
                <a:solidFill>
                  <a:srgbClr val="44546A"/>
                </a:solidFill>
              </a:rPr>
              <a:t>EVE sensitivity</a:t>
            </a:r>
          </a:p>
        </p:txBody>
      </p:sp>
      <p:sp>
        <p:nvSpPr>
          <p:cNvPr id="40" name="Rating badge 4">
            <a:extLst>
              <a:ext uri="{FF2B5EF4-FFF2-40B4-BE49-F238E27FC236}">
                <a16:creationId xmlns:a16="http://schemas.microsoft.com/office/drawing/2014/main" id="{C33BEB2F-B98C-65A9-AA42-89B076D0B781}"/>
              </a:ext>
            </a:extLst>
          </p:cNvPr>
          <p:cNvSpPr>
            <a:spLocks noGrp="1"/>
          </p:cNvSpPr>
          <p:nvPr/>
        </p:nvSpPr>
        <p:spPr>
          <a:xfrm>
            <a:off x="4826000" y="3911600"/>
            <a:ext cx="1206500" cy="381000"/>
          </a:xfrm>
          <a:prstGeom prst="rect">
            <a:avLst/>
          </a:prstGeom>
          <a:solidFill>
            <a:srgbClr val="2D7A2D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41" name="Rating txt 4">
            <a:extLst>
              <a:ext uri="{FF2B5EF4-FFF2-40B4-BE49-F238E27FC236}">
                <a16:creationId xmlns:a16="http://schemas.microsoft.com/office/drawing/2014/main" id="{44085300-316F-D623-CD41-E1D6F002296E}"/>
              </a:ext>
            </a:extLst>
          </p:cNvPr>
          <p:cNvSpPr txBox="1">
            <a:spLocks noGrp="1"/>
          </p:cNvSpPr>
          <p:nvPr/>
        </p:nvSpPr>
        <p:spPr>
          <a:xfrm>
            <a:off x="4826000" y="3911600"/>
            <a:ext cx="1206500" cy="381000"/>
          </a:xfrm>
          <a:prstGeom prst="rect">
            <a:avLst/>
          </a:prstGeom>
          <a:noFill/>
          <a:ln>
            <a:noFill/>
          </a:ln>
        </p:spPr>
        <p:txBody>
          <a:bodyPr wrap="square" anchor="ctr"/>
          <a:lstStyle/>
          <a:p>
            <a:pPr algn="ctr"/>
            <a:r>
              <a:rPr lang="en-US" sz="1000" b="1" dirty="0">
                <a:solidFill>
                  <a:srgbClr val="FFFFFF"/>
                </a:solidFill>
              </a:rPr>
              <a:t>LOW</a:t>
            </a:r>
          </a:p>
        </p:txBody>
      </p:sp>
      <p:sp>
        <p:nvSpPr>
          <p:cNvPr id="42" name="Row mit 4">
            <a:extLst>
              <a:ext uri="{FF2B5EF4-FFF2-40B4-BE49-F238E27FC236}">
                <a16:creationId xmlns:a16="http://schemas.microsoft.com/office/drawing/2014/main" id="{9678F682-BBAF-20F8-4EF6-F24BC64F2272}"/>
              </a:ext>
            </a:extLst>
          </p:cNvPr>
          <p:cNvSpPr txBox="1">
            <a:spLocks noGrp="1"/>
          </p:cNvSpPr>
          <p:nvPr/>
        </p:nvSpPr>
        <p:spPr>
          <a:xfrm>
            <a:off x="6159500" y="3886200"/>
            <a:ext cx="5778500" cy="5334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r>
              <a:rPr lang="en-US" sz="1000" dirty="0">
                <a:solidFill>
                  <a:srgbClr val="000000"/>
                </a:solidFill>
              </a:rPr>
              <a:t>Matched balance sheet; NII impact &lt;1% of revenues</a:t>
            </a:r>
          </a:p>
        </p:txBody>
      </p:sp>
      <p:sp>
        <p:nvSpPr>
          <p:cNvPr id="43" name="Row bg 5">
            <a:extLst>
              <a:ext uri="{FF2B5EF4-FFF2-40B4-BE49-F238E27FC236}">
                <a16:creationId xmlns:a16="http://schemas.microsoft.com/office/drawing/2014/main" id="{C7846EE4-7912-91A8-4BD8-00E2B7309B73}"/>
              </a:ext>
            </a:extLst>
          </p:cNvPr>
          <p:cNvSpPr>
            <a:spLocks noGrp="1"/>
          </p:cNvSpPr>
          <p:nvPr/>
        </p:nvSpPr>
        <p:spPr>
          <a:xfrm>
            <a:off x="190500" y="4483100"/>
            <a:ext cx="11811000" cy="6731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44" name="Row bar 5">
            <a:extLst>
              <a:ext uri="{FF2B5EF4-FFF2-40B4-BE49-F238E27FC236}">
                <a16:creationId xmlns:a16="http://schemas.microsoft.com/office/drawing/2014/main" id="{356B460E-BEE2-74C5-E3A7-E1D9805FA40E}"/>
              </a:ext>
            </a:extLst>
          </p:cNvPr>
          <p:cNvSpPr>
            <a:spLocks noGrp="1"/>
          </p:cNvSpPr>
          <p:nvPr/>
        </p:nvSpPr>
        <p:spPr>
          <a:xfrm>
            <a:off x="190500" y="4483100"/>
            <a:ext cx="50800" cy="673100"/>
          </a:xfrm>
          <a:prstGeom prst="rect">
            <a:avLst/>
          </a:prstGeom>
          <a:solidFill>
            <a:srgbClr val="D0A616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45" name="Row ch 5">
            <a:extLst>
              <a:ext uri="{FF2B5EF4-FFF2-40B4-BE49-F238E27FC236}">
                <a16:creationId xmlns:a16="http://schemas.microsoft.com/office/drawing/2014/main" id="{A4E6845D-FC0D-8026-E0E8-86B181D9C40A}"/>
              </a:ext>
            </a:extLst>
          </p:cNvPr>
          <p:cNvSpPr txBox="1">
            <a:spLocks noGrp="1"/>
          </p:cNvSpPr>
          <p:nvPr/>
        </p:nvSpPr>
        <p:spPr>
          <a:xfrm>
            <a:off x="228600" y="4559300"/>
            <a:ext cx="2667000" cy="5334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r>
              <a:rPr lang="en-US" sz="1050" b="1" dirty="0">
                <a:solidFill>
                  <a:srgbClr val="0B2B65"/>
                </a:solidFill>
              </a:rPr>
              <a:t>Operational Cost Channel</a:t>
            </a:r>
          </a:p>
        </p:txBody>
      </p:sp>
      <p:sp>
        <p:nvSpPr>
          <p:cNvPr id="46" name="Row exp 5">
            <a:extLst>
              <a:ext uri="{FF2B5EF4-FFF2-40B4-BE49-F238E27FC236}">
                <a16:creationId xmlns:a16="http://schemas.microsoft.com/office/drawing/2014/main" id="{E3E748AF-7154-5B8C-0390-D8E09F10BD84}"/>
              </a:ext>
            </a:extLst>
          </p:cNvPr>
          <p:cNvSpPr txBox="1">
            <a:spLocks noGrp="1"/>
          </p:cNvSpPr>
          <p:nvPr/>
        </p:nvSpPr>
        <p:spPr>
          <a:xfrm>
            <a:off x="2921000" y="4559300"/>
            <a:ext cx="1879600" cy="5334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r>
              <a:rPr lang="en-US" sz="1000" dirty="0">
                <a:solidFill>
                  <a:srgbClr val="44546A"/>
                </a:solidFill>
              </a:rPr>
              <a:t>Overhead costs</a:t>
            </a:r>
          </a:p>
        </p:txBody>
      </p:sp>
      <p:sp>
        <p:nvSpPr>
          <p:cNvPr id="47" name="Rating badge 5">
            <a:extLst>
              <a:ext uri="{FF2B5EF4-FFF2-40B4-BE49-F238E27FC236}">
                <a16:creationId xmlns:a16="http://schemas.microsoft.com/office/drawing/2014/main" id="{4D5B892F-2C5C-6A36-AC2C-6F3660D66202}"/>
              </a:ext>
            </a:extLst>
          </p:cNvPr>
          <p:cNvSpPr>
            <a:spLocks noGrp="1"/>
          </p:cNvSpPr>
          <p:nvPr/>
        </p:nvSpPr>
        <p:spPr>
          <a:xfrm>
            <a:off x="4826000" y="4584700"/>
            <a:ext cx="1206500" cy="381000"/>
          </a:xfrm>
          <a:prstGeom prst="rect">
            <a:avLst/>
          </a:prstGeom>
          <a:solidFill>
            <a:srgbClr val="D0A616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48" name="Rating txt 5">
            <a:extLst>
              <a:ext uri="{FF2B5EF4-FFF2-40B4-BE49-F238E27FC236}">
                <a16:creationId xmlns:a16="http://schemas.microsoft.com/office/drawing/2014/main" id="{27F743FD-962A-99BF-7FA1-5CAB8259C890}"/>
              </a:ext>
            </a:extLst>
          </p:cNvPr>
          <p:cNvSpPr txBox="1">
            <a:spLocks noGrp="1"/>
          </p:cNvSpPr>
          <p:nvPr/>
        </p:nvSpPr>
        <p:spPr>
          <a:xfrm>
            <a:off x="4826000" y="4584700"/>
            <a:ext cx="1206500" cy="381000"/>
          </a:xfrm>
          <a:prstGeom prst="rect">
            <a:avLst/>
          </a:prstGeom>
          <a:noFill/>
          <a:ln>
            <a:noFill/>
          </a:ln>
        </p:spPr>
        <p:txBody>
          <a:bodyPr wrap="square" anchor="ctr"/>
          <a:lstStyle/>
          <a:p>
            <a:pPr algn="ctr"/>
            <a:r>
              <a:rPr lang="en-US" sz="1000" b="1" dirty="0">
                <a:solidFill>
                  <a:srgbClr val="FFFFFF"/>
                </a:solidFill>
              </a:rPr>
              <a:t>LOW-MOD</a:t>
            </a:r>
          </a:p>
        </p:txBody>
      </p:sp>
      <p:sp>
        <p:nvSpPr>
          <p:cNvPr id="49" name="Row mit 5">
            <a:extLst>
              <a:ext uri="{FF2B5EF4-FFF2-40B4-BE49-F238E27FC236}">
                <a16:creationId xmlns:a16="http://schemas.microsoft.com/office/drawing/2014/main" id="{6A35BB78-2EDF-0663-6D94-A25F1AF9BB4A}"/>
              </a:ext>
            </a:extLst>
          </p:cNvPr>
          <p:cNvSpPr txBox="1">
            <a:spLocks noGrp="1"/>
          </p:cNvSpPr>
          <p:nvPr/>
        </p:nvSpPr>
        <p:spPr>
          <a:xfrm>
            <a:off x="6159500" y="4559300"/>
            <a:ext cx="5778500" cy="5334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r>
              <a:rPr lang="en-US" sz="1000" dirty="0">
                <a:solidFill>
                  <a:srgbClr val="000000"/>
                </a:solidFill>
              </a:rPr>
              <a:t>&gt;5% opex reduction target 2026; digitalisation savings</a:t>
            </a:r>
          </a:p>
        </p:txBody>
      </p:sp>
      <p:sp>
        <p:nvSpPr>
          <p:cNvPr id="50" name="Row bg 6">
            <a:extLst>
              <a:ext uri="{FF2B5EF4-FFF2-40B4-BE49-F238E27FC236}">
                <a16:creationId xmlns:a16="http://schemas.microsoft.com/office/drawing/2014/main" id="{43F15905-326E-4E83-58C0-DF31AC6D5056}"/>
              </a:ext>
            </a:extLst>
          </p:cNvPr>
          <p:cNvSpPr>
            <a:spLocks noGrp="1"/>
          </p:cNvSpPr>
          <p:nvPr/>
        </p:nvSpPr>
        <p:spPr>
          <a:xfrm>
            <a:off x="190500" y="5156200"/>
            <a:ext cx="11811000" cy="6731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1" name="Row bar 6">
            <a:extLst>
              <a:ext uri="{FF2B5EF4-FFF2-40B4-BE49-F238E27FC236}">
                <a16:creationId xmlns:a16="http://schemas.microsoft.com/office/drawing/2014/main" id="{4AB4B31C-E642-DFD1-79D4-4819380C04B1}"/>
              </a:ext>
            </a:extLst>
          </p:cNvPr>
          <p:cNvSpPr>
            <a:spLocks noGrp="1"/>
          </p:cNvSpPr>
          <p:nvPr/>
        </p:nvSpPr>
        <p:spPr>
          <a:xfrm>
            <a:off x="190500" y="5156200"/>
            <a:ext cx="50800" cy="673100"/>
          </a:xfrm>
          <a:prstGeom prst="rect">
            <a:avLst/>
          </a:prstGeom>
          <a:solidFill>
            <a:srgbClr val="D0A616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2" name="Row ch 6">
            <a:extLst>
              <a:ext uri="{FF2B5EF4-FFF2-40B4-BE49-F238E27FC236}">
                <a16:creationId xmlns:a16="http://schemas.microsoft.com/office/drawing/2014/main" id="{79D42309-BB18-4ABA-3030-62598F60CC99}"/>
              </a:ext>
            </a:extLst>
          </p:cNvPr>
          <p:cNvSpPr txBox="1">
            <a:spLocks noGrp="1"/>
          </p:cNvSpPr>
          <p:nvPr/>
        </p:nvSpPr>
        <p:spPr>
          <a:xfrm>
            <a:off x="228600" y="5232400"/>
            <a:ext cx="2667000" cy="5334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r>
              <a:rPr lang="en-US" sz="1050" b="1" dirty="0">
                <a:solidFill>
                  <a:srgbClr val="0B2B65"/>
                </a:solidFill>
              </a:rPr>
              <a:t>ESG / Transition Regulatory</a:t>
            </a:r>
          </a:p>
        </p:txBody>
      </p:sp>
      <p:sp>
        <p:nvSpPr>
          <p:cNvPr id="53" name="Row exp 6">
            <a:extLst>
              <a:ext uri="{FF2B5EF4-FFF2-40B4-BE49-F238E27FC236}">
                <a16:creationId xmlns:a16="http://schemas.microsoft.com/office/drawing/2014/main" id="{593D114A-34DD-6B35-C0BC-ACA626053EE5}"/>
              </a:ext>
            </a:extLst>
          </p:cNvPr>
          <p:cNvSpPr txBox="1">
            <a:spLocks noGrp="1"/>
          </p:cNvSpPr>
          <p:nvPr/>
        </p:nvSpPr>
        <p:spPr>
          <a:xfrm>
            <a:off x="2921000" y="5232400"/>
            <a:ext cx="1879600" cy="5334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r>
              <a:rPr lang="en-US" sz="1000" dirty="0">
                <a:solidFill>
                  <a:srgbClr val="44546A"/>
                </a:solidFill>
              </a:rPr>
              <a:t>ICAAP buffer</a:t>
            </a:r>
          </a:p>
        </p:txBody>
      </p:sp>
      <p:sp>
        <p:nvSpPr>
          <p:cNvPr id="54" name="Rating badge 6">
            <a:extLst>
              <a:ext uri="{FF2B5EF4-FFF2-40B4-BE49-F238E27FC236}">
                <a16:creationId xmlns:a16="http://schemas.microsoft.com/office/drawing/2014/main" id="{553A658A-251B-0053-6662-0F4AB83969BA}"/>
              </a:ext>
            </a:extLst>
          </p:cNvPr>
          <p:cNvSpPr>
            <a:spLocks noGrp="1"/>
          </p:cNvSpPr>
          <p:nvPr/>
        </p:nvSpPr>
        <p:spPr>
          <a:xfrm>
            <a:off x="4826000" y="5257800"/>
            <a:ext cx="1206500" cy="381000"/>
          </a:xfrm>
          <a:prstGeom prst="rect">
            <a:avLst/>
          </a:prstGeom>
          <a:solidFill>
            <a:srgbClr val="D0A616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5" name="Rating txt 6">
            <a:extLst>
              <a:ext uri="{FF2B5EF4-FFF2-40B4-BE49-F238E27FC236}">
                <a16:creationId xmlns:a16="http://schemas.microsoft.com/office/drawing/2014/main" id="{51BE30CB-C9DB-BDFD-9230-0F9696B1D46A}"/>
              </a:ext>
            </a:extLst>
          </p:cNvPr>
          <p:cNvSpPr txBox="1">
            <a:spLocks noGrp="1"/>
          </p:cNvSpPr>
          <p:nvPr/>
        </p:nvSpPr>
        <p:spPr>
          <a:xfrm>
            <a:off x="4826000" y="5257800"/>
            <a:ext cx="1206500" cy="381000"/>
          </a:xfrm>
          <a:prstGeom prst="rect">
            <a:avLst/>
          </a:prstGeom>
          <a:noFill/>
          <a:ln>
            <a:noFill/>
          </a:ln>
        </p:spPr>
        <p:txBody>
          <a:bodyPr wrap="square" anchor="ctr"/>
          <a:lstStyle/>
          <a:p>
            <a:pPr algn="ctr"/>
            <a:r>
              <a:rPr lang="en-US" sz="1000" b="1" dirty="0">
                <a:solidFill>
                  <a:srgbClr val="FFFFFF"/>
                </a:solidFill>
              </a:rPr>
              <a:t>LOW-MOD</a:t>
            </a:r>
          </a:p>
        </p:txBody>
      </p:sp>
      <p:sp>
        <p:nvSpPr>
          <p:cNvPr id="56" name="Row mit 6">
            <a:extLst>
              <a:ext uri="{FF2B5EF4-FFF2-40B4-BE49-F238E27FC236}">
                <a16:creationId xmlns:a16="http://schemas.microsoft.com/office/drawing/2014/main" id="{3EF363A1-4B59-AEF9-6C3A-DE6E32EADF2B}"/>
              </a:ext>
            </a:extLst>
          </p:cNvPr>
          <p:cNvSpPr txBox="1">
            <a:spLocks noGrp="1"/>
          </p:cNvSpPr>
          <p:nvPr/>
        </p:nvSpPr>
        <p:spPr>
          <a:xfrm>
            <a:off x="6159500" y="5232400"/>
            <a:ext cx="5778500" cy="5334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r>
              <a:rPr lang="en-US" sz="1000" dirty="0">
                <a:solidFill>
                  <a:srgbClr val="000000"/>
                </a:solidFill>
              </a:rPr>
              <a:t>ESG capital buffer; prohibited list; EBA guidelines 2025-2027</a:t>
            </a:r>
          </a:p>
        </p:txBody>
      </p:sp>
      <p:sp>
        <p:nvSpPr>
          <p:cNvPr id="58" name="VerdBar">
            <a:extLst>
              <a:ext uri="{FF2B5EF4-FFF2-40B4-BE49-F238E27FC236}">
                <a16:creationId xmlns:a16="http://schemas.microsoft.com/office/drawing/2014/main" id="{196CBC08-E320-5990-E6DE-57EDABBADEC4}"/>
              </a:ext>
            </a:extLst>
          </p:cNvPr>
          <p:cNvSpPr>
            <a:spLocks noGrp="1"/>
          </p:cNvSpPr>
          <p:nvPr/>
        </p:nvSpPr>
        <p:spPr>
          <a:xfrm>
            <a:off x="190500" y="5867400"/>
            <a:ext cx="76200" cy="508000"/>
          </a:xfrm>
          <a:prstGeom prst="rect">
            <a:avLst/>
          </a:prstGeom>
          <a:solidFill>
            <a:srgbClr val="0A2A65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60" name="Ftr">
            <a:extLst>
              <a:ext uri="{FF2B5EF4-FFF2-40B4-BE49-F238E27FC236}">
                <a16:creationId xmlns:a16="http://schemas.microsoft.com/office/drawing/2014/main" id="{A91947D8-42CD-CFBD-3978-CCAAC1FA80D9}"/>
              </a:ext>
            </a:extLst>
          </p:cNvPr>
          <p:cNvSpPr>
            <a:spLocks noGrp="1"/>
          </p:cNvSpPr>
          <p:nvPr/>
        </p:nvSpPr>
        <p:spPr>
          <a:xfrm>
            <a:off x="0" y="6413500"/>
            <a:ext cx="11521440" cy="4445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61" name="FtrT">
            <a:extLst>
              <a:ext uri="{FF2B5EF4-FFF2-40B4-BE49-F238E27FC236}">
                <a16:creationId xmlns:a16="http://schemas.microsoft.com/office/drawing/2014/main" id="{D7CAF205-52F6-2B3A-B2E7-F7C0908F131B}"/>
              </a:ext>
            </a:extLst>
          </p:cNvPr>
          <p:cNvSpPr txBox="1">
            <a:spLocks noGrp="1"/>
          </p:cNvSpPr>
          <p:nvPr/>
        </p:nvSpPr>
        <p:spPr>
          <a:xfrm>
            <a:off x="228600" y="6477000"/>
            <a:ext cx="11430000" cy="317500"/>
          </a:xfrm>
          <a:prstGeom prst="rect">
            <a:avLst/>
          </a:prstGeom>
          <a:noFill/>
          <a:ln>
            <a:noFill/>
          </a:ln>
        </p:spPr>
        <p:txBody>
          <a:bodyPr wrap="square" anchor="ctr"/>
          <a:lstStyle/>
          <a:p>
            <a:r>
              <a:rPr lang="en-US" sz="1000" dirty="0"/>
              <a:t>Source: BAWAG Pillar 3 Qualitative Report 2025; FY2025 Results Presentation; Pillar 3 Quantitative Data 2025</a:t>
            </a:r>
          </a:p>
        </p:txBody>
      </p:sp>
      <p:sp>
        <p:nvSpPr>
          <p:cNvPr id="62" name="V1">
            <a:extLst>
              <a:ext uri="{FF2B5EF4-FFF2-40B4-BE49-F238E27FC236}">
                <a16:creationId xmlns:a16="http://schemas.microsoft.com/office/drawing/2014/main" id="{DCF7F998-4B66-34E8-7F36-439EE16F005B}"/>
              </a:ext>
            </a:extLst>
          </p:cNvPr>
          <p:cNvSpPr>
            <a:spLocks noGrp="1"/>
          </p:cNvSpPr>
          <p:nvPr/>
        </p:nvSpPr>
        <p:spPr>
          <a:xfrm>
            <a:off x="2895600" y="711200"/>
            <a:ext cx="12700" cy="566420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63" name="V2">
            <a:extLst>
              <a:ext uri="{FF2B5EF4-FFF2-40B4-BE49-F238E27FC236}">
                <a16:creationId xmlns:a16="http://schemas.microsoft.com/office/drawing/2014/main" id="{D017D439-5536-5EFD-F4F1-0ECD2B815A9B}"/>
              </a:ext>
            </a:extLst>
          </p:cNvPr>
          <p:cNvSpPr>
            <a:spLocks noGrp="1"/>
          </p:cNvSpPr>
          <p:nvPr/>
        </p:nvSpPr>
        <p:spPr>
          <a:xfrm>
            <a:off x="4749800" y="711200"/>
            <a:ext cx="12700" cy="566420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64" name="V3">
            <a:extLst>
              <a:ext uri="{FF2B5EF4-FFF2-40B4-BE49-F238E27FC236}">
                <a16:creationId xmlns:a16="http://schemas.microsoft.com/office/drawing/2014/main" id="{94EEE0AA-2CF1-2452-B618-6ACDD86A3237}"/>
              </a:ext>
            </a:extLst>
          </p:cNvPr>
          <p:cNvSpPr>
            <a:spLocks noGrp="1"/>
          </p:cNvSpPr>
          <p:nvPr/>
        </p:nvSpPr>
        <p:spPr>
          <a:xfrm>
            <a:off x="6070600" y="711200"/>
            <a:ext cx="12700" cy="566420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7" name="VerdBg">
            <a:extLst>
              <a:ext uri="{FF2B5EF4-FFF2-40B4-BE49-F238E27FC236}">
                <a16:creationId xmlns:a16="http://schemas.microsoft.com/office/drawing/2014/main" id="{ED962CD8-4799-2584-8DE7-3972154439F5}"/>
              </a:ext>
            </a:extLst>
          </p:cNvPr>
          <p:cNvSpPr>
            <a:spLocks noGrp="1"/>
          </p:cNvSpPr>
          <p:nvPr/>
        </p:nvSpPr>
        <p:spPr>
          <a:xfrm>
            <a:off x="190500" y="5867400"/>
            <a:ext cx="11811000" cy="508000"/>
          </a:xfrm>
          <a:prstGeom prst="rect">
            <a:avLst/>
          </a:prstGeom>
          <a:solidFill>
            <a:srgbClr val="0B2B65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9" name="VerdTxt">
            <a:extLst>
              <a:ext uri="{FF2B5EF4-FFF2-40B4-BE49-F238E27FC236}">
                <a16:creationId xmlns:a16="http://schemas.microsoft.com/office/drawing/2014/main" id="{CC9F78D2-80F9-BD07-58F9-6A38985054C3}"/>
              </a:ext>
            </a:extLst>
          </p:cNvPr>
          <p:cNvSpPr txBox="1">
            <a:spLocks noGrp="1"/>
          </p:cNvSpPr>
          <p:nvPr/>
        </p:nvSpPr>
        <p:spPr>
          <a:xfrm>
            <a:off x="381000" y="5930900"/>
            <a:ext cx="11557000" cy="381000"/>
          </a:xfrm>
          <a:prstGeom prst="rect">
            <a:avLst/>
          </a:prstGeom>
          <a:noFill/>
          <a:ln>
            <a:noFill/>
          </a:ln>
        </p:spPr>
        <p:txBody>
          <a:bodyPr wrap="square" anchor="ctr"/>
          <a:lstStyle/>
          <a:p>
            <a:r>
              <a:rPr lang="en-US" sz="1200" b="1" dirty="0">
                <a:solidFill>
                  <a:schemeClr val="bg1"/>
                </a:solidFill>
              </a:rPr>
              <a:t>Overall Verdict: </a:t>
            </a:r>
            <a:r>
              <a:rPr lang="en-US" sz="1200" dirty="0">
                <a:solidFill>
                  <a:srgbClr val="FFFFFF"/>
                </a:solidFill>
              </a:rPr>
              <a:t>Above-average energy price resilience. No material direct exposure. Mortgage book well-hedged. €14.5bn HQLA + 227bps CET1 buffer absorb unexpected losses.</a:t>
            </a:r>
          </a:p>
        </p:txBody>
      </p:sp>
    </p:spTree>
    <p:extLst>
      <p:ext uri="{BB962C8B-B14F-4D97-AF65-F5344CB8AC3E}">
        <p14:creationId xmlns:p14="http://schemas.microsoft.com/office/powerpoint/2010/main" val="39303924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983D0B8-8015-F9B3-8D2C-23085E4FDB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FC96C2F0-88A4-7178-F516-0FEC9A1AC210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D9D9D9">
              <a:alpha val="6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204C327-8378-37F1-0DE5-2DB2E3AFC234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189C278E-E5B4-0B6F-E4B4-D56EC3166E68}"/>
              </a:ext>
            </a:extLst>
          </p:cNvPr>
          <p:cNvSpPr/>
          <p:nvPr/>
        </p:nvSpPr>
        <p:spPr>
          <a:xfrm>
            <a:off x="0" y="3962400"/>
            <a:ext cx="10639425" cy="1257300"/>
          </a:xfrm>
          <a:prstGeom prst="rect">
            <a:avLst/>
          </a:prstGeom>
          <a:solidFill>
            <a:srgbClr val="0B2A65"/>
          </a:solidFill>
          <a:ln w="285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b="1" dirty="0"/>
              <a:t>Transparency &amp; Completeness Assessment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93B609D8-C395-3A24-2FB2-F7BB3F4E4162}"/>
              </a:ext>
            </a:extLst>
          </p:cNvPr>
          <p:cNvSpPr/>
          <p:nvPr/>
        </p:nvSpPr>
        <p:spPr>
          <a:xfrm>
            <a:off x="9721850" y="3333750"/>
            <a:ext cx="1552575" cy="1257300"/>
          </a:xfrm>
          <a:prstGeom prst="rect">
            <a:avLst/>
          </a:prstGeom>
          <a:ln w="28575">
            <a:solidFill>
              <a:schemeClr val="bg1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b="1" dirty="0"/>
              <a:t>7.</a:t>
            </a:r>
          </a:p>
        </p:txBody>
      </p:sp>
    </p:spTree>
    <p:extLst>
      <p:ext uri="{BB962C8B-B14F-4D97-AF65-F5344CB8AC3E}">
        <p14:creationId xmlns:p14="http://schemas.microsoft.com/office/powerpoint/2010/main" val="3278733821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78B0A9D-9AA1-AAF3-5EC2-2A37B58A9B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13ACA702-8C8F-B8E3-C36B-C2A23400DED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hu-HU" b="1" dirty="0" err="1"/>
              <a:t>Transparency &amp; Completeness Assessment</a:t>
            </a:r>
            <a:endParaRPr lang="hu-HU" b="1" dirty="0"/>
          </a:p>
        </p:txBody>
      </p:sp>
      <p:sp>
        <p:nvSpPr>
          <p:cNvPr id="3" name="TH">
            <a:extLst>
              <a:ext uri="{FF2B5EF4-FFF2-40B4-BE49-F238E27FC236}">
                <a16:creationId xmlns:a16="http://schemas.microsoft.com/office/drawing/2014/main" id="{29B357EC-727B-61A6-CB7D-24634DAF381F}"/>
              </a:ext>
            </a:extLst>
          </p:cNvPr>
          <p:cNvSpPr>
            <a:spLocks noGrp="1"/>
          </p:cNvSpPr>
          <p:nvPr/>
        </p:nvSpPr>
        <p:spPr>
          <a:xfrm>
            <a:off x="190500" y="711200"/>
            <a:ext cx="11811000" cy="355600"/>
          </a:xfrm>
          <a:prstGeom prst="rect">
            <a:avLst/>
          </a:prstGeom>
          <a:solidFill>
            <a:srgbClr val="44546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4" name="TH txt 0">
            <a:extLst>
              <a:ext uri="{FF2B5EF4-FFF2-40B4-BE49-F238E27FC236}">
                <a16:creationId xmlns:a16="http://schemas.microsoft.com/office/drawing/2014/main" id="{1250EE1C-17F6-030C-F94A-3DD7709B83CE}"/>
              </a:ext>
            </a:extLst>
          </p:cNvPr>
          <p:cNvSpPr txBox="1">
            <a:spLocks noGrp="1"/>
          </p:cNvSpPr>
          <p:nvPr/>
        </p:nvSpPr>
        <p:spPr>
          <a:xfrm>
            <a:off x="228600" y="736600"/>
            <a:ext cx="2667000" cy="304800"/>
          </a:xfrm>
          <a:prstGeom prst="rect">
            <a:avLst/>
          </a:prstGeom>
          <a:noFill/>
          <a:ln>
            <a:noFill/>
          </a:ln>
        </p:spPr>
        <p:txBody>
          <a:bodyPr wrap="square" anchor="ctr"/>
          <a:lstStyle/>
          <a:p>
            <a:r>
              <a:rPr lang="en-US" sz="1100" b="1" dirty="0">
                <a:solidFill>
                  <a:srgbClr val="FFFFFF"/>
                </a:solidFill>
              </a:rPr>
              <a:t>Disclosure Area</a:t>
            </a:r>
          </a:p>
        </p:txBody>
      </p:sp>
      <p:sp>
        <p:nvSpPr>
          <p:cNvPr id="5" name="TH txt 1">
            <a:extLst>
              <a:ext uri="{FF2B5EF4-FFF2-40B4-BE49-F238E27FC236}">
                <a16:creationId xmlns:a16="http://schemas.microsoft.com/office/drawing/2014/main" id="{596E90F8-3A78-21E2-E82A-919227330378}"/>
              </a:ext>
            </a:extLst>
          </p:cNvPr>
          <p:cNvSpPr txBox="1">
            <a:spLocks noGrp="1"/>
          </p:cNvSpPr>
          <p:nvPr/>
        </p:nvSpPr>
        <p:spPr>
          <a:xfrm>
            <a:off x="2921000" y="736600"/>
            <a:ext cx="1879600" cy="304800"/>
          </a:xfrm>
          <a:prstGeom prst="rect">
            <a:avLst/>
          </a:prstGeom>
          <a:noFill/>
          <a:ln>
            <a:noFill/>
          </a:ln>
        </p:spPr>
        <p:txBody>
          <a:bodyPr wrap="square" anchor="ctr"/>
          <a:lstStyle/>
          <a:p>
            <a:r>
              <a:rPr lang="en-US" sz="1100" b="1" dirty="0">
                <a:solidFill>
                  <a:srgbClr val="FFFFFF"/>
                </a:solidFill>
              </a:rPr>
              <a:t>EBA Template / Source</a:t>
            </a:r>
          </a:p>
        </p:txBody>
      </p:sp>
      <p:sp>
        <p:nvSpPr>
          <p:cNvPr id="6" name="TH txt 2">
            <a:extLst>
              <a:ext uri="{FF2B5EF4-FFF2-40B4-BE49-F238E27FC236}">
                <a16:creationId xmlns:a16="http://schemas.microsoft.com/office/drawing/2014/main" id="{FA7AB0D5-2E7F-910D-949C-BDB7DD89BA64}"/>
              </a:ext>
            </a:extLst>
          </p:cNvPr>
          <p:cNvSpPr txBox="1">
            <a:spLocks noGrp="1"/>
          </p:cNvSpPr>
          <p:nvPr/>
        </p:nvSpPr>
        <p:spPr>
          <a:xfrm>
            <a:off x="4826000" y="736600"/>
            <a:ext cx="1333500" cy="304800"/>
          </a:xfrm>
          <a:prstGeom prst="rect">
            <a:avLst/>
          </a:prstGeom>
          <a:noFill/>
          <a:ln>
            <a:noFill/>
          </a:ln>
        </p:spPr>
        <p:txBody>
          <a:bodyPr wrap="square" anchor="ctr"/>
          <a:lstStyle/>
          <a:p>
            <a:r>
              <a:rPr lang="en-US" sz="1100" b="1" dirty="0">
                <a:solidFill>
                  <a:srgbClr val="FFFFFF"/>
                </a:solidFill>
              </a:rPr>
              <a:t>Rating</a:t>
            </a:r>
          </a:p>
        </p:txBody>
      </p:sp>
      <p:sp>
        <p:nvSpPr>
          <p:cNvPr id="7" name="TH txt 3">
            <a:extLst>
              <a:ext uri="{FF2B5EF4-FFF2-40B4-BE49-F238E27FC236}">
                <a16:creationId xmlns:a16="http://schemas.microsoft.com/office/drawing/2014/main" id="{76071E79-35D9-F1F3-51BB-FACAD8011777}"/>
              </a:ext>
            </a:extLst>
          </p:cNvPr>
          <p:cNvSpPr txBox="1">
            <a:spLocks noGrp="1"/>
          </p:cNvSpPr>
          <p:nvPr/>
        </p:nvSpPr>
        <p:spPr>
          <a:xfrm>
            <a:off x="6159500" y="736600"/>
            <a:ext cx="5778500" cy="304800"/>
          </a:xfrm>
          <a:prstGeom prst="rect">
            <a:avLst/>
          </a:prstGeom>
          <a:noFill/>
          <a:ln>
            <a:noFill/>
          </a:ln>
        </p:spPr>
        <p:txBody>
          <a:bodyPr wrap="square" anchor="ctr"/>
          <a:lstStyle/>
          <a:p>
            <a:r>
              <a:rPr lang="en-US" sz="1100" b="1" dirty="0">
                <a:solidFill>
                  <a:srgbClr val="FFFFFF"/>
                </a:solidFill>
              </a:rPr>
              <a:t>Key Finding</a:t>
            </a:r>
          </a:p>
        </p:txBody>
      </p:sp>
      <p:sp>
        <p:nvSpPr>
          <p:cNvPr id="8" name="Row bg 0">
            <a:extLst>
              <a:ext uri="{FF2B5EF4-FFF2-40B4-BE49-F238E27FC236}">
                <a16:creationId xmlns:a16="http://schemas.microsoft.com/office/drawing/2014/main" id="{B7A137BD-2F5B-CAAA-EE6A-CF771E33D355}"/>
              </a:ext>
            </a:extLst>
          </p:cNvPr>
          <p:cNvSpPr>
            <a:spLocks noGrp="1"/>
          </p:cNvSpPr>
          <p:nvPr/>
        </p:nvSpPr>
        <p:spPr>
          <a:xfrm>
            <a:off x="190500" y="1117600"/>
            <a:ext cx="11811000" cy="6731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9" name="Row bar 0">
            <a:extLst>
              <a:ext uri="{FF2B5EF4-FFF2-40B4-BE49-F238E27FC236}">
                <a16:creationId xmlns:a16="http://schemas.microsoft.com/office/drawing/2014/main" id="{B2F460C3-A501-C452-F83D-9EF3B6264AF9}"/>
              </a:ext>
            </a:extLst>
          </p:cNvPr>
          <p:cNvSpPr>
            <a:spLocks noGrp="1"/>
          </p:cNvSpPr>
          <p:nvPr/>
        </p:nvSpPr>
        <p:spPr>
          <a:xfrm>
            <a:off x="190500" y="1117600"/>
            <a:ext cx="50800" cy="673100"/>
          </a:xfrm>
          <a:prstGeom prst="rect">
            <a:avLst/>
          </a:prstGeom>
          <a:solidFill>
            <a:srgbClr val="2D7A2D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0" name="Row ch 0">
            <a:extLst>
              <a:ext uri="{FF2B5EF4-FFF2-40B4-BE49-F238E27FC236}">
                <a16:creationId xmlns:a16="http://schemas.microsoft.com/office/drawing/2014/main" id="{A920C8F6-AB75-234D-0AB2-06C17D1671FD}"/>
              </a:ext>
            </a:extLst>
          </p:cNvPr>
          <p:cNvSpPr txBox="1">
            <a:spLocks noGrp="1"/>
          </p:cNvSpPr>
          <p:nvPr/>
        </p:nvSpPr>
        <p:spPr>
          <a:xfrm>
            <a:off x="228600" y="1193800"/>
            <a:ext cx="2667000" cy="5334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r>
              <a:rPr lang="en-US" sz="1050" b="1" dirty="0">
                <a:solidFill>
                  <a:srgbClr val="0B2B65"/>
                </a:solidFill>
              </a:rPr>
              <a:t>Capital Adequacy (OV1, KM1, TREA)</a:t>
            </a:r>
          </a:p>
        </p:txBody>
      </p:sp>
      <p:sp>
        <p:nvSpPr>
          <p:cNvPr id="11" name="Row exp 0">
            <a:extLst>
              <a:ext uri="{FF2B5EF4-FFF2-40B4-BE49-F238E27FC236}">
                <a16:creationId xmlns:a16="http://schemas.microsoft.com/office/drawing/2014/main" id="{4346C18E-6224-EBDE-A0FD-EA0D6D2DFF0B}"/>
              </a:ext>
            </a:extLst>
          </p:cNvPr>
          <p:cNvSpPr txBox="1">
            <a:spLocks noGrp="1"/>
          </p:cNvSpPr>
          <p:nvPr/>
        </p:nvSpPr>
        <p:spPr>
          <a:xfrm>
            <a:off x="2921000" y="1193800"/>
            <a:ext cx="1879600" cy="5334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r>
              <a:rPr lang="en-US" sz="1000" dirty="0">
                <a:solidFill>
                  <a:srgbClr val="44546A"/>
                </a:solidFill>
              </a:rPr>
              <a:t>Pillar 3 Quant. Excel</a:t>
            </a:r>
          </a:p>
        </p:txBody>
      </p:sp>
      <p:sp>
        <p:nvSpPr>
          <p:cNvPr id="12" name="Rating badge 0">
            <a:extLst>
              <a:ext uri="{FF2B5EF4-FFF2-40B4-BE49-F238E27FC236}">
                <a16:creationId xmlns:a16="http://schemas.microsoft.com/office/drawing/2014/main" id="{60F3EF38-343A-BBDD-912B-A48B54382995}"/>
              </a:ext>
            </a:extLst>
          </p:cNvPr>
          <p:cNvSpPr>
            <a:spLocks noGrp="1"/>
          </p:cNvSpPr>
          <p:nvPr/>
        </p:nvSpPr>
        <p:spPr>
          <a:xfrm>
            <a:off x="4826000" y="1219200"/>
            <a:ext cx="1206500" cy="381000"/>
          </a:xfrm>
          <a:prstGeom prst="rect">
            <a:avLst/>
          </a:prstGeom>
          <a:solidFill>
            <a:srgbClr val="2D7A2D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3" name="Rating txt 0">
            <a:extLst>
              <a:ext uri="{FF2B5EF4-FFF2-40B4-BE49-F238E27FC236}">
                <a16:creationId xmlns:a16="http://schemas.microsoft.com/office/drawing/2014/main" id="{13C60FE1-3D27-ADBD-005D-6E4C7718FB89}"/>
              </a:ext>
            </a:extLst>
          </p:cNvPr>
          <p:cNvSpPr txBox="1">
            <a:spLocks noGrp="1"/>
          </p:cNvSpPr>
          <p:nvPr/>
        </p:nvSpPr>
        <p:spPr>
          <a:xfrm>
            <a:off x="4826000" y="1219200"/>
            <a:ext cx="1206500" cy="381000"/>
          </a:xfrm>
          <a:prstGeom prst="rect">
            <a:avLst/>
          </a:prstGeom>
          <a:noFill/>
          <a:ln>
            <a:noFill/>
          </a:ln>
        </p:spPr>
        <p:txBody>
          <a:bodyPr wrap="square" anchor="ctr"/>
          <a:lstStyle/>
          <a:p>
            <a:pPr algn="ctr"/>
            <a:r>
              <a:rPr lang="en-US" sz="1000" b="1" dirty="0">
                <a:solidFill>
                  <a:srgbClr val="FFFFFF"/>
                </a:solidFill>
              </a:rPr>
              <a:t>COMPLETE</a:t>
            </a:r>
          </a:p>
        </p:txBody>
      </p:sp>
      <p:sp>
        <p:nvSpPr>
          <p:cNvPr id="14" name="Row mit 0">
            <a:extLst>
              <a:ext uri="{FF2B5EF4-FFF2-40B4-BE49-F238E27FC236}">
                <a16:creationId xmlns:a16="http://schemas.microsoft.com/office/drawing/2014/main" id="{34772D25-81C2-82AE-D135-E0023B8AF62F}"/>
              </a:ext>
            </a:extLst>
          </p:cNvPr>
          <p:cNvSpPr txBox="1">
            <a:spLocks noGrp="1"/>
          </p:cNvSpPr>
          <p:nvPr/>
        </p:nvSpPr>
        <p:spPr>
          <a:xfrm>
            <a:off x="6159500" y="1193800"/>
            <a:ext cx="5778500" cy="5334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r>
              <a:rPr lang="en-US" sz="1000" dirty="0">
                <a:solidFill>
                  <a:srgbClr val="000000"/>
                </a:solidFill>
              </a:rPr>
              <a:t>All EBA CRR2 templates. Dual CET1 (12.9% reg. / 14.2% mgmt.) explained</a:t>
            </a:r>
          </a:p>
        </p:txBody>
      </p:sp>
      <p:sp>
        <p:nvSpPr>
          <p:cNvPr id="15" name="Row bg 1">
            <a:extLst>
              <a:ext uri="{FF2B5EF4-FFF2-40B4-BE49-F238E27FC236}">
                <a16:creationId xmlns:a16="http://schemas.microsoft.com/office/drawing/2014/main" id="{32CFCFFE-DEF2-0EA6-632D-B72046E8AB63}"/>
              </a:ext>
            </a:extLst>
          </p:cNvPr>
          <p:cNvSpPr>
            <a:spLocks noGrp="1"/>
          </p:cNvSpPr>
          <p:nvPr/>
        </p:nvSpPr>
        <p:spPr>
          <a:xfrm>
            <a:off x="190500" y="1790700"/>
            <a:ext cx="11811000" cy="6731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6" name="Row bar 1">
            <a:extLst>
              <a:ext uri="{FF2B5EF4-FFF2-40B4-BE49-F238E27FC236}">
                <a16:creationId xmlns:a16="http://schemas.microsoft.com/office/drawing/2014/main" id="{5619CB23-4798-87B1-A1DD-ABC143B6A7B1}"/>
              </a:ext>
            </a:extLst>
          </p:cNvPr>
          <p:cNvSpPr>
            <a:spLocks noGrp="1"/>
          </p:cNvSpPr>
          <p:nvPr/>
        </p:nvSpPr>
        <p:spPr>
          <a:xfrm>
            <a:off x="190500" y="1790700"/>
            <a:ext cx="50800" cy="673100"/>
          </a:xfrm>
          <a:prstGeom prst="rect">
            <a:avLst/>
          </a:prstGeom>
          <a:solidFill>
            <a:srgbClr val="2C7A2C"/>
          </a:solidFill>
          <a:ln>
            <a:noFill/>
          </a:ln>
        </p:spPr>
        <p:txBody>
          <a:bodyPr/>
          <a:lstStyle/>
          <a:p>
            <a:endParaRPr dirty="0"/>
          </a:p>
        </p:txBody>
      </p:sp>
      <p:sp>
        <p:nvSpPr>
          <p:cNvPr id="17" name="Row ch 1">
            <a:extLst>
              <a:ext uri="{FF2B5EF4-FFF2-40B4-BE49-F238E27FC236}">
                <a16:creationId xmlns:a16="http://schemas.microsoft.com/office/drawing/2014/main" id="{31B99FDE-B9AD-46F2-FA45-299E73EFA92D}"/>
              </a:ext>
            </a:extLst>
          </p:cNvPr>
          <p:cNvSpPr txBox="1">
            <a:spLocks noGrp="1"/>
          </p:cNvSpPr>
          <p:nvPr/>
        </p:nvSpPr>
        <p:spPr>
          <a:xfrm>
            <a:off x="228600" y="1866900"/>
            <a:ext cx="2667000" cy="5334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r>
              <a:rPr lang="en-US" sz="1050" b="1" dirty="0">
                <a:solidFill>
                  <a:srgbClr val="0B2B65"/>
                </a:solidFill>
              </a:rPr>
              <a:t>Credit Quality (CR1, CR6, CR4)</a:t>
            </a:r>
          </a:p>
        </p:txBody>
      </p:sp>
      <p:sp>
        <p:nvSpPr>
          <p:cNvPr id="18" name="Row exp 1">
            <a:extLst>
              <a:ext uri="{FF2B5EF4-FFF2-40B4-BE49-F238E27FC236}">
                <a16:creationId xmlns:a16="http://schemas.microsoft.com/office/drawing/2014/main" id="{8C237B62-73EC-94F6-0CFF-EE4BB019FFFB}"/>
              </a:ext>
            </a:extLst>
          </p:cNvPr>
          <p:cNvSpPr txBox="1">
            <a:spLocks noGrp="1"/>
          </p:cNvSpPr>
          <p:nvPr/>
        </p:nvSpPr>
        <p:spPr>
          <a:xfrm>
            <a:off x="2921000" y="1866900"/>
            <a:ext cx="1879600" cy="5334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r>
              <a:rPr lang="en-US" sz="1000" dirty="0">
                <a:solidFill>
                  <a:srgbClr val="44546A"/>
                </a:solidFill>
              </a:rPr>
              <a:t>Pillar 3 Quant. Excel</a:t>
            </a:r>
          </a:p>
        </p:txBody>
      </p:sp>
      <p:sp>
        <p:nvSpPr>
          <p:cNvPr id="19" name="Rating badge 1">
            <a:extLst>
              <a:ext uri="{FF2B5EF4-FFF2-40B4-BE49-F238E27FC236}">
                <a16:creationId xmlns:a16="http://schemas.microsoft.com/office/drawing/2014/main" id="{18C09F73-58AE-80BF-E7C5-1A4A1B642134}"/>
              </a:ext>
            </a:extLst>
          </p:cNvPr>
          <p:cNvSpPr>
            <a:spLocks noGrp="1"/>
          </p:cNvSpPr>
          <p:nvPr/>
        </p:nvSpPr>
        <p:spPr>
          <a:xfrm>
            <a:off x="4826000" y="1892300"/>
            <a:ext cx="1206500" cy="381000"/>
          </a:xfrm>
          <a:prstGeom prst="rect">
            <a:avLst/>
          </a:prstGeom>
          <a:solidFill>
            <a:srgbClr val="2D7A2D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0" name="Rating txt 1">
            <a:extLst>
              <a:ext uri="{FF2B5EF4-FFF2-40B4-BE49-F238E27FC236}">
                <a16:creationId xmlns:a16="http://schemas.microsoft.com/office/drawing/2014/main" id="{DBBE8C4D-1F57-05A2-C736-9561C11B5D37}"/>
              </a:ext>
            </a:extLst>
          </p:cNvPr>
          <p:cNvSpPr txBox="1">
            <a:spLocks noGrp="1"/>
          </p:cNvSpPr>
          <p:nvPr/>
        </p:nvSpPr>
        <p:spPr>
          <a:xfrm>
            <a:off x="4826000" y="1892300"/>
            <a:ext cx="1206500" cy="381000"/>
          </a:xfrm>
          <a:prstGeom prst="rect">
            <a:avLst/>
          </a:prstGeom>
          <a:noFill/>
          <a:ln>
            <a:noFill/>
          </a:ln>
        </p:spPr>
        <p:txBody>
          <a:bodyPr wrap="square" anchor="ctr"/>
          <a:lstStyle/>
          <a:p>
            <a:pPr algn="ctr"/>
            <a:r>
              <a:rPr lang="en-US" sz="1000" b="1" dirty="0">
                <a:solidFill>
                  <a:srgbClr val="FFFFFF"/>
                </a:solidFill>
              </a:rPr>
              <a:t>COMPLETE</a:t>
            </a:r>
          </a:p>
        </p:txBody>
      </p:sp>
      <p:sp>
        <p:nvSpPr>
          <p:cNvPr id="21" name="Row mit 1">
            <a:extLst>
              <a:ext uri="{FF2B5EF4-FFF2-40B4-BE49-F238E27FC236}">
                <a16:creationId xmlns:a16="http://schemas.microsoft.com/office/drawing/2014/main" id="{F5475F83-1AE4-302B-6466-8A04A61C0CCD}"/>
              </a:ext>
            </a:extLst>
          </p:cNvPr>
          <p:cNvSpPr txBox="1">
            <a:spLocks noGrp="1"/>
          </p:cNvSpPr>
          <p:nvPr/>
        </p:nvSpPr>
        <p:spPr>
          <a:xfrm>
            <a:off x="6159500" y="1866900"/>
            <a:ext cx="5778500" cy="5334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r>
              <a:rPr lang="en-US" sz="1000" dirty="0">
                <a:solidFill>
                  <a:srgbClr val="000000"/>
                </a:solidFill>
              </a:rPr>
              <a:t>F-IRB PD ladder, NPL 0.8%, stage distribution, LGD distributions</a:t>
            </a:r>
          </a:p>
        </p:txBody>
      </p:sp>
      <p:sp>
        <p:nvSpPr>
          <p:cNvPr id="22" name="Row bg 2">
            <a:extLst>
              <a:ext uri="{FF2B5EF4-FFF2-40B4-BE49-F238E27FC236}">
                <a16:creationId xmlns:a16="http://schemas.microsoft.com/office/drawing/2014/main" id="{424E95EB-5069-BA23-A1E3-3036ACA8024C}"/>
              </a:ext>
            </a:extLst>
          </p:cNvPr>
          <p:cNvSpPr>
            <a:spLocks noGrp="1"/>
          </p:cNvSpPr>
          <p:nvPr/>
        </p:nvSpPr>
        <p:spPr>
          <a:xfrm>
            <a:off x="190500" y="2463800"/>
            <a:ext cx="11811000" cy="6731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3" name="Row bar 2">
            <a:extLst>
              <a:ext uri="{FF2B5EF4-FFF2-40B4-BE49-F238E27FC236}">
                <a16:creationId xmlns:a16="http://schemas.microsoft.com/office/drawing/2014/main" id="{7305B9BE-BE9A-DC69-4DBA-9658BA49892F}"/>
              </a:ext>
            </a:extLst>
          </p:cNvPr>
          <p:cNvSpPr>
            <a:spLocks noGrp="1"/>
          </p:cNvSpPr>
          <p:nvPr/>
        </p:nvSpPr>
        <p:spPr>
          <a:xfrm>
            <a:off x="190500" y="2463800"/>
            <a:ext cx="50800" cy="673100"/>
          </a:xfrm>
          <a:prstGeom prst="rect">
            <a:avLst/>
          </a:prstGeom>
          <a:solidFill>
            <a:srgbClr val="2C7A2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4" name="Row ch 2">
            <a:extLst>
              <a:ext uri="{FF2B5EF4-FFF2-40B4-BE49-F238E27FC236}">
                <a16:creationId xmlns:a16="http://schemas.microsoft.com/office/drawing/2014/main" id="{840993BB-DFD2-9DE8-9610-BF43A5945097}"/>
              </a:ext>
            </a:extLst>
          </p:cNvPr>
          <p:cNvSpPr txBox="1">
            <a:spLocks noGrp="1"/>
          </p:cNvSpPr>
          <p:nvPr/>
        </p:nvSpPr>
        <p:spPr>
          <a:xfrm>
            <a:off x="228600" y="2540000"/>
            <a:ext cx="2667000" cy="3175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r>
              <a:rPr lang="en-US" sz="1050" b="1" dirty="0">
                <a:solidFill>
                  <a:srgbClr val="0B2B65"/>
                </a:solidFill>
              </a:rPr>
              <a:t>Interest Rate Risk (IRRBB1)</a:t>
            </a:r>
          </a:p>
        </p:txBody>
      </p:sp>
      <p:sp>
        <p:nvSpPr>
          <p:cNvPr id="25" name="Row exp 2">
            <a:extLst>
              <a:ext uri="{FF2B5EF4-FFF2-40B4-BE49-F238E27FC236}">
                <a16:creationId xmlns:a16="http://schemas.microsoft.com/office/drawing/2014/main" id="{D0192200-D257-AB8D-B2BE-72313AECFDBE}"/>
              </a:ext>
            </a:extLst>
          </p:cNvPr>
          <p:cNvSpPr txBox="1">
            <a:spLocks noGrp="1"/>
          </p:cNvSpPr>
          <p:nvPr/>
        </p:nvSpPr>
        <p:spPr>
          <a:xfrm>
            <a:off x="2921000" y="2540000"/>
            <a:ext cx="1879600" cy="5334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r>
              <a:rPr lang="en-US" sz="1000" dirty="0">
                <a:solidFill>
                  <a:srgbClr val="44546A"/>
                </a:solidFill>
              </a:rPr>
              <a:t>Pillar 3 Quant. Excel</a:t>
            </a:r>
          </a:p>
        </p:txBody>
      </p:sp>
      <p:sp>
        <p:nvSpPr>
          <p:cNvPr id="26" name="Rating badge 2">
            <a:extLst>
              <a:ext uri="{FF2B5EF4-FFF2-40B4-BE49-F238E27FC236}">
                <a16:creationId xmlns:a16="http://schemas.microsoft.com/office/drawing/2014/main" id="{A18CF7B1-286D-2046-4570-469109A8DB92}"/>
              </a:ext>
            </a:extLst>
          </p:cNvPr>
          <p:cNvSpPr>
            <a:spLocks noGrp="1"/>
          </p:cNvSpPr>
          <p:nvPr/>
        </p:nvSpPr>
        <p:spPr>
          <a:xfrm>
            <a:off x="4826000" y="2565400"/>
            <a:ext cx="1206500" cy="381000"/>
          </a:xfrm>
          <a:prstGeom prst="rect">
            <a:avLst/>
          </a:prstGeom>
          <a:solidFill>
            <a:srgbClr val="2D7A2D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7" name="Rating txt 2">
            <a:extLst>
              <a:ext uri="{FF2B5EF4-FFF2-40B4-BE49-F238E27FC236}">
                <a16:creationId xmlns:a16="http://schemas.microsoft.com/office/drawing/2014/main" id="{7AE9F905-B37A-0533-E94F-099EDAC7A568}"/>
              </a:ext>
            </a:extLst>
          </p:cNvPr>
          <p:cNvSpPr txBox="1">
            <a:spLocks noGrp="1"/>
          </p:cNvSpPr>
          <p:nvPr/>
        </p:nvSpPr>
        <p:spPr>
          <a:xfrm>
            <a:off x="4826000" y="2565400"/>
            <a:ext cx="1206500" cy="381000"/>
          </a:xfrm>
          <a:prstGeom prst="rect">
            <a:avLst/>
          </a:prstGeom>
          <a:noFill/>
          <a:ln>
            <a:noFill/>
          </a:ln>
        </p:spPr>
        <p:txBody>
          <a:bodyPr wrap="square" anchor="ctr"/>
          <a:lstStyle/>
          <a:p>
            <a:pPr algn="ctr"/>
            <a:r>
              <a:rPr lang="en-US" sz="1000" b="1" dirty="0">
                <a:solidFill>
                  <a:srgbClr val="FFFFFF"/>
                </a:solidFill>
              </a:rPr>
              <a:t>COMPLETE</a:t>
            </a:r>
          </a:p>
        </p:txBody>
      </p:sp>
      <p:sp>
        <p:nvSpPr>
          <p:cNvPr id="28" name="Row mit 2">
            <a:extLst>
              <a:ext uri="{FF2B5EF4-FFF2-40B4-BE49-F238E27FC236}">
                <a16:creationId xmlns:a16="http://schemas.microsoft.com/office/drawing/2014/main" id="{D7B72312-CBBE-19DB-A9AA-6C94C63F6EF0}"/>
              </a:ext>
            </a:extLst>
          </p:cNvPr>
          <p:cNvSpPr txBox="1">
            <a:spLocks noGrp="1"/>
          </p:cNvSpPr>
          <p:nvPr/>
        </p:nvSpPr>
        <p:spPr>
          <a:xfrm>
            <a:off x="6159500" y="2540000"/>
            <a:ext cx="5778500" cy="5334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r>
              <a:rPr lang="en-US" sz="1000" dirty="0">
                <a:solidFill>
                  <a:srgbClr val="000000"/>
                </a:solidFill>
              </a:rPr>
              <a:t>EVE/NII for 6 parallel shocks; SOT compliance (12.4% CET1 vs 15% limit)</a:t>
            </a:r>
          </a:p>
        </p:txBody>
      </p:sp>
      <p:sp>
        <p:nvSpPr>
          <p:cNvPr id="29" name="Row bg 3">
            <a:extLst>
              <a:ext uri="{FF2B5EF4-FFF2-40B4-BE49-F238E27FC236}">
                <a16:creationId xmlns:a16="http://schemas.microsoft.com/office/drawing/2014/main" id="{BCC9C71D-E688-F64E-D670-59EF9F3E731F}"/>
              </a:ext>
            </a:extLst>
          </p:cNvPr>
          <p:cNvSpPr>
            <a:spLocks noGrp="1"/>
          </p:cNvSpPr>
          <p:nvPr/>
        </p:nvSpPr>
        <p:spPr>
          <a:xfrm>
            <a:off x="190500" y="3136900"/>
            <a:ext cx="11811000" cy="6731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30" name="Row bar 3">
            <a:extLst>
              <a:ext uri="{FF2B5EF4-FFF2-40B4-BE49-F238E27FC236}">
                <a16:creationId xmlns:a16="http://schemas.microsoft.com/office/drawing/2014/main" id="{A235BE23-7536-B325-677D-88B196C334FD}"/>
              </a:ext>
            </a:extLst>
          </p:cNvPr>
          <p:cNvSpPr>
            <a:spLocks noGrp="1"/>
          </p:cNvSpPr>
          <p:nvPr/>
        </p:nvSpPr>
        <p:spPr>
          <a:xfrm>
            <a:off x="190500" y="3136900"/>
            <a:ext cx="50800" cy="673100"/>
          </a:xfrm>
          <a:prstGeom prst="rect">
            <a:avLst/>
          </a:prstGeom>
          <a:solidFill>
            <a:srgbClr val="2C7A2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31" name="Row ch 3">
            <a:extLst>
              <a:ext uri="{FF2B5EF4-FFF2-40B4-BE49-F238E27FC236}">
                <a16:creationId xmlns:a16="http://schemas.microsoft.com/office/drawing/2014/main" id="{A2453CBF-C04A-6097-77F2-ADED73DB79D7}"/>
              </a:ext>
            </a:extLst>
          </p:cNvPr>
          <p:cNvSpPr txBox="1">
            <a:spLocks noGrp="1"/>
          </p:cNvSpPr>
          <p:nvPr/>
        </p:nvSpPr>
        <p:spPr>
          <a:xfrm>
            <a:off x="228600" y="3213100"/>
            <a:ext cx="2667000" cy="1143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r>
              <a:rPr lang="en-US" sz="1050" b="1" dirty="0">
                <a:solidFill>
                  <a:srgbClr val="0B2B65"/>
                </a:solidFill>
              </a:rPr>
              <a:t>Liquidity Risk (LIQ1, KM1)</a:t>
            </a:r>
          </a:p>
        </p:txBody>
      </p:sp>
      <p:sp>
        <p:nvSpPr>
          <p:cNvPr id="32" name="Row exp 3">
            <a:extLst>
              <a:ext uri="{FF2B5EF4-FFF2-40B4-BE49-F238E27FC236}">
                <a16:creationId xmlns:a16="http://schemas.microsoft.com/office/drawing/2014/main" id="{234DFEDC-D165-37BC-ECD6-AF314CADB3DC}"/>
              </a:ext>
            </a:extLst>
          </p:cNvPr>
          <p:cNvSpPr txBox="1">
            <a:spLocks noGrp="1"/>
          </p:cNvSpPr>
          <p:nvPr/>
        </p:nvSpPr>
        <p:spPr>
          <a:xfrm>
            <a:off x="2921000" y="3213100"/>
            <a:ext cx="1879600" cy="5334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r>
              <a:rPr lang="en-US" sz="1000" dirty="0">
                <a:solidFill>
                  <a:srgbClr val="44546A"/>
                </a:solidFill>
              </a:rPr>
              <a:t>Pillar 3 Quant. Excel</a:t>
            </a:r>
          </a:p>
        </p:txBody>
      </p:sp>
      <p:sp>
        <p:nvSpPr>
          <p:cNvPr id="33" name="Rating badge 3">
            <a:extLst>
              <a:ext uri="{FF2B5EF4-FFF2-40B4-BE49-F238E27FC236}">
                <a16:creationId xmlns:a16="http://schemas.microsoft.com/office/drawing/2014/main" id="{54F659F1-3946-310F-E6C6-5705FE0EAA30}"/>
              </a:ext>
            </a:extLst>
          </p:cNvPr>
          <p:cNvSpPr>
            <a:spLocks noGrp="1"/>
          </p:cNvSpPr>
          <p:nvPr/>
        </p:nvSpPr>
        <p:spPr>
          <a:xfrm>
            <a:off x="4826000" y="3238500"/>
            <a:ext cx="1206500" cy="381000"/>
          </a:xfrm>
          <a:prstGeom prst="rect">
            <a:avLst/>
          </a:prstGeom>
          <a:solidFill>
            <a:srgbClr val="2D7A2D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34" name="Rating txt 3">
            <a:extLst>
              <a:ext uri="{FF2B5EF4-FFF2-40B4-BE49-F238E27FC236}">
                <a16:creationId xmlns:a16="http://schemas.microsoft.com/office/drawing/2014/main" id="{30048F82-0A01-7ED5-2D3D-3969CA3330DD}"/>
              </a:ext>
            </a:extLst>
          </p:cNvPr>
          <p:cNvSpPr txBox="1">
            <a:spLocks noGrp="1"/>
          </p:cNvSpPr>
          <p:nvPr/>
        </p:nvSpPr>
        <p:spPr>
          <a:xfrm>
            <a:off x="4826000" y="3238500"/>
            <a:ext cx="1206500" cy="381000"/>
          </a:xfrm>
          <a:prstGeom prst="rect">
            <a:avLst/>
          </a:prstGeom>
          <a:noFill/>
          <a:ln>
            <a:noFill/>
          </a:ln>
        </p:spPr>
        <p:txBody>
          <a:bodyPr wrap="square" anchor="ctr"/>
          <a:lstStyle/>
          <a:p>
            <a:pPr algn="ctr"/>
            <a:r>
              <a:rPr lang="en-US" sz="1000" b="1" dirty="0">
                <a:solidFill>
                  <a:srgbClr val="FFFFFF"/>
                </a:solidFill>
              </a:rPr>
              <a:t>COMPLETE</a:t>
            </a:r>
          </a:p>
        </p:txBody>
      </p:sp>
      <p:sp>
        <p:nvSpPr>
          <p:cNvPr id="35" name="Row mit 3">
            <a:extLst>
              <a:ext uri="{FF2B5EF4-FFF2-40B4-BE49-F238E27FC236}">
                <a16:creationId xmlns:a16="http://schemas.microsoft.com/office/drawing/2014/main" id="{171E0576-8A64-E1B7-D401-64B2A301ED2C}"/>
              </a:ext>
            </a:extLst>
          </p:cNvPr>
          <p:cNvSpPr txBox="1">
            <a:spLocks noGrp="1"/>
          </p:cNvSpPr>
          <p:nvPr/>
        </p:nvSpPr>
        <p:spPr>
          <a:xfrm>
            <a:off x="6159500" y="3213100"/>
            <a:ext cx="5778500" cy="5334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r>
              <a:rPr lang="en-US" sz="1000" dirty="0">
                <a:solidFill>
                  <a:srgbClr val="000000"/>
                </a:solidFill>
              </a:rPr>
              <a:t>HQLA breakdown EUR14.5bn; LCR 218%/204% dual basis; NSFR 142%</a:t>
            </a:r>
          </a:p>
        </p:txBody>
      </p:sp>
      <p:sp>
        <p:nvSpPr>
          <p:cNvPr id="36" name="Row bg 4">
            <a:extLst>
              <a:ext uri="{FF2B5EF4-FFF2-40B4-BE49-F238E27FC236}">
                <a16:creationId xmlns:a16="http://schemas.microsoft.com/office/drawing/2014/main" id="{F9DBF3EA-E55C-B1C0-18B6-BF33690A3D77}"/>
              </a:ext>
            </a:extLst>
          </p:cNvPr>
          <p:cNvSpPr>
            <a:spLocks noGrp="1"/>
          </p:cNvSpPr>
          <p:nvPr/>
        </p:nvSpPr>
        <p:spPr>
          <a:xfrm>
            <a:off x="190500" y="3810000"/>
            <a:ext cx="11811000" cy="6731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37" name="Row bar 4">
            <a:extLst>
              <a:ext uri="{FF2B5EF4-FFF2-40B4-BE49-F238E27FC236}">
                <a16:creationId xmlns:a16="http://schemas.microsoft.com/office/drawing/2014/main" id="{FCF9BB1A-65F6-812E-FBA4-F0B37549EBA7}"/>
              </a:ext>
            </a:extLst>
          </p:cNvPr>
          <p:cNvSpPr>
            <a:spLocks noGrp="1"/>
          </p:cNvSpPr>
          <p:nvPr/>
        </p:nvSpPr>
        <p:spPr>
          <a:xfrm>
            <a:off x="190500" y="3810000"/>
            <a:ext cx="50800" cy="673100"/>
          </a:xfrm>
          <a:prstGeom prst="rect">
            <a:avLst/>
          </a:prstGeom>
          <a:solidFill>
            <a:srgbClr val="D0A616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38" name="Row ch 4">
            <a:extLst>
              <a:ext uri="{FF2B5EF4-FFF2-40B4-BE49-F238E27FC236}">
                <a16:creationId xmlns:a16="http://schemas.microsoft.com/office/drawing/2014/main" id="{1C40761C-0835-D36F-B9B5-F5E2FD74123E}"/>
              </a:ext>
            </a:extLst>
          </p:cNvPr>
          <p:cNvSpPr txBox="1">
            <a:spLocks noGrp="1"/>
          </p:cNvSpPr>
          <p:nvPr/>
        </p:nvSpPr>
        <p:spPr>
          <a:xfrm>
            <a:off x="228600" y="3886200"/>
            <a:ext cx="2667000" cy="4318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r>
              <a:rPr lang="en-US" sz="1050" b="1" dirty="0">
                <a:solidFill>
                  <a:srgbClr val="0B2B65"/>
                </a:solidFill>
              </a:rPr>
              <a:t>Operational Risk (OR1)</a:t>
            </a:r>
          </a:p>
        </p:txBody>
      </p:sp>
      <p:sp>
        <p:nvSpPr>
          <p:cNvPr id="39" name="Row exp 4">
            <a:extLst>
              <a:ext uri="{FF2B5EF4-FFF2-40B4-BE49-F238E27FC236}">
                <a16:creationId xmlns:a16="http://schemas.microsoft.com/office/drawing/2014/main" id="{08B8D30D-5EC4-8321-9A3B-5245B6C7E7E6}"/>
              </a:ext>
            </a:extLst>
          </p:cNvPr>
          <p:cNvSpPr txBox="1">
            <a:spLocks noGrp="1"/>
          </p:cNvSpPr>
          <p:nvPr/>
        </p:nvSpPr>
        <p:spPr>
          <a:xfrm>
            <a:off x="2921000" y="3886200"/>
            <a:ext cx="1879600" cy="5334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r>
              <a:rPr lang="en-US" sz="1000" dirty="0">
                <a:solidFill>
                  <a:srgbClr val="44546A"/>
                </a:solidFill>
              </a:rPr>
              <a:t>Pillar 3 Quant. Excel</a:t>
            </a:r>
          </a:p>
        </p:txBody>
      </p:sp>
      <p:sp>
        <p:nvSpPr>
          <p:cNvPr id="40" name="Rating badge 4">
            <a:extLst>
              <a:ext uri="{FF2B5EF4-FFF2-40B4-BE49-F238E27FC236}">
                <a16:creationId xmlns:a16="http://schemas.microsoft.com/office/drawing/2014/main" id="{C33BEB2F-B98C-65A9-AA42-89B076D0B781}"/>
              </a:ext>
            </a:extLst>
          </p:cNvPr>
          <p:cNvSpPr>
            <a:spLocks noGrp="1"/>
          </p:cNvSpPr>
          <p:nvPr/>
        </p:nvSpPr>
        <p:spPr>
          <a:xfrm>
            <a:off x="4826000" y="3911600"/>
            <a:ext cx="1206500" cy="381000"/>
          </a:xfrm>
          <a:prstGeom prst="rect">
            <a:avLst/>
          </a:prstGeom>
          <a:solidFill>
            <a:srgbClr val="D0A616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41" name="Rating txt 4">
            <a:extLst>
              <a:ext uri="{FF2B5EF4-FFF2-40B4-BE49-F238E27FC236}">
                <a16:creationId xmlns:a16="http://schemas.microsoft.com/office/drawing/2014/main" id="{44085300-316F-D623-CD41-E1D6F002296E}"/>
              </a:ext>
            </a:extLst>
          </p:cNvPr>
          <p:cNvSpPr txBox="1">
            <a:spLocks noGrp="1"/>
          </p:cNvSpPr>
          <p:nvPr/>
        </p:nvSpPr>
        <p:spPr>
          <a:xfrm>
            <a:off x="4826000" y="3911600"/>
            <a:ext cx="1206500" cy="381000"/>
          </a:xfrm>
          <a:prstGeom prst="rect">
            <a:avLst/>
          </a:prstGeom>
          <a:noFill/>
          <a:ln>
            <a:noFill/>
          </a:ln>
        </p:spPr>
        <p:txBody>
          <a:bodyPr wrap="square" anchor="ctr"/>
          <a:lstStyle/>
          <a:p>
            <a:pPr algn="ctr"/>
            <a:r>
              <a:rPr lang="en-US" sz="1000" b="1" dirty="0">
                <a:solidFill>
                  <a:srgbClr val="FFFFFF"/>
                </a:solidFill>
              </a:rPr>
              <a:t>ADEQUATE</a:t>
            </a:r>
          </a:p>
        </p:txBody>
      </p:sp>
      <p:sp>
        <p:nvSpPr>
          <p:cNvPr id="42" name="Row mit 4">
            <a:extLst>
              <a:ext uri="{FF2B5EF4-FFF2-40B4-BE49-F238E27FC236}">
                <a16:creationId xmlns:a16="http://schemas.microsoft.com/office/drawing/2014/main" id="{9678F682-BBAF-20F8-4EF6-F24BC64F2272}"/>
              </a:ext>
            </a:extLst>
          </p:cNvPr>
          <p:cNvSpPr txBox="1">
            <a:spLocks noGrp="1"/>
          </p:cNvSpPr>
          <p:nvPr/>
        </p:nvSpPr>
        <p:spPr>
          <a:xfrm>
            <a:off x="6159500" y="3886200"/>
            <a:ext cx="5778500" cy="5334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r>
              <a:rPr lang="en-US" sz="1000" dirty="0">
                <a:solidFill>
                  <a:srgbClr val="000000"/>
                </a:solidFill>
              </a:rPr>
              <a:t>10-yr loss history disclosed; SMA internal methodology not detailed</a:t>
            </a:r>
          </a:p>
        </p:txBody>
      </p:sp>
      <p:sp>
        <p:nvSpPr>
          <p:cNvPr id="43" name="Row bg 5">
            <a:extLst>
              <a:ext uri="{FF2B5EF4-FFF2-40B4-BE49-F238E27FC236}">
                <a16:creationId xmlns:a16="http://schemas.microsoft.com/office/drawing/2014/main" id="{C7846EE4-7912-91A8-4BD8-00E2B7309B73}"/>
              </a:ext>
            </a:extLst>
          </p:cNvPr>
          <p:cNvSpPr>
            <a:spLocks noGrp="1"/>
          </p:cNvSpPr>
          <p:nvPr/>
        </p:nvSpPr>
        <p:spPr>
          <a:xfrm>
            <a:off x="190500" y="4483100"/>
            <a:ext cx="11811000" cy="6731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44" name="Row bar 5">
            <a:extLst>
              <a:ext uri="{FF2B5EF4-FFF2-40B4-BE49-F238E27FC236}">
                <a16:creationId xmlns:a16="http://schemas.microsoft.com/office/drawing/2014/main" id="{356B460E-BEE2-74C5-E3A7-E1D9805FA40E}"/>
              </a:ext>
            </a:extLst>
          </p:cNvPr>
          <p:cNvSpPr>
            <a:spLocks noGrp="1"/>
          </p:cNvSpPr>
          <p:nvPr/>
        </p:nvSpPr>
        <p:spPr>
          <a:xfrm>
            <a:off x="190500" y="4483100"/>
            <a:ext cx="50800" cy="673100"/>
          </a:xfrm>
          <a:prstGeom prst="rect">
            <a:avLst/>
          </a:prstGeom>
          <a:solidFill>
            <a:srgbClr val="D0A616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45" name="Row ch 5">
            <a:extLst>
              <a:ext uri="{FF2B5EF4-FFF2-40B4-BE49-F238E27FC236}">
                <a16:creationId xmlns:a16="http://schemas.microsoft.com/office/drawing/2014/main" id="{A4E6845D-FC0D-8026-E0E8-86B181D9C40A}"/>
              </a:ext>
            </a:extLst>
          </p:cNvPr>
          <p:cNvSpPr txBox="1">
            <a:spLocks noGrp="1"/>
          </p:cNvSpPr>
          <p:nvPr/>
        </p:nvSpPr>
        <p:spPr>
          <a:xfrm>
            <a:off x="228600" y="4559300"/>
            <a:ext cx="2667000" cy="5334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r>
              <a:rPr lang="en-US" sz="1050" b="1" dirty="0">
                <a:solidFill>
                  <a:srgbClr val="0B2B65"/>
                </a:solidFill>
              </a:rPr>
              <a:t>ESG / Climate Risk</a:t>
            </a:r>
          </a:p>
        </p:txBody>
      </p:sp>
      <p:sp>
        <p:nvSpPr>
          <p:cNvPr id="46" name="Row exp 5">
            <a:extLst>
              <a:ext uri="{FF2B5EF4-FFF2-40B4-BE49-F238E27FC236}">
                <a16:creationId xmlns:a16="http://schemas.microsoft.com/office/drawing/2014/main" id="{E3E748AF-7154-5B8C-0390-D8E09F10BD84}"/>
              </a:ext>
            </a:extLst>
          </p:cNvPr>
          <p:cNvSpPr txBox="1">
            <a:spLocks noGrp="1"/>
          </p:cNvSpPr>
          <p:nvPr/>
        </p:nvSpPr>
        <p:spPr>
          <a:xfrm>
            <a:off x="2921000" y="4559300"/>
            <a:ext cx="1879600" cy="5334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r>
              <a:rPr lang="en-US" sz="1000" dirty="0">
                <a:solidFill>
                  <a:srgbClr val="44546A"/>
                </a:solidFill>
              </a:rPr>
              <a:t>Qualitative Report 2025</a:t>
            </a:r>
          </a:p>
        </p:txBody>
      </p:sp>
      <p:sp>
        <p:nvSpPr>
          <p:cNvPr id="47" name="Rating badge 5">
            <a:extLst>
              <a:ext uri="{FF2B5EF4-FFF2-40B4-BE49-F238E27FC236}">
                <a16:creationId xmlns:a16="http://schemas.microsoft.com/office/drawing/2014/main" id="{4D5B892F-2C5C-6A36-AC2C-6F3660D66202}"/>
              </a:ext>
            </a:extLst>
          </p:cNvPr>
          <p:cNvSpPr>
            <a:spLocks noGrp="1"/>
          </p:cNvSpPr>
          <p:nvPr/>
        </p:nvSpPr>
        <p:spPr>
          <a:xfrm>
            <a:off x="4826000" y="4584700"/>
            <a:ext cx="1206500" cy="381000"/>
          </a:xfrm>
          <a:prstGeom prst="rect">
            <a:avLst/>
          </a:prstGeom>
          <a:solidFill>
            <a:srgbClr val="D0A616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48" name="Rating txt 5">
            <a:extLst>
              <a:ext uri="{FF2B5EF4-FFF2-40B4-BE49-F238E27FC236}">
                <a16:creationId xmlns:a16="http://schemas.microsoft.com/office/drawing/2014/main" id="{27F743FD-962A-99BF-7FA1-5CAB8259C890}"/>
              </a:ext>
            </a:extLst>
          </p:cNvPr>
          <p:cNvSpPr txBox="1">
            <a:spLocks noGrp="1"/>
          </p:cNvSpPr>
          <p:nvPr/>
        </p:nvSpPr>
        <p:spPr>
          <a:xfrm>
            <a:off x="4826000" y="4584700"/>
            <a:ext cx="1206500" cy="381000"/>
          </a:xfrm>
          <a:prstGeom prst="rect">
            <a:avLst/>
          </a:prstGeom>
          <a:noFill/>
          <a:ln>
            <a:noFill/>
          </a:ln>
        </p:spPr>
        <p:txBody>
          <a:bodyPr wrap="square" anchor="ctr"/>
          <a:lstStyle/>
          <a:p>
            <a:pPr algn="ctr"/>
            <a:r>
              <a:rPr lang="en-US" sz="1000" b="1" dirty="0">
                <a:solidFill>
                  <a:srgbClr val="FFFFFF"/>
                </a:solidFill>
              </a:rPr>
              <a:t>ADEQUATE</a:t>
            </a:r>
          </a:p>
        </p:txBody>
      </p:sp>
      <p:sp>
        <p:nvSpPr>
          <p:cNvPr id="49" name="Row mit 5">
            <a:extLst>
              <a:ext uri="{FF2B5EF4-FFF2-40B4-BE49-F238E27FC236}">
                <a16:creationId xmlns:a16="http://schemas.microsoft.com/office/drawing/2014/main" id="{6A35BB78-2EDF-0663-6D94-A25F1AF9BB4A}"/>
              </a:ext>
            </a:extLst>
          </p:cNvPr>
          <p:cNvSpPr txBox="1">
            <a:spLocks noGrp="1"/>
          </p:cNvSpPr>
          <p:nvPr/>
        </p:nvSpPr>
        <p:spPr>
          <a:xfrm>
            <a:off x="6159500" y="4559300"/>
            <a:ext cx="5778500" cy="5334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r>
              <a:rPr lang="en-US" sz="1000" dirty="0">
                <a:solidFill>
                  <a:srgbClr val="000000"/>
                </a:solidFill>
              </a:rPr>
              <a:t>ESG KRIs tracked; NACE sector breakdown for high-emitting corporates not disclosed</a:t>
            </a:r>
          </a:p>
        </p:txBody>
      </p:sp>
      <p:sp>
        <p:nvSpPr>
          <p:cNvPr id="50" name="Row bg 6">
            <a:extLst>
              <a:ext uri="{FF2B5EF4-FFF2-40B4-BE49-F238E27FC236}">
                <a16:creationId xmlns:a16="http://schemas.microsoft.com/office/drawing/2014/main" id="{43F15905-326E-4E83-58C0-DF31AC6D5056}"/>
              </a:ext>
            </a:extLst>
          </p:cNvPr>
          <p:cNvSpPr>
            <a:spLocks noGrp="1"/>
          </p:cNvSpPr>
          <p:nvPr/>
        </p:nvSpPr>
        <p:spPr>
          <a:xfrm>
            <a:off x="190500" y="5156200"/>
            <a:ext cx="11811000" cy="6731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1" name="Row bar 6">
            <a:extLst>
              <a:ext uri="{FF2B5EF4-FFF2-40B4-BE49-F238E27FC236}">
                <a16:creationId xmlns:a16="http://schemas.microsoft.com/office/drawing/2014/main" id="{4AB4B31C-E642-DFD1-79D4-4819380C04B1}"/>
              </a:ext>
            </a:extLst>
          </p:cNvPr>
          <p:cNvSpPr>
            <a:spLocks noGrp="1"/>
          </p:cNvSpPr>
          <p:nvPr/>
        </p:nvSpPr>
        <p:spPr>
          <a:xfrm>
            <a:off x="190500" y="5156200"/>
            <a:ext cx="50800" cy="673100"/>
          </a:xfrm>
          <a:prstGeom prst="rect">
            <a:avLst/>
          </a:prstGeom>
          <a:solidFill>
            <a:srgbClr val="D0A616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2" name="Row ch 6">
            <a:extLst>
              <a:ext uri="{FF2B5EF4-FFF2-40B4-BE49-F238E27FC236}">
                <a16:creationId xmlns:a16="http://schemas.microsoft.com/office/drawing/2014/main" id="{79D42309-BB18-4ABA-3030-62598F60CC99}"/>
              </a:ext>
            </a:extLst>
          </p:cNvPr>
          <p:cNvSpPr txBox="1">
            <a:spLocks noGrp="1"/>
          </p:cNvSpPr>
          <p:nvPr/>
        </p:nvSpPr>
        <p:spPr>
          <a:xfrm>
            <a:off x="228600" y="5232400"/>
            <a:ext cx="2667000" cy="5334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r>
              <a:rPr lang="en-US" sz="1050" b="1" dirty="0">
                <a:solidFill>
                  <a:srgbClr val="0B2B65"/>
                </a:solidFill>
              </a:rPr>
              <a:t>Economic Capital (ICAAP)</a:t>
            </a:r>
          </a:p>
        </p:txBody>
      </p:sp>
      <p:sp>
        <p:nvSpPr>
          <p:cNvPr id="53" name="Row exp 6">
            <a:extLst>
              <a:ext uri="{FF2B5EF4-FFF2-40B4-BE49-F238E27FC236}">
                <a16:creationId xmlns:a16="http://schemas.microsoft.com/office/drawing/2014/main" id="{593D114A-34DD-6B35-C0BC-ACA626053EE5}"/>
              </a:ext>
            </a:extLst>
          </p:cNvPr>
          <p:cNvSpPr txBox="1">
            <a:spLocks noGrp="1"/>
          </p:cNvSpPr>
          <p:nvPr/>
        </p:nvSpPr>
        <p:spPr>
          <a:xfrm>
            <a:off x="2921000" y="5232400"/>
            <a:ext cx="1879600" cy="5334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r>
              <a:rPr lang="en-US" sz="1000" dirty="0">
                <a:solidFill>
                  <a:srgbClr val="44546A"/>
                </a:solidFill>
              </a:rPr>
              <a:t>Qualitative Report 2025</a:t>
            </a:r>
          </a:p>
        </p:txBody>
      </p:sp>
      <p:sp>
        <p:nvSpPr>
          <p:cNvPr id="54" name="Rating badge 6">
            <a:extLst>
              <a:ext uri="{FF2B5EF4-FFF2-40B4-BE49-F238E27FC236}">
                <a16:creationId xmlns:a16="http://schemas.microsoft.com/office/drawing/2014/main" id="{553A658A-251B-0053-6662-0F4AB83969BA}"/>
              </a:ext>
            </a:extLst>
          </p:cNvPr>
          <p:cNvSpPr>
            <a:spLocks noGrp="1"/>
          </p:cNvSpPr>
          <p:nvPr/>
        </p:nvSpPr>
        <p:spPr>
          <a:xfrm>
            <a:off x="4826000" y="5257800"/>
            <a:ext cx="1206500" cy="381000"/>
          </a:xfrm>
          <a:prstGeom prst="rect">
            <a:avLst/>
          </a:prstGeom>
          <a:solidFill>
            <a:srgbClr val="D0A616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5" name="Rating txt 6">
            <a:extLst>
              <a:ext uri="{FF2B5EF4-FFF2-40B4-BE49-F238E27FC236}">
                <a16:creationId xmlns:a16="http://schemas.microsoft.com/office/drawing/2014/main" id="{51BE30CB-C9DB-BDFD-9230-0F9696B1D46A}"/>
              </a:ext>
            </a:extLst>
          </p:cNvPr>
          <p:cNvSpPr txBox="1">
            <a:spLocks noGrp="1"/>
          </p:cNvSpPr>
          <p:nvPr/>
        </p:nvSpPr>
        <p:spPr>
          <a:xfrm>
            <a:off x="4826000" y="5257800"/>
            <a:ext cx="1206500" cy="381000"/>
          </a:xfrm>
          <a:prstGeom prst="rect">
            <a:avLst/>
          </a:prstGeom>
          <a:noFill/>
          <a:ln>
            <a:noFill/>
          </a:ln>
        </p:spPr>
        <p:txBody>
          <a:bodyPr wrap="square" anchor="ctr"/>
          <a:lstStyle/>
          <a:p>
            <a:pPr algn="ctr"/>
            <a:r>
              <a:rPr lang="en-US" sz="1000" b="1" dirty="0">
                <a:solidFill>
                  <a:srgbClr val="FFFFFF"/>
                </a:solidFill>
              </a:rPr>
              <a:t>ADEQUATE</a:t>
            </a:r>
          </a:p>
        </p:txBody>
      </p:sp>
      <p:sp>
        <p:nvSpPr>
          <p:cNvPr id="56" name="Row mit 6">
            <a:extLst>
              <a:ext uri="{FF2B5EF4-FFF2-40B4-BE49-F238E27FC236}">
                <a16:creationId xmlns:a16="http://schemas.microsoft.com/office/drawing/2014/main" id="{3EF363A1-4B59-AEF9-6C3A-DE6E32EADF2B}"/>
              </a:ext>
            </a:extLst>
          </p:cNvPr>
          <p:cNvSpPr txBox="1">
            <a:spLocks noGrp="1"/>
          </p:cNvSpPr>
          <p:nvPr/>
        </p:nvSpPr>
        <p:spPr>
          <a:xfrm>
            <a:off x="6159500" y="5232400"/>
            <a:ext cx="5778500" cy="5334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r>
              <a:rPr lang="en-US" sz="1000" dirty="0">
                <a:solidFill>
                  <a:srgbClr val="000000"/>
                </a:solidFill>
              </a:rPr>
              <a:t>99.9% CI, Merton-Vasicek disclosed; internal capital buffer amounts not published</a:t>
            </a:r>
          </a:p>
        </p:txBody>
      </p:sp>
      <p:sp>
        <p:nvSpPr>
          <p:cNvPr id="58" name="VerdBar">
            <a:extLst>
              <a:ext uri="{FF2B5EF4-FFF2-40B4-BE49-F238E27FC236}">
                <a16:creationId xmlns:a16="http://schemas.microsoft.com/office/drawing/2014/main" id="{196CBC08-E320-5990-E6DE-57EDABBADEC4}"/>
              </a:ext>
            </a:extLst>
          </p:cNvPr>
          <p:cNvSpPr>
            <a:spLocks noGrp="1"/>
          </p:cNvSpPr>
          <p:nvPr/>
        </p:nvSpPr>
        <p:spPr>
          <a:xfrm>
            <a:off x="190500" y="5867400"/>
            <a:ext cx="76200" cy="508000"/>
          </a:xfrm>
          <a:prstGeom prst="rect">
            <a:avLst/>
          </a:prstGeom>
          <a:solidFill>
            <a:srgbClr val="0A2A65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60" name="Ftr">
            <a:extLst>
              <a:ext uri="{FF2B5EF4-FFF2-40B4-BE49-F238E27FC236}">
                <a16:creationId xmlns:a16="http://schemas.microsoft.com/office/drawing/2014/main" id="{A91947D8-42CD-CFBD-3978-CCAAC1FA80D9}"/>
              </a:ext>
            </a:extLst>
          </p:cNvPr>
          <p:cNvSpPr>
            <a:spLocks noGrp="1"/>
          </p:cNvSpPr>
          <p:nvPr/>
        </p:nvSpPr>
        <p:spPr>
          <a:xfrm>
            <a:off x="0" y="6413500"/>
            <a:ext cx="11521440" cy="4445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61" name="FtrT">
            <a:extLst>
              <a:ext uri="{FF2B5EF4-FFF2-40B4-BE49-F238E27FC236}">
                <a16:creationId xmlns:a16="http://schemas.microsoft.com/office/drawing/2014/main" id="{D7CAF205-52F6-2B3A-B2E7-F7C0908F131B}"/>
              </a:ext>
            </a:extLst>
          </p:cNvPr>
          <p:cNvSpPr txBox="1">
            <a:spLocks noGrp="1"/>
          </p:cNvSpPr>
          <p:nvPr/>
        </p:nvSpPr>
        <p:spPr>
          <a:xfrm>
            <a:off x="228600" y="6477000"/>
            <a:ext cx="11430000" cy="317500"/>
          </a:xfrm>
          <a:prstGeom prst="rect">
            <a:avLst/>
          </a:prstGeom>
          <a:noFill/>
          <a:ln>
            <a:noFill/>
          </a:ln>
        </p:spPr>
        <p:txBody>
          <a:bodyPr wrap="square" anchor="ctr"/>
          <a:lstStyle/>
          <a:p>
            <a:r>
              <a:rPr lang="en-US" sz="1000" dirty="0"/>
              <a:t>Source: BAWAG Pillar 3 Qualitative Report 2025; Pillar 3 Quantitative Data 2025; Annual Report 2025</a:t>
            </a:r>
          </a:p>
        </p:txBody>
      </p:sp>
      <p:sp>
        <p:nvSpPr>
          <p:cNvPr id="62" name="V1">
            <a:extLst>
              <a:ext uri="{FF2B5EF4-FFF2-40B4-BE49-F238E27FC236}">
                <a16:creationId xmlns:a16="http://schemas.microsoft.com/office/drawing/2014/main" id="{DCF7F998-4B66-34E8-7F36-439EE16F005B}"/>
              </a:ext>
            </a:extLst>
          </p:cNvPr>
          <p:cNvSpPr>
            <a:spLocks noGrp="1"/>
          </p:cNvSpPr>
          <p:nvPr/>
        </p:nvSpPr>
        <p:spPr>
          <a:xfrm>
            <a:off x="2895600" y="711200"/>
            <a:ext cx="12700" cy="566420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63" name="V2">
            <a:extLst>
              <a:ext uri="{FF2B5EF4-FFF2-40B4-BE49-F238E27FC236}">
                <a16:creationId xmlns:a16="http://schemas.microsoft.com/office/drawing/2014/main" id="{D017D439-5536-5EFD-F4F1-0ECD2B815A9B}"/>
              </a:ext>
            </a:extLst>
          </p:cNvPr>
          <p:cNvSpPr>
            <a:spLocks noGrp="1"/>
          </p:cNvSpPr>
          <p:nvPr/>
        </p:nvSpPr>
        <p:spPr>
          <a:xfrm>
            <a:off x="4749800" y="711200"/>
            <a:ext cx="12700" cy="566420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64" name="V3">
            <a:extLst>
              <a:ext uri="{FF2B5EF4-FFF2-40B4-BE49-F238E27FC236}">
                <a16:creationId xmlns:a16="http://schemas.microsoft.com/office/drawing/2014/main" id="{94EEE0AA-2CF1-2452-B618-6ACDD86A3237}"/>
              </a:ext>
            </a:extLst>
          </p:cNvPr>
          <p:cNvSpPr>
            <a:spLocks noGrp="1"/>
          </p:cNvSpPr>
          <p:nvPr/>
        </p:nvSpPr>
        <p:spPr>
          <a:xfrm>
            <a:off x="6070600" y="711200"/>
            <a:ext cx="12700" cy="566420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7" name="VerdBg">
            <a:extLst>
              <a:ext uri="{FF2B5EF4-FFF2-40B4-BE49-F238E27FC236}">
                <a16:creationId xmlns:a16="http://schemas.microsoft.com/office/drawing/2014/main" id="{ED962CD8-4799-2584-8DE7-3972154439F5}"/>
              </a:ext>
            </a:extLst>
          </p:cNvPr>
          <p:cNvSpPr>
            <a:spLocks noGrp="1"/>
          </p:cNvSpPr>
          <p:nvPr/>
        </p:nvSpPr>
        <p:spPr>
          <a:xfrm>
            <a:off x="190500" y="5867400"/>
            <a:ext cx="11811000" cy="635000"/>
          </a:xfrm>
          <a:prstGeom prst="rect">
            <a:avLst/>
          </a:prstGeom>
          <a:solidFill>
            <a:srgbClr val="0B2B65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9" name="VerdTxt">
            <a:extLst>
              <a:ext uri="{FF2B5EF4-FFF2-40B4-BE49-F238E27FC236}">
                <a16:creationId xmlns:a16="http://schemas.microsoft.com/office/drawing/2014/main" id="{CC9F78D2-80F9-BD07-58F9-6A38985054C3}"/>
              </a:ext>
            </a:extLst>
          </p:cNvPr>
          <p:cNvSpPr txBox="1">
            <a:spLocks noGrp="1"/>
          </p:cNvSpPr>
          <p:nvPr/>
        </p:nvSpPr>
        <p:spPr>
          <a:xfrm>
            <a:off x="190500" y="5930900"/>
            <a:ext cx="11747500" cy="508000"/>
          </a:xfrm>
          <a:prstGeom prst="rect">
            <a:avLst/>
          </a:prstGeom>
          <a:noFill/>
          <a:ln>
            <a:noFill/>
          </a:ln>
        </p:spPr>
        <p:txBody>
          <a:bodyPr wrap="square" anchor="ctr"/>
          <a:lstStyle/>
          <a:p>
            <a:r>
              <a:rPr lang="en-US" sz="1200" b="1" dirty="0">
                <a:solidFill>
                  <a:schemeClr val="bg1"/>
                </a:solidFill>
              </a:rPr>
              <a:t>Overall Assessment: Transparent and Adequately Complete. BAWAG publishes full EBA Pillar 3 templates with detailed quantitative data for all material risk categories. Minor gaps: no NACE-level breakdown of energy-intensive corporate exposure; ICAAP internal capital buffer amounts not publicly disclosed. Disclosure quality is above EU peer average.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14B1F5F-C502-3EB0-1178-9120047683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003C0F98-4837-EF57-FB4D-77C693DE36DC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D9D9D9">
              <a:alpha val="6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48F3182-AFA3-930D-23B6-E9F4B1A42D3F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3BC98B0F-C0B3-C32D-D51A-C3E1676504A9}"/>
              </a:ext>
            </a:extLst>
          </p:cNvPr>
          <p:cNvSpPr/>
          <p:nvPr/>
        </p:nvSpPr>
        <p:spPr>
          <a:xfrm>
            <a:off x="0" y="3962400"/>
            <a:ext cx="10639425" cy="1257300"/>
          </a:xfrm>
          <a:prstGeom prst="rect">
            <a:avLst/>
          </a:prstGeom>
          <a:solidFill>
            <a:srgbClr val="0B2A65"/>
          </a:solidFill>
          <a:ln w="285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b="1" dirty="0"/>
              <a:t>Conclusions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F26EDCB-0855-538B-CCED-4CC2A664C1C6}"/>
              </a:ext>
            </a:extLst>
          </p:cNvPr>
          <p:cNvSpPr/>
          <p:nvPr/>
        </p:nvSpPr>
        <p:spPr>
          <a:xfrm>
            <a:off x="9721850" y="3333750"/>
            <a:ext cx="1552575" cy="1257300"/>
          </a:xfrm>
          <a:prstGeom prst="rect">
            <a:avLst/>
          </a:prstGeom>
          <a:ln w="28575">
            <a:solidFill>
              <a:schemeClr val="bg1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b="1" dirty="0"/>
              <a:t>8.</a:t>
            </a:r>
          </a:p>
        </p:txBody>
      </p:sp>
    </p:spTree>
    <p:extLst>
      <p:ext uri="{BB962C8B-B14F-4D97-AF65-F5344CB8AC3E}">
        <p14:creationId xmlns:p14="http://schemas.microsoft.com/office/powerpoint/2010/main" val="2705312196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1">
          <a:extLst>
            <a:ext uri="{FF2B5EF4-FFF2-40B4-BE49-F238E27FC236}">
              <a16:creationId xmlns:a16="http://schemas.microsoft.com/office/drawing/2014/main" id="{9EB69545-E733-0A23-C977-75C6F82BC8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16715F8-EF0D-A210-798D-414FE175B87D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>
                <a:latin typeface="+mj-lt"/>
              </a:rPr>
              <a:t>Conclusions</a:t>
            </a:r>
          </a:p>
        </p:txBody>
      </p:sp>
      <p:sp>
        <p:nvSpPr>
          <p:cNvPr id="4" name="SubTitle">
            <a:extLst>
              <a:ext uri="{FF2B5EF4-FFF2-40B4-BE49-F238E27FC236}">
                <a16:creationId xmlns:a16="http://schemas.microsoft.com/office/drawing/2014/main" id="{A4DC1EED-7702-985C-0E68-1982A12DD4B2}"/>
              </a:ext>
            </a:extLst>
          </p:cNvPr>
          <p:cNvSpPr txBox="1">
            <a:spLocks noGrp="1"/>
          </p:cNvSpPr>
          <p:nvPr/>
        </p:nvSpPr>
        <p:spPr>
          <a:xfrm>
            <a:off x="190500" y="647700"/>
            <a:ext cx="11811000" cy="330200"/>
          </a:xfrm>
          <a:prstGeom prst="rect">
            <a:avLst/>
          </a:prstGeom>
          <a:noFill/>
          <a:ln>
            <a:noFill/>
          </a:ln>
        </p:spPr>
        <p:txBody>
          <a:bodyPr wrap="square" lIns="45720" tIns="36576" rIns="45720" bIns="36576"/>
          <a:lstStyle/>
          <a:p>
            <a:pPr algn="ctr"/>
            <a:r>
              <a:rPr lang="en-US" sz="1100" b="1" dirty="0">
                <a:solidFill>
                  <a:srgbClr val="0B2B65"/>
                </a:solidFill>
              </a:rPr>
              <a:t>8 Key Findings - BAWAG Group AG Risk Profile Assessment</a:t>
            </a:r>
          </a:p>
        </p:txBody>
      </p:sp>
      <p:sp>
        <p:nvSpPr>
          <p:cNvPr id="5" name="FooterTxt">
            <a:extLst>
              <a:ext uri="{FF2B5EF4-FFF2-40B4-BE49-F238E27FC236}">
                <a16:creationId xmlns:a16="http://schemas.microsoft.com/office/drawing/2014/main" id="{A0B64A47-1145-1A31-6B5D-A1866A7415FE}"/>
              </a:ext>
            </a:extLst>
          </p:cNvPr>
          <p:cNvSpPr txBox="1">
            <a:spLocks noGrp="1"/>
          </p:cNvSpPr>
          <p:nvPr/>
        </p:nvSpPr>
        <p:spPr>
          <a:xfrm>
            <a:off x="228600" y="6477000"/>
            <a:ext cx="11430000" cy="317500"/>
          </a:xfrm>
          <a:prstGeom prst="rect">
            <a:avLst/>
          </a:prstGeom>
          <a:noFill/>
          <a:ln>
            <a:noFill/>
          </a:ln>
        </p:spPr>
        <p:txBody>
          <a:bodyPr wrap="square" lIns="45720" tIns="36576" rIns="45720" bIns="36576"/>
          <a:lstStyle/>
          <a:p>
            <a:r>
              <a:rPr lang="en-US" sz="1000" dirty="0"/>
              <a:t>BAWAG Group AG - Risk Analysis | Advanced Topics in Banking | WU Wien, Spring 2026  |  Sources: Pillar 3 Quantitative 2025, Pillar 3 Qualitative 2025, Key Financials FY2025 (T02), Annual Report 2025</a:t>
            </a:r>
          </a:p>
        </p:txBody>
      </p:sp>
      <p:sp>
        <p:nvSpPr>
          <p:cNvPr id="6" name="CtrDiv">
            <a:extLst>
              <a:ext uri="{FF2B5EF4-FFF2-40B4-BE49-F238E27FC236}">
                <a16:creationId xmlns:a16="http://schemas.microsoft.com/office/drawing/2014/main" id="{2FAFD8F0-C4F4-A850-1803-082A69991224}"/>
              </a:ext>
            </a:extLst>
          </p:cNvPr>
          <p:cNvSpPr>
            <a:spLocks noGrp="1"/>
          </p:cNvSpPr>
          <p:nvPr/>
        </p:nvSpPr>
        <p:spPr>
          <a:xfrm>
            <a:off x="6083300" y="990600"/>
            <a:ext cx="25400" cy="5359400"/>
          </a:xfrm>
          <a:prstGeom prst="rect">
            <a:avLst/>
          </a:prstGeom>
          <a:solidFill>
            <a:srgbClr val="B2D1DD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7" name="Card0">
            <a:extLst>
              <a:ext uri="{FF2B5EF4-FFF2-40B4-BE49-F238E27FC236}">
                <a16:creationId xmlns:a16="http://schemas.microsoft.com/office/drawing/2014/main" id="{FF7422C9-0A68-0348-85E4-346D60E32269}"/>
              </a:ext>
            </a:extLst>
          </p:cNvPr>
          <p:cNvSpPr>
            <a:spLocks noGrp="1"/>
          </p:cNvSpPr>
          <p:nvPr/>
        </p:nvSpPr>
        <p:spPr>
          <a:xfrm>
            <a:off x="190500" y="1054100"/>
            <a:ext cx="5778500" cy="1168400"/>
          </a:xfrm>
          <a:prstGeom prst="rect">
            <a:avLst/>
          </a:prstGeom>
          <a:solidFill>
            <a:srgbClr val="F0F7FF"/>
          </a:solidFill>
          <a:ln>
            <a:solidFill>
              <a:srgbClr val="B2D1DD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8" name="CardBar0">
            <a:extLst>
              <a:ext uri="{FF2B5EF4-FFF2-40B4-BE49-F238E27FC236}">
                <a16:creationId xmlns:a16="http://schemas.microsoft.com/office/drawing/2014/main" id="{6A7B90FF-FFE3-12DD-6DDB-2219A0F31B29}"/>
              </a:ext>
            </a:extLst>
          </p:cNvPr>
          <p:cNvSpPr>
            <a:spLocks noGrp="1"/>
          </p:cNvSpPr>
          <p:nvPr/>
        </p:nvSpPr>
        <p:spPr>
          <a:xfrm>
            <a:off x="190500" y="1054100"/>
            <a:ext cx="50800" cy="1168400"/>
          </a:xfrm>
          <a:prstGeom prst="rect">
            <a:avLst/>
          </a:prstGeom>
          <a:solidFill>
            <a:srgbClr val="0B2B65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9" name="CardNum0">
            <a:extLst>
              <a:ext uri="{FF2B5EF4-FFF2-40B4-BE49-F238E27FC236}">
                <a16:creationId xmlns:a16="http://schemas.microsoft.com/office/drawing/2014/main" id="{15A4945D-2063-AF72-ADC9-1F8766586E87}"/>
              </a:ext>
            </a:extLst>
          </p:cNvPr>
          <p:cNvSpPr>
            <a:spLocks noGrp="1"/>
          </p:cNvSpPr>
          <p:nvPr/>
        </p:nvSpPr>
        <p:spPr>
          <a:xfrm>
            <a:off x="190500" y="1054100"/>
            <a:ext cx="355600" cy="254000"/>
          </a:xfrm>
          <a:prstGeom prst="rect">
            <a:avLst/>
          </a:prstGeom>
          <a:solidFill>
            <a:srgbClr val="0B2B65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0" name="CardNumT0">
            <a:extLst>
              <a:ext uri="{FF2B5EF4-FFF2-40B4-BE49-F238E27FC236}">
                <a16:creationId xmlns:a16="http://schemas.microsoft.com/office/drawing/2014/main" id="{E3DDDDDA-4683-FE36-8CD1-74F154E8131F}"/>
              </a:ext>
            </a:extLst>
          </p:cNvPr>
          <p:cNvSpPr txBox="1">
            <a:spLocks noGrp="1"/>
          </p:cNvSpPr>
          <p:nvPr/>
        </p:nvSpPr>
        <p:spPr>
          <a:xfrm>
            <a:off x="190500" y="1079500"/>
            <a:ext cx="355600" cy="254000"/>
          </a:xfrm>
          <a:prstGeom prst="rect">
            <a:avLst/>
          </a:prstGeom>
          <a:noFill/>
          <a:ln>
            <a:noFill/>
          </a:ln>
        </p:spPr>
        <p:txBody>
          <a:bodyPr wrap="none" lIns="45720" tIns="36576" rIns="45720" bIns="36576"/>
          <a:lstStyle/>
          <a:p>
            <a:pPr algn="ctr"/>
            <a:r>
              <a:rPr lang="en-US" sz="900" b="1" dirty="0">
                <a:solidFill>
                  <a:srgbClr val="FFFFFF"/>
                </a:solidFill>
              </a:rPr>
              <a:t>01</a:t>
            </a:r>
          </a:p>
        </p:txBody>
      </p:sp>
      <p:sp>
        <p:nvSpPr>
          <p:cNvPr id="11" name="CardTxt0">
            <a:extLst>
              <a:ext uri="{FF2B5EF4-FFF2-40B4-BE49-F238E27FC236}">
                <a16:creationId xmlns:a16="http://schemas.microsoft.com/office/drawing/2014/main" id="{10ADD9D0-6A8D-EAFB-1DE7-632EB1E3282B}"/>
              </a:ext>
            </a:extLst>
          </p:cNvPr>
          <p:cNvSpPr txBox="1">
            <a:spLocks noGrp="1"/>
          </p:cNvSpPr>
          <p:nvPr/>
        </p:nvSpPr>
        <p:spPr>
          <a:xfrm>
            <a:off x="596900" y="1117600"/>
            <a:ext cx="5295900" cy="1041400"/>
          </a:xfrm>
          <a:prstGeom prst="rect">
            <a:avLst/>
          </a:prstGeom>
          <a:noFill/>
          <a:ln>
            <a:noFill/>
          </a:ln>
        </p:spPr>
        <p:txBody>
          <a:bodyPr wrap="square" lIns="45720" tIns="36576" rIns="45720" bIns="36576"/>
          <a:lstStyle/>
          <a:p>
            <a:pPr marL="0" indent="0">
              <a:spcBef>
                <a:spcPts val="0"/>
              </a:spcBef>
              <a:spcAft>
                <a:spcPts val="80"/>
              </a:spcAft>
            </a:pPr>
            <a:r>
              <a:rPr lang="en-US" sz="1600" b="1" dirty="0">
                <a:solidFill>
                  <a:srgbClr val="0B2B65"/>
                </a:solidFill>
              </a:rPr>
              <a:t>Credit Risk - Controlled, Secured Book</a:t>
            </a:r>
          </a:p>
          <a:p>
            <a:pPr marL="0" indent="0">
              <a:spcBef>
                <a:spcPts val="0"/>
              </a:spcBef>
            </a:pPr>
            <a:r>
              <a:rPr lang="en-US" sz="1200" dirty="0">
                <a:solidFill>
                  <a:srgbClr val="1C2833"/>
                </a:solidFill>
              </a:rPr>
              <a:t>NPL 0.8% (sector avg ~2.5%); ~80% secured. Housing dominant at 52%. Risk costs 41bps FY2025; F-IRB model quality validated by low through-cycle losses.</a:t>
            </a:r>
          </a:p>
        </p:txBody>
      </p:sp>
      <p:sp>
        <p:nvSpPr>
          <p:cNvPr id="12" name="Card1">
            <a:extLst>
              <a:ext uri="{FF2B5EF4-FFF2-40B4-BE49-F238E27FC236}">
                <a16:creationId xmlns:a16="http://schemas.microsoft.com/office/drawing/2014/main" id="{243FE11C-ACC3-9C1A-5149-108B4D809E34}"/>
              </a:ext>
            </a:extLst>
          </p:cNvPr>
          <p:cNvSpPr>
            <a:spLocks noGrp="1"/>
          </p:cNvSpPr>
          <p:nvPr/>
        </p:nvSpPr>
        <p:spPr>
          <a:xfrm>
            <a:off x="190500" y="2413000"/>
            <a:ext cx="5778500" cy="1168400"/>
          </a:xfrm>
          <a:prstGeom prst="rect">
            <a:avLst/>
          </a:prstGeom>
          <a:solidFill>
            <a:srgbClr val="F0F7FF"/>
          </a:solidFill>
          <a:ln>
            <a:solidFill>
              <a:srgbClr val="B2D1DD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3" name="CardBar1">
            <a:extLst>
              <a:ext uri="{FF2B5EF4-FFF2-40B4-BE49-F238E27FC236}">
                <a16:creationId xmlns:a16="http://schemas.microsoft.com/office/drawing/2014/main" id="{FFEDA139-C02F-E057-C24D-2ABF2540D023}"/>
              </a:ext>
            </a:extLst>
          </p:cNvPr>
          <p:cNvSpPr>
            <a:spLocks noGrp="1"/>
          </p:cNvSpPr>
          <p:nvPr/>
        </p:nvSpPr>
        <p:spPr>
          <a:xfrm>
            <a:off x="190500" y="2413000"/>
            <a:ext cx="50800" cy="1168400"/>
          </a:xfrm>
          <a:prstGeom prst="rect">
            <a:avLst/>
          </a:prstGeom>
          <a:solidFill>
            <a:srgbClr val="1A5187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4" name="CardNum1">
            <a:extLst>
              <a:ext uri="{FF2B5EF4-FFF2-40B4-BE49-F238E27FC236}">
                <a16:creationId xmlns:a16="http://schemas.microsoft.com/office/drawing/2014/main" id="{C07A1D81-6A9E-018D-98BC-BA4BD1383F0A}"/>
              </a:ext>
            </a:extLst>
          </p:cNvPr>
          <p:cNvSpPr>
            <a:spLocks noGrp="1"/>
          </p:cNvSpPr>
          <p:nvPr/>
        </p:nvSpPr>
        <p:spPr>
          <a:xfrm>
            <a:off x="190500" y="2413000"/>
            <a:ext cx="355600" cy="254000"/>
          </a:xfrm>
          <a:prstGeom prst="rect">
            <a:avLst/>
          </a:prstGeom>
          <a:solidFill>
            <a:srgbClr val="1A5187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5" name="CardNumT1">
            <a:extLst>
              <a:ext uri="{FF2B5EF4-FFF2-40B4-BE49-F238E27FC236}">
                <a16:creationId xmlns:a16="http://schemas.microsoft.com/office/drawing/2014/main" id="{D328C322-9229-B12A-84E4-E6734DA2AA76}"/>
              </a:ext>
            </a:extLst>
          </p:cNvPr>
          <p:cNvSpPr txBox="1">
            <a:spLocks noGrp="1"/>
          </p:cNvSpPr>
          <p:nvPr/>
        </p:nvSpPr>
        <p:spPr>
          <a:xfrm>
            <a:off x="190500" y="2438400"/>
            <a:ext cx="355600" cy="254000"/>
          </a:xfrm>
          <a:prstGeom prst="rect">
            <a:avLst/>
          </a:prstGeom>
          <a:noFill/>
          <a:ln>
            <a:noFill/>
          </a:ln>
        </p:spPr>
        <p:txBody>
          <a:bodyPr wrap="none" lIns="45720" tIns="36576" rIns="45720" bIns="36576"/>
          <a:lstStyle/>
          <a:p>
            <a:pPr algn="ctr"/>
            <a:r>
              <a:rPr lang="en-US" sz="900" b="1" dirty="0">
                <a:solidFill>
                  <a:srgbClr val="FFFFFF"/>
                </a:solidFill>
              </a:rPr>
              <a:t>02</a:t>
            </a:r>
          </a:p>
        </p:txBody>
      </p:sp>
      <p:sp>
        <p:nvSpPr>
          <p:cNvPr id="16" name="CardTxt1">
            <a:extLst>
              <a:ext uri="{FF2B5EF4-FFF2-40B4-BE49-F238E27FC236}">
                <a16:creationId xmlns:a16="http://schemas.microsoft.com/office/drawing/2014/main" id="{77C4B09A-367F-6D48-05B5-DB9DA30A0014}"/>
              </a:ext>
            </a:extLst>
          </p:cNvPr>
          <p:cNvSpPr txBox="1">
            <a:spLocks noGrp="1"/>
          </p:cNvSpPr>
          <p:nvPr/>
        </p:nvSpPr>
        <p:spPr>
          <a:xfrm>
            <a:off x="596900" y="2476500"/>
            <a:ext cx="5295900" cy="1041400"/>
          </a:xfrm>
          <a:prstGeom prst="rect">
            <a:avLst/>
          </a:prstGeom>
          <a:noFill/>
          <a:ln>
            <a:noFill/>
          </a:ln>
        </p:spPr>
        <p:txBody>
          <a:bodyPr wrap="square" lIns="45720" tIns="36576" rIns="45720" bIns="36576"/>
          <a:lstStyle/>
          <a:p>
            <a:pPr marL="0" indent="0">
              <a:spcBef>
                <a:spcPts val="0"/>
              </a:spcBef>
              <a:spcAft>
                <a:spcPts val="80"/>
              </a:spcAft>
            </a:pPr>
            <a:r>
              <a:rPr lang="en-US" sz="1600" b="1" dirty="0">
                <a:solidFill>
                  <a:srgbClr val="1A5187"/>
                </a:solidFill>
              </a:rPr>
              <a:t>Market Risk - Structurally Zero</a:t>
            </a:r>
          </a:p>
          <a:p>
            <a:pPr marL="0" indent="0">
              <a:spcBef>
                <a:spcPts val="0"/>
              </a:spcBef>
            </a:pPr>
            <a:r>
              <a:rPr lang="en-US" sz="1200" dirty="0">
                <a:solidFill>
                  <a:srgbClr val="1C2833"/>
                </a:solidFill>
              </a:rPr>
              <a:t>Zero market risk RWA; no prop. trading book. IRRBB EVE −€406m at +200bp (12.4% of CET1; within 15% SOT limit). Rate risk managed via ALCO.</a:t>
            </a:r>
          </a:p>
        </p:txBody>
      </p:sp>
      <p:sp>
        <p:nvSpPr>
          <p:cNvPr id="17" name="Card2">
            <a:extLst>
              <a:ext uri="{FF2B5EF4-FFF2-40B4-BE49-F238E27FC236}">
                <a16:creationId xmlns:a16="http://schemas.microsoft.com/office/drawing/2014/main" id="{B4C8A3A4-AD6F-63F7-462A-FC6A2221A1A1}"/>
              </a:ext>
            </a:extLst>
          </p:cNvPr>
          <p:cNvSpPr>
            <a:spLocks noGrp="1"/>
          </p:cNvSpPr>
          <p:nvPr/>
        </p:nvSpPr>
        <p:spPr>
          <a:xfrm>
            <a:off x="190500" y="3771900"/>
            <a:ext cx="5778500" cy="1168400"/>
          </a:xfrm>
          <a:prstGeom prst="rect">
            <a:avLst/>
          </a:prstGeom>
          <a:solidFill>
            <a:srgbClr val="F0F7FF"/>
          </a:solidFill>
          <a:ln>
            <a:solidFill>
              <a:srgbClr val="B2D1DD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8" name="CardBar2">
            <a:extLst>
              <a:ext uri="{FF2B5EF4-FFF2-40B4-BE49-F238E27FC236}">
                <a16:creationId xmlns:a16="http://schemas.microsoft.com/office/drawing/2014/main" id="{92CE76AF-F99A-4CAF-FDA6-1B9B8EC9E4FD}"/>
              </a:ext>
            </a:extLst>
          </p:cNvPr>
          <p:cNvSpPr>
            <a:spLocks noGrp="1"/>
          </p:cNvSpPr>
          <p:nvPr/>
        </p:nvSpPr>
        <p:spPr>
          <a:xfrm>
            <a:off x="190500" y="3771900"/>
            <a:ext cx="50800" cy="1168400"/>
          </a:xfrm>
          <a:prstGeom prst="rect">
            <a:avLst/>
          </a:prstGeom>
          <a:solidFill>
            <a:srgbClr val="255C8D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9" name="CardNum2">
            <a:extLst>
              <a:ext uri="{FF2B5EF4-FFF2-40B4-BE49-F238E27FC236}">
                <a16:creationId xmlns:a16="http://schemas.microsoft.com/office/drawing/2014/main" id="{DA7C1140-88A5-8EB5-027D-CD559A700477}"/>
              </a:ext>
            </a:extLst>
          </p:cNvPr>
          <p:cNvSpPr>
            <a:spLocks noGrp="1"/>
          </p:cNvSpPr>
          <p:nvPr/>
        </p:nvSpPr>
        <p:spPr>
          <a:xfrm>
            <a:off x="190500" y="3771900"/>
            <a:ext cx="355600" cy="254000"/>
          </a:xfrm>
          <a:prstGeom prst="rect">
            <a:avLst/>
          </a:prstGeom>
          <a:solidFill>
            <a:srgbClr val="255C8D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0" name="CardNumT2">
            <a:extLst>
              <a:ext uri="{FF2B5EF4-FFF2-40B4-BE49-F238E27FC236}">
                <a16:creationId xmlns:a16="http://schemas.microsoft.com/office/drawing/2014/main" id="{D9C5AD7B-222E-76EE-F6A0-C4FE415D582C}"/>
              </a:ext>
            </a:extLst>
          </p:cNvPr>
          <p:cNvSpPr txBox="1">
            <a:spLocks noGrp="1"/>
          </p:cNvSpPr>
          <p:nvPr/>
        </p:nvSpPr>
        <p:spPr>
          <a:xfrm>
            <a:off x="190500" y="3797300"/>
            <a:ext cx="355600" cy="254000"/>
          </a:xfrm>
          <a:prstGeom prst="rect">
            <a:avLst/>
          </a:prstGeom>
          <a:noFill/>
          <a:ln>
            <a:noFill/>
          </a:ln>
        </p:spPr>
        <p:txBody>
          <a:bodyPr wrap="none" lIns="45720" tIns="36576" rIns="45720" bIns="36576"/>
          <a:lstStyle/>
          <a:p>
            <a:pPr algn="ctr"/>
            <a:r>
              <a:rPr lang="en-US" sz="900" b="1" dirty="0">
                <a:solidFill>
                  <a:srgbClr val="FFFFFF"/>
                </a:solidFill>
              </a:rPr>
              <a:t>03</a:t>
            </a:r>
          </a:p>
        </p:txBody>
      </p:sp>
      <p:sp>
        <p:nvSpPr>
          <p:cNvPr id="21" name="CardTxt2">
            <a:extLst>
              <a:ext uri="{FF2B5EF4-FFF2-40B4-BE49-F238E27FC236}">
                <a16:creationId xmlns:a16="http://schemas.microsoft.com/office/drawing/2014/main" id="{512FEEB9-24B6-6D88-4349-64F925045769}"/>
              </a:ext>
            </a:extLst>
          </p:cNvPr>
          <p:cNvSpPr txBox="1">
            <a:spLocks noGrp="1"/>
          </p:cNvSpPr>
          <p:nvPr/>
        </p:nvSpPr>
        <p:spPr>
          <a:xfrm>
            <a:off x="596900" y="3835400"/>
            <a:ext cx="5295900" cy="1041400"/>
          </a:xfrm>
          <a:prstGeom prst="rect">
            <a:avLst/>
          </a:prstGeom>
          <a:noFill/>
          <a:ln>
            <a:noFill/>
          </a:ln>
        </p:spPr>
        <p:txBody>
          <a:bodyPr wrap="square" lIns="45720" tIns="36576" rIns="45720" bIns="36576"/>
          <a:lstStyle/>
          <a:p>
            <a:pPr marL="0" indent="0">
              <a:spcBef>
                <a:spcPts val="0"/>
              </a:spcBef>
              <a:spcAft>
                <a:spcPts val="80"/>
              </a:spcAft>
            </a:pPr>
            <a:r>
              <a:rPr lang="en-US" sz="1600" b="1" dirty="0">
                <a:solidFill>
                  <a:srgbClr val="255C8D"/>
                </a:solidFill>
              </a:rPr>
              <a:t>Operational Risk - SMA Adopted FY2025</a:t>
            </a:r>
          </a:p>
          <a:p>
            <a:pPr marL="0" indent="0">
              <a:spcBef>
                <a:spcPts val="0"/>
              </a:spcBef>
            </a:pPr>
            <a:r>
              <a:rPr lang="en-US" sz="1200" dirty="0">
                <a:solidFill>
                  <a:srgbClr val="1C2833"/>
                </a:solidFill>
              </a:rPr>
              <a:t>SMA under CRR3/Basel IV. Op. Risk RWA €4.16bn (18.4% of total RWA). Actual FY2025 net losses only €2m - SMA inflated by industry historical data.</a:t>
            </a:r>
          </a:p>
        </p:txBody>
      </p:sp>
      <p:sp>
        <p:nvSpPr>
          <p:cNvPr id="22" name="Card3">
            <a:extLst>
              <a:ext uri="{FF2B5EF4-FFF2-40B4-BE49-F238E27FC236}">
                <a16:creationId xmlns:a16="http://schemas.microsoft.com/office/drawing/2014/main" id="{29176F79-E51C-73E1-C5BF-0BB4FEC78D57}"/>
              </a:ext>
            </a:extLst>
          </p:cNvPr>
          <p:cNvSpPr>
            <a:spLocks noGrp="1"/>
          </p:cNvSpPr>
          <p:nvPr/>
        </p:nvSpPr>
        <p:spPr>
          <a:xfrm>
            <a:off x="190500" y="5130800"/>
            <a:ext cx="5778500" cy="1168400"/>
          </a:xfrm>
          <a:prstGeom prst="rect">
            <a:avLst/>
          </a:prstGeom>
          <a:solidFill>
            <a:srgbClr val="F0F7FF"/>
          </a:solidFill>
          <a:ln>
            <a:solidFill>
              <a:srgbClr val="B2D1DD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23" name="CardBar3">
            <a:extLst>
              <a:ext uri="{FF2B5EF4-FFF2-40B4-BE49-F238E27FC236}">
                <a16:creationId xmlns:a16="http://schemas.microsoft.com/office/drawing/2014/main" id="{E7FBE790-1DEC-D04C-CA54-AF34A3ECF2EE}"/>
              </a:ext>
            </a:extLst>
          </p:cNvPr>
          <p:cNvSpPr>
            <a:spLocks noGrp="1"/>
          </p:cNvSpPr>
          <p:nvPr/>
        </p:nvSpPr>
        <p:spPr>
          <a:xfrm>
            <a:off x="190500" y="5130800"/>
            <a:ext cx="50800" cy="1168400"/>
          </a:xfrm>
          <a:prstGeom prst="rect">
            <a:avLst/>
          </a:prstGeom>
          <a:solidFill>
            <a:srgbClr val="0B2B65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4" name="CardNum3">
            <a:extLst>
              <a:ext uri="{FF2B5EF4-FFF2-40B4-BE49-F238E27FC236}">
                <a16:creationId xmlns:a16="http://schemas.microsoft.com/office/drawing/2014/main" id="{48A17F64-C6B9-2B34-FF22-427BB02D41AB}"/>
              </a:ext>
            </a:extLst>
          </p:cNvPr>
          <p:cNvSpPr>
            <a:spLocks noGrp="1"/>
          </p:cNvSpPr>
          <p:nvPr/>
        </p:nvSpPr>
        <p:spPr>
          <a:xfrm>
            <a:off x="190500" y="5130800"/>
            <a:ext cx="355600" cy="254000"/>
          </a:xfrm>
          <a:prstGeom prst="rect">
            <a:avLst/>
          </a:prstGeom>
          <a:solidFill>
            <a:srgbClr val="0B2B65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5" name="CardNumT3">
            <a:extLst>
              <a:ext uri="{FF2B5EF4-FFF2-40B4-BE49-F238E27FC236}">
                <a16:creationId xmlns:a16="http://schemas.microsoft.com/office/drawing/2014/main" id="{4D17E00C-EF45-9784-8F8B-644B0572E046}"/>
              </a:ext>
            </a:extLst>
          </p:cNvPr>
          <p:cNvSpPr txBox="1">
            <a:spLocks noGrp="1"/>
          </p:cNvSpPr>
          <p:nvPr/>
        </p:nvSpPr>
        <p:spPr>
          <a:xfrm>
            <a:off x="190500" y="5156200"/>
            <a:ext cx="355600" cy="254000"/>
          </a:xfrm>
          <a:prstGeom prst="rect">
            <a:avLst/>
          </a:prstGeom>
          <a:noFill/>
          <a:ln>
            <a:noFill/>
          </a:ln>
        </p:spPr>
        <p:txBody>
          <a:bodyPr wrap="none" lIns="45720" tIns="36576" rIns="45720" bIns="36576"/>
          <a:lstStyle/>
          <a:p>
            <a:pPr algn="ctr"/>
            <a:r>
              <a:rPr lang="en-US" sz="900" b="1" dirty="0">
                <a:solidFill>
                  <a:srgbClr val="FFFFFF"/>
                </a:solidFill>
              </a:rPr>
              <a:t>04</a:t>
            </a:r>
          </a:p>
        </p:txBody>
      </p:sp>
      <p:sp>
        <p:nvSpPr>
          <p:cNvPr id="26" name="CardTxt3">
            <a:extLst>
              <a:ext uri="{FF2B5EF4-FFF2-40B4-BE49-F238E27FC236}">
                <a16:creationId xmlns:a16="http://schemas.microsoft.com/office/drawing/2014/main" id="{CEF938BB-96AA-3D26-1D22-05389233D7AA}"/>
              </a:ext>
            </a:extLst>
          </p:cNvPr>
          <p:cNvSpPr txBox="1">
            <a:spLocks noGrp="1"/>
          </p:cNvSpPr>
          <p:nvPr/>
        </p:nvSpPr>
        <p:spPr>
          <a:xfrm>
            <a:off x="596900" y="5194300"/>
            <a:ext cx="5295900" cy="1041400"/>
          </a:xfrm>
          <a:prstGeom prst="rect">
            <a:avLst/>
          </a:prstGeom>
          <a:noFill/>
          <a:ln>
            <a:noFill/>
          </a:ln>
        </p:spPr>
        <p:txBody>
          <a:bodyPr wrap="square" lIns="45720" tIns="36576" rIns="45720" bIns="36576"/>
          <a:lstStyle/>
          <a:p>
            <a:pPr marL="0" indent="0">
              <a:spcBef>
                <a:spcPts val="0"/>
              </a:spcBef>
              <a:spcAft>
                <a:spcPts val="80"/>
              </a:spcAft>
            </a:pPr>
            <a:r>
              <a:rPr lang="en-US" sz="1600" b="1" dirty="0">
                <a:solidFill>
                  <a:srgbClr val="0B2B65"/>
                </a:solidFill>
              </a:rPr>
              <a:t>Capital - Strong Buffers Above SREP</a:t>
            </a:r>
          </a:p>
          <a:p>
            <a:pPr marL="0" indent="0">
              <a:spcBef>
                <a:spcPts val="0"/>
              </a:spcBef>
            </a:pPr>
            <a:r>
              <a:rPr lang="en-US" sz="1200" dirty="0">
                <a:solidFill>
                  <a:srgbClr val="1C2833"/>
                </a:solidFill>
              </a:rPr>
              <a:t>CET1 12.9% (reg.) / 14.2% (mgmt.). MDA trigger 10.23% → 267bps buffer. RWA density 55%. Leverage 4.9%. Well above all regulatory thresholds.</a:t>
            </a:r>
          </a:p>
        </p:txBody>
      </p:sp>
      <p:sp>
        <p:nvSpPr>
          <p:cNvPr id="27" name="Card4">
            <a:extLst>
              <a:ext uri="{FF2B5EF4-FFF2-40B4-BE49-F238E27FC236}">
                <a16:creationId xmlns:a16="http://schemas.microsoft.com/office/drawing/2014/main" id="{DB3C9780-303F-C6FD-CF28-29FB96BA8E0D}"/>
              </a:ext>
            </a:extLst>
          </p:cNvPr>
          <p:cNvSpPr>
            <a:spLocks noGrp="1"/>
          </p:cNvSpPr>
          <p:nvPr/>
        </p:nvSpPr>
        <p:spPr>
          <a:xfrm>
            <a:off x="6184900" y="1054100"/>
            <a:ext cx="5778500" cy="1168400"/>
          </a:xfrm>
          <a:prstGeom prst="rect">
            <a:avLst/>
          </a:prstGeom>
          <a:solidFill>
            <a:srgbClr val="F0F7FF"/>
          </a:solidFill>
          <a:ln>
            <a:solidFill>
              <a:srgbClr val="B2D1DD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28" name="CardBar4">
            <a:extLst>
              <a:ext uri="{FF2B5EF4-FFF2-40B4-BE49-F238E27FC236}">
                <a16:creationId xmlns:a16="http://schemas.microsoft.com/office/drawing/2014/main" id="{07239386-2B51-0BC7-68E9-4959454BEC56}"/>
              </a:ext>
            </a:extLst>
          </p:cNvPr>
          <p:cNvSpPr>
            <a:spLocks noGrp="1"/>
          </p:cNvSpPr>
          <p:nvPr/>
        </p:nvSpPr>
        <p:spPr>
          <a:xfrm>
            <a:off x="6184900" y="1054100"/>
            <a:ext cx="50800" cy="1168400"/>
          </a:xfrm>
          <a:prstGeom prst="rect">
            <a:avLst/>
          </a:prstGeom>
          <a:solidFill>
            <a:srgbClr val="1A5187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9" name="CardNum4">
            <a:extLst>
              <a:ext uri="{FF2B5EF4-FFF2-40B4-BE49-F238E27FC236}">
                <a16:creationId xmlns:a16="http://schemas.microsoft.com/office/drawing/2014/main" id="{8325FB8F-954A-394F-0110-B056AD45FE23}"/>
              </a:ext>
            </a:extLst>
          </p:cNvPr>
          <p:cNvSpPr>
            <a:spLocks noGrp="1"/>
          </p:cNvSpPr>
          <p:nvPr/>
        </p:nvSpPr>
        <p:spPr>
          <a:xfrm>
            <a:off x="6184900" y="1054100"/>
            <a:ext cx="355600" cy="254000"/>
          </a:xfrm>
          <a:prstGeom prst="rect">
            <a:avLst/>
          </a:prstGeom>
          <a:solidFill>
            <a:srgbClr val="1A5187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30" name="CardNumT4">
            <a:extLst>
              <a:ext uri="{FF2B5EF4-FFF2-40B4-BE49-F238E27FC236}">
                <a16:creationId xmlns:a16="http://schemas.microsoft.com/office/drawing/2014/main" id="{3B5A7A38-4F55-38B5-C147-F5F5B1FE06E1}"/>
              </a:ext>
            </a:extLst>
          </p:cNvPr>
          <p:cNvSpPr txBox="1">
            <a:spLocks noGrp="1"/>
          </p:cNvSpPr>
          <p:nvPr/>
        </p:nvSpPr>
        <p:spPr>
          <a:xfrm>
            <a:off x="6184900" y="1079500"/>
            <a:ext cx="355600" cy="254000"/>
          </a:xfrm>
          <a:prstGeom prst="rect">
            <a:avLst/>
          </a:prstGeom>
          <a:noFill/>
          <a:ln>
            <a:noFill/>
          </a:ln>
        </p:spPr>
        <p:txBody>
          <a:bodyPr wrap="none" lIns="45720" tIns="36576" rIns="45720" bIns="36576"/>
          <a:lstStyle/>
          <a:p>
            <a:pPr algn="ctr"/>
            <a:r>
              <a:rPr lang="en-US" sz="900" b="1" dirty="0">
                <a:solidFill>
                  <a:srgbClr val="FFFFFF"/>
                </a:solidFill>
              </a:rPr>
              <a:t>05</a:t>
            </a:r>
          </a:p>
        </p:txBody>
      </p:sp>
      <p:sp>
        <p:nvSpPr>
          <p:cNvPr id="31" name="CardTxt4">
            <a:extLst>
              <a:ext uri="{FF2B5EF4-FFF2-40B4-BE49-F238E27FC236}">
                <a16:creationId xmlns:a16="http://schemas.microsoft.com/office/drawing/2014/main" id="{3799626A-4F8E-884F-8BCD-CA0397F97500}"/>
              </a:ext>
            </a:extLst>
          </p:cNvPr>
          <p:cNvSpPr txBox="1">
            <a:spLocks noGrp="1"/>
          </p:cNvSpPr>
          <p:nvPr/>
        </p:nvSpPr>
        <p:spPr>
          <a:xfrm>
            <a:off x="6591300" y="1117600"/>
            <a:ext cx="5295900" cy="1041400"/>
          </a:xfrm>
          <a:prstGeom prst="rect">
            <a:avLst/>
          </a:prstGeom>
          <a:noFill/>
          <a:ln>
            <a:noFill/>
          </a:ln>
        </p:spPr>
        <p:txBody>
          <a:bodyPr wrap="square" lIns="45720" tIns="36576" rIns="45720" bIns="36576"/>
          <a:lstStyle/>
          <a:p>
            <a:pPr marL="0" indent="0">
              <a:spcBef>
                <a:spcPts val="0"/>
              </a:spcBef>
              <a:spcAft>
                <a:spcPts val="80"/>
              </a:spcAft>
            </a:pPr>
            <a:r>
              <a:rPr lang="en-US" sz="1600" b="1" dirty="0">
                <a:solidFill>
                  <a:srgbClr val="1A5187"/>
                </a:solidFill>
              </a:rPr>
              <a:t>Liquidity - Robust LCR/NSFR Position</a:t>
            </a:r>
          </a:p>
          <a:p>
            <a:pPr marL="0" indent="0">
              <a:spcBef>
                <a:spcPts val="0"/>
              </a:spcBef>
            </a:pPr>
            <a:r>
              <a:rPr lang="en-US" sz="1200" dirty="0">
                <a:solidFill>
                  <a:srgbClr val="1C2833"/>
                </a:solidFill>
              </a:rPr>
              <a:t>LCR 218% (Pillar 3 avg) / 204% (Key Fin. year-end); min 100%. NSFR 142%. HQLA €14.5bn. Retail deposits fund ~76% of assets. No wholesale cliff risk.</a:t>
            </a:r>
          </a:p>
        </p:txBody>
      </p:sp>
      <p:sp>
        <p:nvSpPr>
          <p:cNvPr id="32" name="Card5">
            <a:extLst>
              <a:ext uri="{FF2B5EF4-FFF2-40B4-BE49-F238E27FC236}">
                <a16:creationId xmlns:a16="http://schemas.microsoft.com/office/drawing/2014/main" id="{1DE91E64-0610-D760-2E49-524650A6EE2D}"/>
              </a:ext>
            </a:extLst>
          </p:cNvPr>
          <p:cNvSpPr>
            <a:spLocks noGrp="1"/>
          </p:cNvSpPr>
          <p:nvPr/>
        </p:nvSpPr>
        <p:spPr>
          <a:xfrm>
            <a:off x="6184900" y="2413000"/>
            <a:ext cx="5778500" cy="1168400"/>
          </a:xfrm>
          <a:prstGeom prst="rect">
            <a:avLst/>
          </a:prstGeom>
          <a:solidFill>
            <a:srgbClr val="F0F7FF"/>
          </a:solidFill>
          <a:ln>
            <a:solidFill>
              <a:srgbClr val="B2D1DD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33" name="CardBar5">
            <a:extLst>
              <a:ext uri="{FF2B5EF4-FFF2-40B4-BE49-F238E27FC236}">
                <a16:creationId xmlns:a16="http://schemas.microsoft.com/office/drawing/2014/main" id="{F341BC89-D539-2DA6-AACB-8611EEC252C0}"/>
              </a:ext>
            </a:extLst>
          </p:cNvPr>
          <p:cNvSpPr>
            <a:spLocks noGrp="1"/>
          </p:cNvSpPr>
          <p:nvPr/>
        </p:nvSpPr>
        <p:spPr>
          <a:xfrm>
            <a:off x="6184900" y="2413000"/>
            <a:ext cx="50800" cy="1168400"/>
          </a:xfrm>
          <a:prstGeom prst="rect">
            <a:avLst/>
          </a:prstGeom>
          <a:solidFill>
            <a:srgbClr val="255C8D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34" name="CardNum5">
            <a:extLst>
              <a:ext uri="{FF2B5EF4-FFF2-40B4-BE49-F238E27FC236}">
                <a16:creationId xmlns:a16="http://schemas.microsoft.com/office/drawing/2014/main" id="{C3AF8922-4A54-EDF3-F9E6-BD73CC2C4E3B}"/>
              </a:ext>
            </a:extLst>
          </p:cNvPr>
          <p:cNvSpPr>
            <a:spLocks noGrp="1"/>
          </p:cNvSpPr>
          <p:nvPr/>
        </p:nvSpPr>
        <p:spPr>
          <a:xfrm>
            <a:off x="6184900" y="2413000"/>
            <a:ext cx="355600" cy="254000"/>
          </a:xfrm>
          <a:prstGeom prst="rect">
            <a:avLst/>
          </a:prstGeom>
          <a:solidFill>
            <a:srgbClr val="255C8D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35" name="CardNumT5">
            <a:extLst>
              <a:ext uri="{FF2B5EF4-FFF2-40B4-BE49-F238E27FC236}">
                <a16:creationId xmlns:a16="http://schemas.microsoft.com/office/drawing/2014/main" id="{93032AB0-9DCE-9560-EBB4-05A32EC01B3A}"/>
              </a:ext>
            </a:extLst>
          </p:cNvPr>
          <p:cNvSpPr txBox="1">
            <a:spLocks noGrp="1"/>
          </p:cNvSpPr>
          <p:nvPr/>
        </p:nvSpPr>
        <p:spPr>
          <a:xfrm>
            <a:off x="6184900" y="2438400"/>
            <a:ext cx="355600" cy="254000"/>
          </a:xfrm>
          <a:prstGeom prst="rect">
            <a:avLst/>
          </a:prstGeom>
          <a:noFill/>
          <a:ln>
            <a:noFill/>
          </a:ln>
        </p:spPr>
        <p:txBody>
          <a:bodyPr wrap="none" lIns="45720" tIns="36576" rIns="45720" bIns="36576"/>
          <a:lstStyle/>
          <a:p>
            <a:pPr algn="ctr"/>
            <a:r>
              <a:rPr lang="en-US" sz="900" b="1" dirty="0">
                <a:solidFill>
                  <a:srgbClr val="FFFFFF"/>
                </a:solidFill>
              </a:rPr>
              <a:t>06</a:t>
            </a:r>
          </a:p>
        </p:txBody>
      </p:sp>
      <p:sp>
        <p:nvSpPr>
          <p:cNvPr id="36" name="CardTxt5">
            <a:extLst>
              <a:ext uri="{FF2B5EF4-FFF2-40B4-BE49-F238E27FC236}">
                <a16:creationId xmlns:a16="http://schemas.microsoft.com/office/drawing/2014/main" id="{2E41DD89-64C8-49AA-F137-D95456005FCF}"/>
              </a:ext>
            </a:extLst>
          </p:cNvPr>
          <p:cNvSpPr txBox="1">
            <a:spLocks noGrp="1"/>
          </p:cNvSpPr>
          <p:nvPr/>
        </p:nvSpPr>
        <p:spPr>
          <a:xfrm>
            <a:off x="6591300" y="2476500"/>
            <a:ext cx="5295900" cy="1041400"/>
          </a:xfrm>
          <a:prstGeom prst="rect">
            <a:avLst/>
          </a:prstGeom>
          <a:noFill/>
          <a:ln>
            <a:noFill/>
          </a:ln>
        </p:spPr>
        <p:txBody>
          <a:bodyPr wrap="square" lIns="45720" tIns="36576" rIns="45720" bIns="36576"/>
          <a:lstStyle/>
          <a:p>
            <a:pPr marL="0" indent="0">
              <a:spcBef>
                <a:spcPts val="0"/>
              </a:spcBef>
              <a:spcAft>
                <a:spcPts val="80"/>
              </a:spcAft>
            </a:pPr>
            <a:r>
              <a:rPr lang="en-US" sz="1600" b="1" dirty="0">
                <a:solidFill>
                  <a:srgbClr val="255C8D"/>
                </a:solidFill>
              </a:rPr>
              <a:t>Energy/CRE - Limited Transition Exposure</a:t>
            </a:r>
          </a:p>
          <a:p>
            <a:pPr marL="0" indent="0">
              <a:spcBef>
                <a:spcPts val="0"/>
              </a:spcBef>
            </a:pPr>
            <a:r>
              <a:rPr lang="en-US" sz="1200" dirty="0">
                <a:solidFill>
                  <a:srgbClr val="1C2833"/>
                </a:solidFill>
              </a:rPr>
              <a:t>0.2% restricted/prohibited exposure incl. high-emitting industries (limit 10%). CRE = 11% of loans; 62% residential, LTV ~50%. EPC KRIs tracked; ICAAP allocates explicit ESG capital buffer.</a:t>
            </a:r>
          </a:p>
        </p:txBody>
      </p:sp>
      <p:sp>
        <p:nvSpPr>
          <p:cNvPr id="37" name="Card6">
            <a:extLst>
              <a:ext uri="{FF2B5EF4-FFF2-40B4-BE49-F238E27FC236}">
                <a16:creationId xmlns:a16="http://schemas.microsoft.com/office/drawing/2014/main" id="{9E4F54CC-B6D2-7438-F9AE-0D8681F7C681}"/>
              </a:ext>
            </a:extLst>
          </p:cNvPr>
          <p:cNvSpPr>
            <a:spLocks noGrp="1"/>
          </p:cNvSpPr>
          <p:nvPr/>
        </p:nvSpPr>
        <p:spPr>
          <a:xfrm>
            <a:off x="6184900" y="3771900"/>
            <a:ext cx="5778500" cy="1168400"/>
          </a:xfrm>
          <a:prstGeom prst="rect">
            <a:avLst/>
          </a:prstGeom>
          <a:solidFill>
            <a:srgbClr val="F0F7FF"/>
          </a:solidFill>
          <a:ln>
            <a:solidFill>
              <a:srgbClr val="B2D1DD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38" name="CardBar6">
            <a:extLst>
              <a:ext uri="{FF2B5EF4-FFF2-40B4-BE49-F238E27FC236}">
                <a16:creationId xmlns:a16="http://schemas.microsoft.com/office/drawing/2014/main" id="{12CB9037-6828-1AC9-E41C-7FCD4A7A23E0}"/>
              </a:ext>
            </a:extLst>
          </p:cNvPr>
          <p:cNvSpPr>
            <a:spLocks noGrp="1"/>
          </p:cNvSpPr>
          <p:nvPr/>
        </p:nvSpPr>
        <p:spPr>
          <a:xfrm>
            <a:off x="6184900" y="3771900"/>
            <a:ext cx="50800" cy="1168400"/>
          </a:xfrm>
          <a:prstGeom prst="rect">
            <a:avLst/>
          </a:prstGeom>
          <a:solidFill>
            <a:srgbClr val="0B2B65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39" name="CardNum6">
            <a:extLst>
              <a:ext uri="{FF2B5EF4-FFF2-40B4-BE49-F238E27FC236}">
                <a16:creationId xmlns:a16="http://schemas.microsoft.com/office/drawing/2014/main" id="{0C86FA81-0A08-9A95-8743-C40A3251A38D}"/>
              </a:ext>
            </a:extLst>
          </p:cNvPr>
          <p:cNvSpPr>
            <a:spLocks noGrp="1"/>
          </p:cNvSpPr>
          <p:nvPr/>
        </p:nvSpPr>
        <p:spPr>
          <a:xfrm>
            <a:off x="6184900" y="3771900"/>
            <a:ext cx="355600" cy="254000"/>
          </a:xfrm>
          <a:prstGeom prst="rect">
            <a:avLst/>
          </a:prstGeom>
          <a:solidFill>
            <a:srgbClr val="0B2B65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40" name="CardNumT6">
            <a:extLst>
              <a:ext uri="{FF2B5EF4-FFF2-40B4-BE49-F238E27FC236}">
                <a16:creationId xmlns:a16="http://schemas.microsoft.com/office/drawing/2014/main" id="{FA472ADD-5C9B-0489-CF12-CB6B79D10B4E}"/>
              </a:ext>
            </a:extLst>
          </p:cNvPr>
          <p:cNvSpPr txBox="1">
            <a:spLocks noGrp="1"/>
          </p:cNvSpPr>
          <p:nvPr/>
        </p:nvSpPr>
        <p:spPr>
          <a:xfrm>
            <a:off x="6184900" y="3797300"/>
            <a:ext cx="355600" cy="254000"/>
          </a:xfrm>
          <a:prstGeom prst="rect">
            <a:avLst/>
          </a:prstGeom>
          <a:noFill/>
          <a:ln>
            <a:noFill/>
          </a:ln>
        </p:spPr>
        <p:txBody>
          <a:bodyPr wrap="none" lIns="45720" tIns="36576" rIns="45720" bIns="36576"/>
          <a:lstStyle/>
          <a:p>
            <a:pPr algn="ctr"/>
            <a:r>
              <a:rPr lang="en-US" sz="900" b="1" dirty="0">
                <a:solidFill>
                  <a:srgbClr val="FFFFFF"/>
                </a:solidFill>
              </a:rPr>
              <a:t>07</a:t>
            </a:r>
          </a:p>
        </p:txBody>
      </p:sp>
      <p:sp>
        <p:nvSpPr>
          <p:cNvPr id="41" name="CardTxt6">
            <a:extLst>
              <a:ext uri="{FF2B5EF4-FFF2-40B4-BE49-F238E27FC236}">
                <a16:creationId xmlns:a16="http://schemas.microsoft.com/office/drawing/2014/main" id="{7877EFBE-1F4E-709C-7EF2-2E7DCFB26915}"/>
              </a:ext>
            </a:extLst>
          </p:cNvPr>
          <p:cNvSpPr txBox="1">
            <a:spLocks noGrp="1"/>
          </p:cNvSpPr>
          <p:nvPr/>
        </p:nvSpPr>
        <p:spPr>
          <a:xfrm>
            <a:off x="6591300" y="3835400"/>
            <a:ext cx="5295900" cy="1041400"/>
          </a:xfrm>
          <a:prstGeom prst="rect">
            <a:avLst/>
          </a:prstGeom>
          <a:noFill/>
          <a:ln>
            <a:noFill/>
          </a:ln>
        </p:spPr>
        <p:txBody>
          <a:bodyPr wrap="square" lIns="45720" tIns="36576" rIns="45720" bIns="36576"/>
          <a:lstStyle/>
          <a:p>
            <a:pPr marL="0" indent="0">
              <a:spcBef>
                <a:spcPts val="0"/>
              </a:spcBef>
              <a:spcAft>
                <a:spcPts val="80"/>
              </a:spcAft>
            </a:pPr>
            <a:r>
              <a:rPr lang="en-US" sz="1600" b="1" dirty="0">
                <a:solidFill>
                  <a:srgbClr val="0B2B65"/>
                </a:solidFill>
              </a:rPr>
              <a:t>Profitability - Peer-Leading Efficiency</a:t>
            </a:r>
          </a:p>
          <a:p>
            <a:pPr marL="0" indent="0">
              <a:spcBef>
                <a:spcPts val="0"/>
              </a:spcBef>
            </a:pPr>
            <a:r>
              <a:rPr lang="en-US" sz="1200" dirty="0">
                <a:solidFill>
                  <a:srgbClr val="1C2833"/>
                </a:solidFill>
              </a:rPr>
              <a:t>RoTCE 26.9%, CIR 36.1%, NIM 3.29%. NII €1,836.5m = 83% of revenues. Net profit €859.9m (+13% YoY). Digital model drives structural cost advantage.</a:t>
            </a:r>
          </a:p>
        </p:txBody>
      </p:sp>
      <p:sp>
        <p:nvSpPr>
          <p:cNvPr id="42" name="Card7">
            <a:extLst>
              <a:ext uri="{FF2B5EF4-FFF2-40B4-BE49-F238E27FC236}">
                <a16:creationId xmlns:a16="http://schemas.microsoft.com/office/drawing/2014/main" id="{ACC2B1CE-EDC6-3CF4-88CE-67174A488172}"/>
              </a:ext>
            </a:extLst>
          </p:cNvPr>
          <p:cNvSpPr>
            <a:spLocks noGrp="1"/>
          </p:cNvSpPr>
          <p:nvPr/>
        </p:nvSpPr>
        <p:spPr>
          <a:xfrm>
            <a:off x="6184900" y="5130800"/>
            <a:ext cx="5778500" cy="1168400"/>
          </a:xfrm>
          <a:prstGeom prst="rect">
            <a:avLst/>
          </a:prstGeom>
          <a:solidFill>
            <a:srgbClr val="F0F7FF"/>
          </a:solidFill>
          <a:ln>
            <a:solidFill>
              <a:srgbClr val="B2D1DD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43" name="CardBar7">
            <a:extLst>
              <a:ext uri="{FF2B5EF4-FFF2-40B4-BE49-F238E27FC236}">
                <a16:creationId xmlns:a16="http://schemas.microsoft.com/office/drawing/2014/main" id="{C49EB4F5-8512-F492-2FBC-9932309AEED5}"/>
              </a:ext>
            </a:extLst>
          </p:cNvPr>
          <p:cNvSpPr>
            <a:spLocks noGrp="1"/>
          </p:cNvSpPr>
          <p:nvPr/>
        </p:nvSpPr>
        <p:spPr>
          <a:xfrm>
            <a:off x="6184900" y="5130800"/>
            <a:ext cx="50800" cy="1168400"/>
          </a:xfrm>
          <a:prstGeom prst="rect">
            <a:avLst/>
          </a:prstGeom>
          <a:solidFill>
            <a:srgbClr val="1A5187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44" name="CardNum7">
            <a:extLst>
              <a:ext uri="{FF2B5EF4-FFF2-40B4-BE49-F238E27FC236}">
                <a16:creationId xmlns:a16="http://schemas.microsoft.com/office/drawing/2014/main" id="{5589B7AB-3C8B-B492-7EFC-ACD345BA3B59}"/>
              </a:ext>
            </a:extLst>
          </p:cNvPr>
          <p:cNvSpPr>
            <a:spLocks noGrp="1"/>
          </p:cNvSpPr>
          <p:nvPr/>
        </p:nvSpPr>
        <p:spPr>
          <a:xfrm>
            <a:off x="6184900" y="5130800"/>
            <a:ext cx="355600" cy="254000"/>
          </a:xfrm>
          <a:prstGeom prst="rect">
            <a:avLst/>
          </a:prstGeom>
          <a:solidFill>
            <a:srgbClr val="1A5187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45" name="CardNumT7">
            <a:extLst>
              <a:ext uri="{FF2B5EF4-FFF2-40B4-BE49-F238E27FC236}">
                <a16:creationId xmlns:a16="http://schemas.microsoft.com/office/drawing/2014/main" id="{E1B444E4-187F-3588-247D-4907E0A8B90B}"/>
              </a:ext>
            </a:extLst>
          </p:cNvPr>
          <p:cNvSpPr txBox="1">
            <a:spLocks noGrp="1"/>
          </p:cNvSpPr>
          <p:nvPr/>
        </p:nvSpPr>
        <p:spPr>
          <a:xfrm>
            <a:off x="6184900" y="5156200"/>
            <a:ext cx="355600" cy="254000"/>
          </a:xfrm>
          <a:prstGeom prst="rect">
            <a:avLst/>
          </a:prstGeom>
          <a:noFill/>
          <a:ln>
            <a:noFill/>
          </a:ln>
        </p:spPr>
        <p:txBody>
          <a:bodyPr wrap="none" lIns="45720" tIns="36576" rIns="45720" bIns="36576"/>
          <a:lstStyle/>
          <a:p>
            <a:pPr algn="ctr"/>
            <a:r>
              <a:rPr lang="en-US" sz="900" b="1" dirty="0">
                <a:solidFill>
                  <a:srgbClr val="FFFFFF"/>
                </a:solidFill>
              </a:rPr>
              <a:t>08</a:t>
            </a:r>
          </a:p>
        </p:txBody>
      </p:sp>
      <p:sp>
        <p:nvSpPr>
          <p:cNvPr id="46" name="CardTxt7">
            <a:extLst>
              <a:ext uri="{FF2B5EF4-FFF2-40B4-BE49-F238E27FC236}">
                <a16:creationId xmlns:a16="http://schemas.microsoft.com/office/drawing/2014/main" id="{C6E542CE-9355-A038-DD87-ED1D48472BD0}"/>
              </a:ext>
            </a:extLst>
          </p:cNvPr>
          <p:cNvSpPr txBox="1">
            <a:spLocks noGrp="1"/>
          </p:cNvSpPr>
          <p:nvPr/>
        </p:nvSpPr>
        <p:spPr>
          <a:xfrm>
            <a:off x="6591300" y="5194300"/>
            <a:ext cx="5295900" cy="1041400"/>
          </a:xfrm>
          <a:prstGeom prst="rect">
            <a:avLst/>
          </a:prstGeom>
          <a:noFill/>
          <a:ln>
            <a:noFill/>
          </a:ln>
        </p:spPr>
        <p:txBody>
          <a:bodyPr wrap="square" lIns="45720" tIns="36576" rIns="45720" bIns="36576"/>
          <a:lstStyle/>
          <a:p>
            <a:pPr marL="0" indent="0">
              <a:spcBef>
                <a:spcPts val="0"/>
              </a:spcBef>
              <a:spcAft>
                <a:spcPts val="80"/>
              </a:spcAft>
            </a:pPr>
            <a:r>
              <a:rPr lang="en-US" sz="1600" b="1" dirty="0">
                <a:solidFill>
                  <a:srgbClr val="1A5187"/>
                </a:solidFill>
              </a:rPr>
              <a:t>Overall - Investment-Grade Risk Profile</a:t>
            </a:r>
          </a:p>
          <a:p>
            <a:pPr marL="0" indent="0">
              <a:spcBef>
                <a:spcPts val="0"/>
              </a:spcBef>
            </a:pPr>
            <a:r>
              <a:rPr lang="en-US" sz="1200" dirty="0">
                <a:solidFill>
                  <a:srgbClr val="1C2833"/>
                </a:solidFill>
              </a:rPr>
              <a:t>Well-managed, low-complexity risk profile. Full EBA Pillar 3 templates published; information transparent and adequate. Key watch-points: IRRBB in rate-fall scenario, energy transition path, cyber/IT operational dependency.</a:t>
            </a:r>
          </a:p>
        </p:txBody>
      </p:sp>
    </p:spTree>
    <p:extLst>
      <p:ext uri="{BB962C8B-B14F-4D97-AF65-F5344CB8AC3E}">
        <p14:creationId xmlns:p14="http://schemas.microsoft.com/office/powerpoint/2010/main" val="3825849002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1">
          <a:extLst>
            <a:ext uri="{FF2B5EF4-FFF2-40B4-BE49-F238E27FC236}">
              <a16:creationId xmlns:a16="http://schemas.microsoft.com/office/drawing/2014/main" id="{26436F24-996E-19DD-A094-8BE02D7C3C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7F71D55-D50D-7260-0AE5-68D3AE8627B0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b="1" dirty="0">
                <a:latin typeface="+mj-lt"/>
              </a:rPr>
              <a:t>Thank you!</a:t>
            </a:r>
          </a:p>
        </p:txBody>
      </p:sp>
      <p:sp>
        <p:nvSpPr>
          <p:cNvPr id="2" name="Google Shape;353;p50">
            <a:extLst>
              <a:ext uri="{FF2B5EF4-FFF2-40B4-BE49-F238E27FC236}">
                <a16:creationId xmlns:a16="http://schemas.microsoft.com/office/drawing/2014/main" id="{A503FA82-843A-F323-2EAC-8FF4CCCD4FFD}"/>
              </a:ext>
            </a:extLst>
          </p:cNvPr>
          <p:cNvSpPr/>
          <p:nvPr/>
        </p:nvSpPr>
        <p:spPr>
          <a:xfrm flipH="1">
            <a:off x="-1" y="537695"/>
            <a:ext cx="12192000" cy="6320306"/>
          </a:xfrm>
          <a:custGeom>
            <a:avLst/>
            <a:gdLst/>
            <a:ahLst/>
            <a:cxnLst/>
            <a:rect l="l" t="t" r="r" b="b"/>
            <a:pathLst>
              <a:path w="9144000" h="5460523" extrusionOk="0">
                <a:moveTo>
                  <a:pt x="4436018" y="2980724"/>
                </a:moveTo>
                <a:lnTo>
                  <a:pt x="4693763" y="3242405"/>
                </a:lnTo>
                <a:cubicBezTo>
                  <a:pt x="4687415" y="3248693"/>
                  <a:pt x="4664137" y="3264719"/>
                  <a:pt x="4624354" y="3299812"/>
                </a:cubicBezTo>
                <a:cubicBezTo>
                  <a:pt x="4561716" y="3350931"/>
                  <a:pt x="4449138" y="3315838"/>
                  <a:pt x="4392848" y="3296567"/>
                </a:cubicBezTo>
                <a:lnTo>
                  <a:pt x="4376342" y="3293321"/>
                </a:lnTo>
                <a:cubicBezTo>
                  <a:pt x="4445752" y="3168972"/>
                  <a:pt x="4438980" y="2990258"/>
                  <a:pt x="4436018" y="2980724"/>
                </a:cubicBezTo>
                <a:close/>
                <a:moveTo>
                  <a:pt x="4104971" y="2297718"/>
                </a:moveTo>
                <a:cubicBezTo>
                  <a:pt x="4124827" y="2320061"/>
                  <a:pt x="4147978" y="2342404"/>
                  <a:pt x="4167834" y="2364730"/>
                </a:cubicBezTo>
                <a:cubicBezTo>
                  <a:pt x="4194301" y="2390267"/>
                  <a:pt x="4217452" y="2409415"/>
                  <a:pt x="4240623" y="2431758"/>
                </a:cubicBezTo>
                <a:cubicBezTo>
                  <a:pt x="4283630" y="2470055"/>
                  <a:pt x="4329953" y="2508352"/>
                  <a:pt x="4376276" y="2546649"/>
                </a:cubicBezTo>
                <a:cubicBezTo>
                  <a:pt x="4379592" y="2562604"/>
                  <a:pt x="4382887" y="2575364"/>
                  <a:pt x="4382887" y="2591318"/>
                </a:cubicBezTo>
                <a:cubicBezTo>
                  <a:pt x="4386203" y="2607272"/>
                  <a:pt x="4389519" y="2626421"/>
                  <a:pt x="4392815" y="2642375"/>
                </a:cubicBezTo>
                <a:lnTo>
                  <a:pt x="4396131" y="2651958"/>
                </a:lnTo>
                <a:lnTo>
                  <a:pt x="4406059" y="2651958"/>
                </a:lnTo>
                <a:cubicBezTo>
                  <a:pt x="4415987" y="2655152"/>
                  <a:pt x="4429210" y="2655152"/>
                  <a:pt x="4439138" y="2655152"/>
                </a:cubicBezTo>
                <a:cubicBezTo>
                  <a:pt x="4449066" y="2655152"/>
                  <a:pt x="4462309" y="2658330"/>
                  <a:pt x="4472237" y="2658330"/>
                </a:cubicBezTo>
                <a:cubicBezTo>
                  <a:pt x="4495388" y="2661524"/>
                  <a:pt x="4518560" y="2661524"/>
                  <a:pt x="4541711" y="2664718"/>
                </a:cubicBezTo>
                <a:cubicBezTo>
                  <a:pt x="4518560" y="2658330"/>
                  <a:pt x="4498704" y="2648764"/>
                  <a:pt x="4475533" y="2642375"/>
                </a:cubicBezTo>
                <a:cubicBezTo>
                  <a:pt x="4465605" y="2639181"/>
                  <a:pt x="4452382" y="2636004"/>
                  <a:pt x="4442454" y="2632810"/>
                </a:cubicBezTo>
                <a:cubicBezTo>
                  <a:pt x="4435842" y="2629615"/>
                  <a:pt x="4425914" y="2629615"/>
                  <a:pt x="4419303" y="2626421"/>
                </a:cubicBezTo>
                <a:cubicBezTo>
                  <a:pt x="4419303" y="2610467"/>
                  <a:pt x="4415987" y="2597707"/>
                  <a:pt x="4415987" y="2581735"/>
                </a:cubicBezTo>
                <a:cubicBezTo>
                  <a:pt x="4412671" y="2565781"/>
                  <a:pt x="4412671" y="2546632"/>
                  <a:pt x="4409375" y="2530678"/>
                </a:cubicBezTo>
                <a:lnTo>
                  <a:pt x="4409375" y="2524307"/>
                </a:lnTo>
                <a:lnTo>
                  <a:pt x="4402763" y="2521112"/>
                </a:lnTo>
                <a:cubicBezTo>
                  <a:pt x="4356440" y="2479621"/>
                  <a:pt x="4306802" y="2441324"/>
                  <a:pt x="4260479" y="2403027"/>
                </a:cubicBezTo>
                <a:cubicBezTo>
                  <a:pt x="4237328" y="2383878"/>
                  <a:pt x="4210860" y="2364730"/>
                  <a:pt x="4184373" y="2348775"/>
                </a:cubicBezTo>
                <a:cubicBezTo>
                  <a:pt x="4157906" y="2329627"/>
                  <a:pt x="4134754" y="2313672"/>
                  <a:pt x="4104971" y="2297718"/>
                </a:cubicBezTo>
                <a:close/>
                <a:moveTo>
                  <a:pt x="4336577" y="2074331"/>
                </a:moveTo>
                <a:cubicBezTo>
                  <a:pt x="4359736" y="2103048"/>
                  <a:pt x="4379589" y="2122198"/>
                  <a:pt x="4399442" y="2141349"/>
                </a:cubicBezTo>
                <a:cubicBezTo>
                  <a:pt x="4422601" y="2163682"/>
                  <a:pt x="4445760" y="2182833"/>
                  <a:pt x="4465613" y="2205183"/>
                </a:cubicBezTo>
                <a:cubicBezTo>
                  <a:pt x="4508624" y="2243467"/>
                  <a:pt x="4554942" y="2281768"/>
                  <a:pt x="4601259" y="2320069"/>
                </a:cubicBezTo>
                <a:cubicBezTo>
                  <a:pt x="4604565" y="2336019"/>
                  <a:pt x="4607870" y="2348786"/>
                  <a:pt x="4607870" y="2364736"/>
                </a:cubicBezTo>
                <a:cubicBezTo>
                  <a:pt x="4611196" y="2380703"/>
                  <a:pt x="4614501" y="2399836"/>
                  <a:pt x="4617807" y="2415803"/>
                </a:cubicBezTo>
                <a:lnTo>
                  <a:pt x="4621112" y="2425370"/>
                </a:lnTo>
                <a:lnTo>
                  <a:pt x="4631049" y="2425370"/>
                </a:lnTo>
                <a:cubicBezTo>
                  <a:pt x="4640965" y="2428570"/>
                  <a:pt x="4654207" y="2428570"/>
                  <a:pt x="4664124" y="2428570"/>
                </a:cubicBezTo>
                <a:cubicBezTo>
                  <a:pt x="4674061" y="2428570"/>
                  <a:pt x="4687283" y="2431754"/>
                  <a:pt x="4697219" y="2431754"/>
                </a:cubicBezTo>
                <a:cubicBezTo>
                  <a:pt x="4720378" y="2434937"/>
                  <a:pt x="4743537" y="2434937"/>
                  <a:pt x="4766695" y="2438137"/>
                </a:cubicBezTo>
                <a:cubicBezTo>
                  <a:pt x="4743537" y="2431754"/>
                  <a:pt x="4723683" y="2422187"/>
                  <a:pt x="4700525" y="2415803"/>
                </a:cubicBezTo>
                <a:cubicBezTo>
                  <a:pt x="4690588" y="2412603"/>
                  <a:pt x="4677366" y="2409420"/>
                  <a:pt x="4667430" y="2406220"/>
                </a:cubicBezTo>
                <a:cubicBezTo>
                  <a:pt x="4660819" y="2403037"/>
                  <a:pt x="4650902" y="2403037"/>
                  <a:pt x="4644271" y="2399836"/>
                </a:cubicBezTo>
                <a:cubicBezTo>
                  <a:pt x="4644271" y="2383886"/>
                  <a:pt x="4640965" y="2371119"/>
                  <a:pt x="4640965" y="2355169"/>
                </a:cubicBezTo>
                <a:cubicBezTo>
                  <a:pt x="4637660" y="2339202"/>
                  <a:pt x="4637660" y="2320052"/>
                  <a:pt x="4634354" y="2304102"/>
                </a:cubicBezTo>
                <a:lnTo>
                  <a:pt x="4634354" y="2297718"/>
                </a:lnTo>
                <a:lnTo>
                  <a:pt x="4627743" y="2294535"/>
                </a:lnTo>
                <a:cubicBezTo>
                  <a:pt x="4581426" y="2253051"/>
                  <a:pt x="4531783" y="2214750"/>
                  <a:pt x="4485466" y="2176449"/>
                </a:cubicBezTo>
                <a:cubicBezTo>
                  <a:pt x="4462307" y="2157299"/>
                  <a:pt x="4435843" y="2138149"/>
                  <a:pt x="4409359" y="2122198"/>
                </a:cubicBezTo>
                <a:cubicBezTo>
                  <a:pt x="4386200" y="2106248"/>
                  <a:pt x="4363041" y="2090281"/>
                  <a:pt x="4336577" y="2074331"/>
                </a:cubicBezTo>
                <a:close/>
                <a:moveTo>
                  <a:pt x="2457429" y="1905197"/>
                </a:moveTo>
                <a:cubicBezTo>
                  <a:pt x="2533186" y="1905197"/>
                  <a:pt x="2596247" y="1965850"/>
                  <a:pt x="2596247" y="2039283"/>
                </a:cubicBezTo>
                <a:cubicBezTo>
                  <a:pt x="2596247" y="2112715"/>
                  <a:pt x="2533186" y="2173369"/>
                  <a:pt x="2457429" y="2173369"/>
                </a:cubicBezTo>
                <a:cubicBezTo>
                  <a:pt x="2381248" y="2173369"/>
                  <a:pt x="2318187" y="2112715"/>
                  <a:pt x="2318187" y="2039283"/>
                </a:cubicBezTo>
                <a:cubicBezTo>
                  <a:pt x="2318187" y="1965850"/>
                  <a:pt x="2381248" y="1905197"/>
                  <a:pt x="2457429" y="1905197"/>
                </a:cubicBezTo>
                <a:close/>
                <a:moveTo>
                  <a:pt x="6688857" y="1771111"/>
                </a:moveTo>
                <a:cubicBezTo>
                  <a:pt x="6613099" y="1771111"/>
                  <a:pt x="6550039" y="1831764"/>
                  <a:pt x="6550039" y="1905197"/>
                </a:cubicBezTo>
                <a:cubicBezTo>
                  <a:pt x="6550039" y="1978629"/>
                  <a:pt x="6613099" y="2039283"/>
                  <a:pt x="6688857" y="2039283"/>
                </a:cubicBezTo>
                <a:cubicBezTo>
                  <a:pt x="6765038" y="2039283"/>
                  <a:pt x="6828099" y="1978629"/>
                  <a:pt x="6828099" y="1905197"/>
                </a:cubicBezTo>
                <a:cubicBezTo>
                  <a:pt x="6828099" y="1831764"/>
                  <a:pt x="6765038" y="1771111"/>
                  <a:pt x="6688857" y="1771111"/>
                </a:cubicBezTo>
                <a:close/>
                <a:moveTo>
                  <a:pt x="2286" y="0"/>
                </a:moveTo>
                <a:lnTo>
                  <a:pt x="2286" y="989315"/>
                </a:lnTo>
                <a:lnTo>
                  <a:pt x="2286" y="2032791"/>
                </a:lnTo>
                <a:lnTo>
                  <a:pt x="2286" y="3719687"/>
                </a:lnTo>
                <a:lnTo>
                  <a:pt x="0" y="3719687"/>
                </a:lnTo>
                <a:lnTo>
                  <a:pt x="0" y="4081545"/>
                </a:lnTo>
                <a:lnTo>
                  <a:pt x="0" y="5098665"/>
                </a:lnTo>
                <a:lnTo>
                  <a:pt x="0" y="5460523"/>
                </a:lnTo>
                <a:lnTo>
                  <a:pt x="9144000" y="5460523"/>
                </a:lnTo>
                <a:lnTo>
                  <a:pt x="9144000" y="5098665"/>
                </a:lnTo>
                <a:lnTo>
                  <a:pt x="9144000" y="4381628"/>
                </a:lnTo>
                <a:lnTo>
                  <a:pt x="9144000" y="4081545"/>
                </a:lnTo>
                <a:lnTo>
                  <a:pt x="9144000" y="3719687"/>
                </a:lnTo>
                <a:lnTo>
                  <a:pt x="9144000" y="1209410"/>
                </a:lnTo>
                <a:lnTo>
                  <a:pt x="6596170" y="2227530"/>
                </a:lnTo>
                <a:cubicBezTo>
                  <a:pt x="6523375" y="2256335"/>
                  <a:pt x="6467509" y="2233819"/>
                  <a:pt x="6447617" y="2182903"/>
                </a:cubicBezTo>
                <a:lnTo>
                  <a:pt x="6394714" y="2048817"/>
                </a:lnTo>
                <a:lnTo>
                  <a:pt x="6298641" y="2093444"/>
                </a:lnTo>
                <a:cubicBezTo>
                  <a:pt x="6249124" y="2115758"/>
                  <a:pt x="6189449" y="2096690"/>
                  <a:pt x="6166171" y="2048817"/>
                </a:cubicBezTo>
                <a:lnTo>
                  <a:pt x="5736172" y="1148960"/>
                </a:lnTo>
                <a:cubicBezTo>
                  <a:pt x="5607088" y="1209410"/>
                  <a:pt x="5425100" y="1279800"/>
                  <a:pt x="5352305" y="1305157"/>
                </a:cubicBezTo>
                <a:cubicBezTo>
                  <a:pt x="5359076" y="1308403"/>
                  <a:pt x="5365425" y="1308403"/>
                  <a:pt x="5368810" y="1311648"/>
                </a:cubicBezTo>
                <a:cubicBezTo>
                  <a:pt x="5398860" y="1324428"/>
                  <a:pt x="5428486" y="1340251"/>
                  <a:pt x="5451763" y="1359522"/>
                </a:cubicBezTo>
                <a:cubicBezTo>
                  <a:pt x="5458111" y="1365810"/>
                  <a:pt x="5464883" y="1369056"/>
                  <a:pt x="5471232" y="1375547"/>
                </a:cubicBezTo>
                <a:lnTo>
                  <a:pt x="5488161" y="1391370"/>
                </a:lnTo>
                <a:cubicBezTo>
                  <a:pt x="5494509" y="1397861"/>
                  <a:pt x="5497895" y="1404149"/>
                  <a:pt x="5504666" y="1410641"/>
                </a:cubicBezTo>
                <a:lnTo>
                  <a:pt x="5511015" y="1420175"/>
                </a:lnTo>
                <a:lnTo>
                  <a:pt x="5517787" y="1429709"/>
                </a:lnTo>
                <a:cubicBezTo>
                  <a:pt x="5537679" y="1455268"/>
                  <a:pt x="5550798" y="1483871"/>
                  <a:pt x="5560956" y="1515921"/>
                </a:cubicBezTo>
                <a:cubicBezTo>
                  <a:pt x="5547413" y="1487116"/>
                  <a:pt x="5530907" y="1458514"/>
                  <a:pt x="5511015" y="1435997"/>
                </a:cubicBezTo>
                <a:lnTo>
                  <a:pt x="5504666" y="1426463"/>
                </a:lnTo>
                <a:lnTo>
                  <a:pt x="5494509" y="1416929"/>
                </a:lnTo>
                <a:cubicBezTo>
                  <a:pt x="5488161" y="1410641"/>
                  <a:pt x="5484775" y="1407395"/>
                  <a:pt x="5478004" y="1400904"/>
                </a:cubicBezTo>
                <a:lnTo>
                  <a:pt x="5461498" y="1388124"/>
                </a:lnTo>
                <a:cubicBezTo>
                  <a:pt x="5454726" y="1381835"/>
                  <a:pt x="5448378" y="1378590"/>
                  <a:pt x="5441606" y="1375344"/>
                </a:cubicBezTo>
                <a:cubicBezTo>
                  <a:pt x="5415365" y="1359522"/>
                  <a:pt x="5388702" y="1346742"/>
                  <a:pt x="5359076" y="1337208"/>
                </a:cubicBezTo>
                <a:cubicBezTo>
                  <a:pt x="5345533" y="1333962"/>
                  <a:pt x="5329027" y="1327674"/>
                  <a:pt x="5315907" y="1324428"/>
                </a:cubicBezTo>
                <a:cubicBezTo>
                  <a:pt x="5309135" y="1324428"/>
                  <a:pt x="5306173" y="1321182"/>
                  <a:pt x="5299401" y="1321182"/>
                </a:cubicBezTo>
                <a:lnTo>
                  <a:pt x="5296016" y="1321182"/>
                </a:lnTo>
                <a:lnTo>
                  <a:pt x="5292630" y="1321182"/>
                </a:lnTo>
                <a:cubicBezTo>
                  <a:pt x="5120800" y="1295623"/>
                  <a:pt x="4690800" y="1241461"/>
                  <a:pt x="4647631" y="1241461"/>
                </a:cubicBezTo>
                <a:cubicBezTo>
                  <a:pt x="4634511" y="1244504"/>
                  <a:pt x="4574836" y="1276555"/>
                  <a:pt x="4498655" y="1321182"/>
                </a:cubicBezTo>
                <a:lnTo>
                  <a:pt x="4478764" y="1333962"/>
                </a:lnTo>
                <a:cubicBezTo>
                  <a:pt x="4359837" y="1404149"/>
                  <a:pt x="4201126" y="1506387"/>
                  <a:pt x="4081776" y="1579617"/>
                </a:cubicBezTo>
                <a:cubicBezTo>
                  <a:pt x="4072042" y="1614711"/>
                  <a:pt x="4022101" y="1777602"/>
                  <a:pt x="3972583" y="1937045"/>
                </a:cubicBezTo>
                <a:cubicBezTo>
                  <a:pt x="3972583" y="1937045"/>
                  <a:pt x="3899788" y="2144563"/>
                  <a:pt x="3879896" y="2189191"/>
                </a:cubicBezTo>
                <a:cubicBezTo>
                  <a:pt x="3876510" y="2195682"/>
                  <a:pt x="3873548" y="2201971"/>
                  <a:pt x="3873548" y="2208462"/>
                </a:cubicBezTo>
                <a:cubicBezTo>
                  <a:pt x="3873548" y="2211505"/>
                  <a:pt x="3873548" y="2211505"/>
                  <a:pt x="3873548" y="2211505"/>
                </a:cubicBezTo>
                <a:cubicBezTo>
                  <a:pt x="3876510" y="2221039"/>
                  <a:pt x="3883282" y="2227530"/>
                  <a:pt x="3890054" y="2233819"/>
                </a:cubicBezTo>
                <a:cubicBezTo>
                  <a:pt x="3890054" y="2233819"/>
                  <a:pt x="3893016" y="2233819"/>
                  <a:pt x="3896402" y="2237064"/>
                </a:cubicBezTo>
                <a:cubicBezTo>
                  <a:pt x="3903174" y="2240310"/>
                  <a:pt x="3906560" y="2243556"/>
                  <a:pt x="3912908" y="2246598"/>
                </a:cubicBezTo>
                <a:cubicBezTo>
                  <a:pt x="3926451" y="2253090"/>
                  <a:pt x="3946343" y="2256335"/>
                  <a:pt x="3972583" y="2259378"/>
                </a:cubicBezTo>
                <a:cubicBezTo>
                  <a:pt x="4048764" y="2243556"/>
                  <a:pt x="4147799" y="2201971"/>
                  <a:pt x="4190969" y="2160589"/>
                </a:cubicBezTo>
                <a:cubicBezTo>
                  <a:pt x="4256992" y="2099936"/>
                  <a:pt x="4323439" y="2029748"/>
                  <a:pt x="4379728" y="1965850"/>
                </a:cubicBezTo>
                <a:cubicBezTo>
                  <a:pt x="4462258" y="1870103"/>
                  <a:pt x="4528281" y="1796670"/>
                  <a:pt x="4584570" y="1777602"/>
                </a:cubicBezTo>
                <a:cubicBezTo>
                  <a:pt x="4584570" y="1768068"/>
                  <a:pt x="4584570" y="1755288"/>
                  <a:pt x="4584570" y="1745551"/>
                </a:cubicBezTo>
                <a:cubicBezTo>
                  <a:pt x="4581608" y="1723237"/>
                  <a:pt x="4578222" y="1700923"/>
                  <a:pt x="4574836" y="1678610"/>
                </a:cubicBezTo>
                <a:cubicBezTo>
                  <a:pt x="4568065" y="1656296"/>
                  <a:pt x="4561716" y="1633982"/>
                  <a:pt x="4551559" y="1614711"/>
                </a:cubicBezTo>
                <a:cubicBezTo>
                  <a:pt x="4541824" y="1595643"/>
                  <a:pt x="4528281" y="1573329"/>
                  <a:pt x="4515161" y="1557303"/>
                </a:cubicBezTo>
                <a:cubicBezTo>
                  <a:pt x="4531667" y="1573329"/>
                  <a:pt x="4548173" y="1589354"/>
                  <a:pt x="4561716" y="1611668"/>
                </a:cubicBezTo>
                <a:cubicBezTo>
                  <a:pt x="4574836" y="1630736"/>
                  <a:pt x="4584570" y="1653050"/>
                  <a:pt x="4591342" y="1675364"/>
                </a:cubicBezTo>
                <a:cubicBezTo>
                  <a:pt x="4601076" y="1697678"/>
                  <a:pt x="4607848" y="1720195"/>
                  <a:pt x="4611234" y="1742508"/>
                </a:cubicBezTo>
                <a:cubicBezTo>
                  <a:pt x="4614620" y="1752042"/>
                  <a:pt x="4614620" y="1764822"/>
                  <a:pt x="4618005" y="1774356"/>
                </a:cubicBezTo>
                <a:cubicBezTo>
                  <a:pt x="4624354" y="1774356"/>
                  <a:pt x="4627740" y="1774356"/>
                  <a:pt x="4634511" y="1777602"/>
                </a:cubicBezTo>
                <a:cubicBezTo>
                  <a:pt x="4684029" y="1793424"/>
                  <a:pt x="4773330" y="1873349"/>
                  <a:pt x="4852897" y="1940290"/>
                </a:cubicBezTo>
                <a:cubicBezTo>
                  <a:pt x="4889294" y="1972138"/>
                  <a:pt x="4928654" y="2007232"/>
                  <a:pt x="4955318" y="2026503"/>
                </a:cubicBezTo>
                <a:cubicBezTo>
                  <a:pt x="4968437" y="2032791"/>
                  <a:pt x="4988329" y="2039283"/>
                  <a:pt x="4988329" y="2042325"/>
                </a:cubicBezTo>
                <a:cubicBezTo>
                  <a:pt x="4988329" y="2042325"/>
                  <a:pt x="4991715" y="2042325"/>
                  <a:pt x="4991715" y="2042325"/>
                </a:cubicBezTo>
                <a:cubicBezTo>
                  <a:pt x="4998486" y="2042325"/>
                  <a:pt x="5001449" y="2042325"/>
                  <a:pt x="5008221" y="2042325"/>
                </a:cubicBezTo>
                <a:cubicBezTo>
                  <a:pt x="5021341" y="2042325"/>
                  <a:pt x="5031499" y="2042325"/>
                  <a:pt x="5044618" y="2039283"/>
                </a:cubicBezTo>
                <a:cubicBezTo>
                  <a:pt x="5067896" y="2036037"/>
                  <a:pt x="5094136" y="2036037"/>
                  <a:pt x="5117413" y="2032791"/>
                </a:cubicBezTo>
                <a:cubicBezTo>
                  <a:pt x="5163545" y="2026503"/>
                  <a:pt x="5213486" y="2016969"/>
                  <a:pt x="5259618" y="2007232"/>
                </a:cubicBezTo>
                <a:cubicBezTo>
                  <a:pt x="5306173" y="1994655"/>
                  <a:pt x="5352305" y="1981875"/>
                  <a:pt x="5398436" y="1962604"/>
                </a:cubicBezTo>
                <a:cubicBezTo>
                  <a:pt x="5421714" y="1953070"/>
                  <a:pt x="5441606" y="1940290"/>
                  <a:pt x="5461498" y="1924265"/>
                </a:cubicBezTo>
                <a:cubicBezTo>
                  <a:pt x="5481389" y="1908442"/>
                  <a:pt x="5497895" y="1889171"/>
                  <a:pt x="5504666" y="1866857"/>
                </a:cubicBezTo>
                <a:cubicBezTo>
                  <a:pt x="5501281" y="1892417"/>
                  <a:pt x="5484775" y="1911485"/>
                  <a:pt x="5464883" y="1927510"/>
                </a:cubicBezTo>
                <a:cubicBezTo>
                  <a:pt x="5444991" y="1943536"/>
                  <a:pt x="5425100" y="1956316"/>
                  <a:pt x="5401823" y="1969095"/>
                </a:cubicBezTo>
                <a:cubicBezTo>
                  <a:pt x="5359076" y="1991409"/>
                  <a:pt x="5312521" y="2010477"/>
                  <a:pt x="5266390" y="2023257"/>
                </a:cubicBezTo>
                <a:cubicBezTo>
                  <a:pt x="5219835" y="2036037"/>
                  <a:pt x="5170317" y="2048817"/>
                  <a:pt x="5124185" y="2058351"/>
                </a:cubicBezTo>
                <a:cubicBezTo>
                  <a:pt x="5100908" y="2061596"/>
                  <a:pt x="5074244" y="2067885"/>
                  <a:pt x="5051390" y="2071130"/>
                </a:cubicBezTo>
                <a:cubicBezTo>
                  <a:pt x="5048004" y="2071130"/>
                  <a:pt x="5041233" y="2071130"/>
                  <a:pt x="5037847" y="2071130"/>
                </a:cubicBezTo>
                <a:cubicBezTo>
                  <a:pt x="5041233" y="2071130"/>
                  <a:pt x="5041233" y="2074376"/>
                  <a:pt x="5044618" y="2074376"/>
                </a:cubicBezTo>
                <a:cubicBezTo>
                  <a:pt x="5064510" y="2087156"/>
                  <a:pt x="5084402" y="2096690"/>
                  <a:pt x="5107680" y="2102978"/>
                </a:cubicBezTo>
                <a:cubicBezTo>
                  <a:pt x="5130534" y="2112715"/>
                  <a:pt x="5150426" y="2115758"/>
                  <a:pt x="5173703" y="2122250"/>
                </a:cubicBezTo>
                <a:cubicBezTo>
                  <a:pt x="5196981" y="2125495"/>
                  <a:pt x="5219835" y="2128538"/>
                  <a:pt x="5243112" y="2125495"/>
                </a:cubicBezTo>
                <a:cubicBezTo>
                  <a:pt x="5219835" y="2131784"/>
                  <a:pt x="5196981" y="2138072"/>
                  <a:pt x="5170317" y="2138072"/>
                </a:cubicBezTo>
                <a:cubicBezTo>
                  <a:pt x="5147039" y="2141318"/>
                  <a:pt x="5120800" y="2138072"/>
                  <a:pt x="5097522" y="2138072"/>
                </a:cubicBezTo>
                <a:cubicBezTo>
                  <a:pt x="5084402" y="2138072"/>
                  <a:pt x="5071282" y="2135029"/>
                  <a:pt x="5057738" y="2131784"/>
                </a:cubicBezTo>
                <a:lnTo>
                  <a:pt x="5153811" y="2278649"/>
                </a:lnTo>
                <a:cubicBezTo>
                  <a:pt x="5180474" y="2304006"/>
                  <a:pt x="5206715" y="2326523"/>
                  <a:pt x="5229992" y="2348837"/>
                </a:cubicBezTo>
                <a:lnTo>
                  <a:pt x="5444991" y="2600983"/>
                </a:lnTo>
                <a:cubicBezTo>
                  <a:pt x="5448378" y="2600983"/>
                  <a:pt x="5448378" y="2600983"/>
                  <a:pt x="5451763" y="2600983"/>
                </a:cubicBezTo>
                <a:cubicBezTo>
                  <a:pt x="5458111" y="2600983"/>
                  <a:pt x="5464883" y="2600983"/>
                  <a:pt x="5471232" y="2600983"/>
                </a:cubicBezTo>
                <a:cubicBezTo>
                  <a:pt x="5481389" y="2604026"/>
                  <a:pt x="5488161" y="2607272"/>
                  <a:pt x="5497895" y="2610517"/>
                </a:cubicBezTo>
                <a:cubicBezTo>
                  <a:pt x="5507630" y="2613763"/>
                  <a:pt x="5514401" y="2620051"/>
                  <a:pt x="5521172" y="2626340"/>
                </a:cubicBezTo>
                <a:cubicBezTo>
                  <a:pt x="5527521" y="2632831"/>
                  <a:pt x="5534292" y="2639120"/>
                  <a:pt x="5541064" y="2648857"/>
                </a:cubicBezTo>
                <a:cubicBezTo>
                  <a:pt x="5537679" y="2639120"/>
                  <a:pt x="5534292" y="2629585"/>
                  <a:pt x="5527521" y="2620051"/>
                </a:cubicBezTo>
                <a:cubicBezTo>
                  <a:pt x="5521172" y="2610517"/>
                  <a:pt x="5514401" y="2604026"/>
                  <a:pt x="5507630" y="2597738"/>
                </a:cubicBezTo>
                <a:cubicBezTo>
                  <a:pt x="5501281" y="2591246"/>
                  <a:pt x="5491124" y="2584958"/>
                  <a:pt x="5484775" y="2581712"/>
                </a:cubicBezTo>
                <a:cubicBezTo>
                  <a:pt x="5491124" y="2578466"/>
                  <a:pt x="5497895" y="2575424"/>
                  <a:pt x="5507630" y="2572178"/>
                </a:cubicBezTo>
                <a:cubicBezTo>
                  <a:pt x="5560956" y="2549864"/>
                  <a:pt x="5610473" y="2530593"/>
                  <a:pt x="5653219" y="2505237"/>
                </a:cubicBezTo>
                <a:cubicBezTo>
                  <a:pt x="5653219" y="2514771"/>
                  <a:pt x="5656606" y="2524305"/>
                  <a:pt x="5656606" y="2537084"/>
                </a:cubicBezTo>
                <a:cubicBezTo>
                  <a:pt x="5663377" y="2604026"/>
                  <a:pt x="5676497" y="2715798"/>
                  <a:pt x="5640099" y="2802011"/>
                </a:cubicBezTo>
                <a:cubicBezTo>
                  <a:pt x="5590582" y="2884978"/>
                  <a:pt x="5448378" y="2904046"/>
                  <a:pt x="5339185" y="2891266"/>
                </a:cubicBezTo>
                <a:lnTo>
                  <a:pt x="5332413" y="2891266"/>
                </a:lnTo>
                <a:lnTo>
                  <a:pt x="4912148" y="2460406"/>
                </a:lnTo>
                <a:cubicBezTo>
                  <a:pt x="4915534" y="2460406"/>
                  <a:pt x="4918920" y="2457363"/>
                  <a:pt x="4922306" y="2457363"/>
                </a:cubicBezTo>
                <a:cubicBezTo>
                  <a:pt x="4935426" y="2450872"/>
                  <a:pt x="4948546" y="2444583"/>
                  <a:pt x="4962089" y="2435049"/>
                </a:cubicBezTo>
                <a:cubicBezTo>
                  <a:pt x="4945160" y="2431804"/>
                  <a:pt x="4932040" y="2431804"/>
                  <a:pt x="4915534" y="2431804"/>
                </a:cubicBezTo>
                <a:cubicBezTo>
                  <a:pt x="4899028" y="2431804"/>
                  <a:pt x="4885908" y="2435049"/>
                  <a:pt x="4872365" y="2438092"/>
                </a:cubicBezTo>
                <a:cubicBezTo>
                  <a:pt x="4859245" y="2441338"/>
                  <a:pt x="4842739" y="2444583"/>
                  <a:pt x="4829619" y="2450872"/>
                </a:cubicBezTo>
                <a:cubicBezTo>
                  <a:pt x="4816499" y="2457363"/>
                  <a:pt x="4802956" y="2463652"/>
                  <a:pt x="4789836" y="2470143"/>
                </a:cubicBezTo>
                <a:cubicBezTo>
                  <a:pt x="4806342" y="2473186"/>
                  <a:pt x="4822847" y="2473186"/>
                  <a:pt x="4836391" y="2473186"/>
                </a:cubicBezTo>
                <a:cubicBezTo>
                  <a:pt x="4849511" y="2473186"/>
                  <a:pt x="4862631" y="2470143"/>
                  <a:pt x="4875751" y="2466897"/>
                </a:cubicBezTo>
                <a:lnTo>
                  <a:pt x="5315907" y="2916826"/>
                </a:lnTo>
                <a:cubicBezTo>
                  <a:pt x="5289667" y="2990258"/>
                  <a:pt x="5229992" y="3038132"/>
                  <a:pt x="5180474" y="3060446"/>
                </a:cubicBezTo>
                <a:cubicBezTo>
                  <a:pt x="5140691" y="3079514"/>
                  <a:pt x="5100908" y="3082759"/>
                  <a:pt x="5074244" y="3073225"/>
                </a:cubicBezTo>
                <a:lnTo>
                  <a:pt x="4667523" y="2712552"/>
                </a:lnTo>
                <a:cubicBezTo>
                  <a:pt x="4677257" y="2709307"/>
                  <a:pt x="4687415" y="2706264"/>
                  <a:pt x="4697149" y="2703018"/>
                </a:cubicBezTo>
                <a:cubicBezTo>
                  <a:pt x="4710269" y="2696730"/>
                  <a:pt x="4723812" y="2690239"/>
                  <a:pt x="4736932" y="2680704"/>
                </a:cubicBezTo>
                <a:cubicBezTo>
                  <a:pt x="4720426" y="2677459"/>
                  <a:pt x="4707306" y="2677459"/>
                  <a:pt x="4690800" y="2677459"/>
                </a:cubicBezTo>
                <a:cubicBezTo>
                  <a:pt x="4673871" y="2677459"/>
                  <a:pt x="4660751" y="2680704"/>
                  <a:pt x="4647631" y="2683950"/>
                </a:cubicBezTo>
                <a:cubicBezTo>
                  <a:pt x="4634511" y="2686993"/>
                  <a:pt x="4618005" y="2690239"/>
                  <a:pt x="4604462" y="2696730"/>
                </a:cubicBezTo>
                <a:cubicBezTo>
                  <a:pt x="4591342" y="2703018"/>
                  <a:pt x="4578222" y="2709307"/>
                  <a:pt x="4564679" y="2715798"/>
                </a:cubicBezTo>
                <a:cubicBezTo>
                  <a:pt x="4581608" y="2719044"/>
                  <a:pt x="4594728" y="2719044"/>
                  <a:pt x="4611234" y="2719044"/>
                </a:cubicBezTo>
                <a:cubicBezTo>
                  <a:pt x="4618005" y="2719044"/>
                  <a:pt x="4620968" y="2719044"/>
                  <a:pt x="4627740" y="2715798"/>
                </a:cubicBezTo>
                <a:lnTo>
                  <a:pt x="5048004" y="3086005"/>
                </a:lnTo>
                <a:cubicBezTo>
                  <a:pt x="5028112" y="3159438"/>
                  <a:pt x="4945160" y="3229625"/>
                  <a:pt x="4875751" y="3248693"/>
                </a:cubicBezTo>
                <a:cubicBezTo>
                  <a:pt x="4816499" y="3264719"/>
                  <a:pt x="4766558" y="3235914"/>
                  <a:pt x="4750052" y="3226379"/>
                </a:cubicBezTo>
                <a:lnTo>
                  <a:pt x="4743704" y="3223134"/>
                </a:lnTo>
                <a:lnTo>
                  <a:pt x="4405968" y="2881732"/>
                </a:lnTo>
                <a:cubicBezTo>
                  <a:pt x="4389463" y="2859418"/>
                  <a:pt x="4369571" y="2843393"/>
                  <a:pt x="4343331" y="2833859"/>
                </a:cubicBezTo>
                <a:cubicBezTo>
                  <a:pt x="4323439" y="2827570"/>
                  <a:pt x="4303547" y="2830613"/>
                  <a:pt x="4283656" y="2837104"/>
                </a:cubicBezTo>
                <a:cubicBezTo>
                  <a:pt x="4290427" y="2827570"/>
                  <a:pt x="4296776" y="2817833"/>
                  <a:pt x="4300162" y="2808299"/>
                </a:cubicBezTo>
                <a:cubicBezTo>
                  <a:pt x="4329787" y="2760426"/>
                  <a:pt x="4290427" y="2661433"/>
                  <a:pt x="4217632" y="2604026"/>
                </a:cubicBezTo>
                <a:cubicBezTo>
                  <a:pt x="4161343" y="2559398"/>
                  <a:pt x="4101667" y="2549864"/>
                  <a:pt x="4045378" y="2575424"/>
                </a:cubicBezTo>
                <a:cubicBezTo>
                  <a:pt x="4048764" y="2568932"/>
                  <a:pt x="4048764" y="2562644"/>
                  <a:pt x="4052150" y="2556153"/>
                </a:cubicBezTo>
                <a:cubicBezTo>
                  <a:pt x="4058498" y="2514771"/>
                  <a:pt x="4028872" y="2447626"/>
                  <a:pt x="3979355" y="2402999"/>
                </a:cubicBezTo>
                <a:cubicBezTo>
                  <a:pt x="3929414" y="2358371"/>
                  <a:pt x="3873548" y="2339303"/>
                  <a:pt x="3817259" y="2351880"/>
                </a:cubicBezTo>
                <a:cubicBezTo>
                  <a:pt x="3777475" y="2361616"/>
                  <a:pt x="3717800" y="2409490"/>
                  <a:pt x="3645005" y="2495500"/>
                </a:cubicBezTo>
                <a:cubicBezTo>
                  <a:pt x="3651777" y="2463652"/>
                  <a:pt x="3655162" y="2431804"/>
                  <a:pt x="3648391" y="2406244"/>
                </a:cubicBezTo>
                <a:cubicBezTo>
                  <a:pt x="3608607" y="2265870"/>
                  <a:pt x="3509572" y="2281692"/>
                  <a:pt x="3446511" y="2291429"/>
                </a:cubicBezTo>
                <a:cubicBezTo>
                  <a:pt x="3436777" y="2291429"/>
                  <a:pt x="3426620" y="2294472"/>
                  <a:pt x="3420271" y="2294472"/>
                </a:cubicBezTo>
                <a:cubicBezTo>
                  <a:pt x="3383874" y="2297717"/>
                  <a:pt x="3314041" y="2380685"/>
                  <a:pt x="3248018" y="2463652"/>
                </a:cubicBezTo>
                <a:lnTo>
                  <a:pt x="3000006" y="2291429"/>
                </a:lnTo>
                <a:lnTo>
                  <a:pt x="3410114" y="1429709"/>
                </a:lnTo>
                <a:cubicBezTo>
                  <a:pt x="3433391" y="1381835"/>
                  <a:pt x="3410114" y="1327674"/>
                  <a:pt x="3363982" y="1305157"/>
                </a:cubicBezTo>
                <a:lnTo>
                  <a:pt x="3188342" y="1225436"/>
                </a:lnTo>
                <a:lnTo>
                  <a:pt x="3231512" y="1120155"/>
                </a:lnTo>
                <a:cubicBezTo>
                  <a:pt x="3251403" y="1069036"/>
                  <a:pt x="3224740" y="1014874"/>
                  <a:pt x="3171837" y="995603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28567" tIns="28567" rIns="28567" bIns="28567" anchor="ctr" anchorCtr="0">
            <a:noAutofit/>
          </a:bodyPr>
          <a:lstStyle/>
          <a:p>
            <a:pPr>
              <a:buClr>
                <a:srgbClr val="000000"/>
              </a:buClr>
              <a:buSzPts val="1700"/>
            </a:pPr>
            <a:endParaRPr lang="en-US" sz="2267">
              <a:solidFill>
                <a:srgbClr val="D8D8D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" name="Google Shape;354;p50">
            <a:extLst>
              <a:ext uri="{FF2B5EF4-FFF2-40B4-BE49-F238E27FC236}">
                <a16:creationId xmlns:a16="http://schemas.microsoft.com/office/drawing/2014/main" id="{D69A5750-155B-9B00-755A-66F75467924C}"/>
              </a:ext>
            </a:extLst>
          </p:cNvPr>
          <p:cNvSpPr txBox="1"/>
          <p:nvPr/>
        </p:nvSpPr>
        <p:spPr>
          <a:xfrm>
            <a:off x="4677905" y="1963117"/>
            <a:ext cx="2836400" cy="3180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33" tIns="45700" rIns="91433" bIns="45700" anchor="t" anchorCtr="0">
            <a:spAutoFit/>
          </a:bodyPr>
          <a:lstStyle/>
          <a:p>
            <a:pPr algn="ctr">
              <a:buClr>
                <a:srgbClr val="000000"/>
              </a:buClr>
              <a:buSzPts val="1800"/>
            </a:pPr>
            <a:endParaRPr lang="en-US" sz="1467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94768468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1">
          <a:extLst>
            <a:ext uri="{FF2B5EF4-FFF2-40B4-BE49-F238E27FC236}">
              <a16:creationId xmlns:a16="http://schemas.microsoft.com/office/drawing/2014/main" id="{F2DA6001-EF95-B119-0BD0-6693C868E4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DE31275-BE84-CBAA-743E-34C4634BF18B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>
                <a:latin typeface="+mj-lt"/>
              </a:rPr>
              <a:t>Sources</a:t>
            </a:r>
          </a:p>
        </p:txBody>
      </p:sp>
      <p:sp>
        <p:nvSpPr>
          <p:cNvPr id="6" name="SubTitle">
            <a:extLst>
              <a:ext uri="{FF2B5EF4-FFF2-40B4-BE49-F238E27FC236}">
                <a16:creationId xmlns:a16="http://schemas.microsoft.com/office/drawing/2014/main" id="{3C72DB17-B194-25C6-D7E2-158DCF3A5B87}"/>
              </a:ext>
            </a:extLst>
          </p:cNvPr>
          <p:cNvSpPr txBox="1">
            <a:spLocks noGrp="1"/>
          </p:cNvSpPr>
          <p:nvPr/>
        </p:nvSpPr>
        <p:spPr>
          <a:xfrm>
            <a:off x="190500" y="647700"/>
            <a:ext cx="11811000" cy="330200"/>
          </a:xfrm>
          <a:prstGeom prst="rect">
            <a:avLst/>
          </a:prstGeom>
          <a:noFill/>
          <a:ln>
            <a:noFill/>
          </a:ln>
        </p:spPr>
        <p:txBody>
          <a:bodyPr wrap="square" lIns="45720" tIns="36576" rIns="45720" bIns="36576"/>
          <a:lstStyle/>
          <a:p>
            <a:pPr algn="ctr"/>
            <a:r>
              <a:rPr lang="en-US" sz="1100" b="1" dirty="0">
                <a:solidFill>
                  <a:srgbClr val="0B2B65"/>
                </a:solidFill>
              </a:rPr>
              <a:t>All data sourced from publicly available BAWAG Group AG disclosures (FY2025)</a:t>
            </a:r>
          </a:p>
        </p:txBody>
      </p:sp>
      <p:sp>
        <p:nvSpPr>
          <p:cNvPr id="7" name="FooterTxt">
            <a:extLst>
              <a:ext uri="{FF2B5EF4-FFF2-40B4-BE49-F238E27FC236}">
                <a16:creationId xmlns:a16="http://schemas.microsoft.com/office/drawing/2014/main" id="{65CCF80F-8660-B64D-0E8C-D76ACABC8B1C}"/>
              </a:ext>
            </a:extLst>
          </p:cNvPr>
          <p:cNvSpPr txBox="1">
            <a:spLocks noGrp="1"/>
          </p:cNvSpPr>
          <p:nvPr/>
        </p:nvSpPr>
        <p:spPr>
          <a:xfrm>
            <a:off x="228600" y="6477000"/>
            <a:ext cx="11430000" cy="317500"/>
          </a:xfrm>
          <a:prstGeom prst="rect">
            <a:avLst/>
          </a:prstGeom>
          <a:noFill/>
          <a:ln>
            <a:noFill/>
          </a:ln>
        </p:spPr>
        <p:txBody>
          <a:bodyPr wrap="square" lIns="45720" tIns="36576" rIns="45720" bIns="36576"/>
          <a:lstStyle/>
          <a:p>
            <a:r>
              <a:rPr lang="en-US" sz="1000" dirty="0"/>
              <a:t>BAWAG Group AG - Risk Analysis | Advanced Topics in Banking | WU Wien, Spring 2026</a:t>
            </a:r>
          </a:p>
        </p:txBody>
      </p:sp>
      <p:sp>
        <p:nvSpPr>
          <p:cNvPr id="8" name="SrcCard0">
            <a:extLst>
              <a:ext uri="{FF2B5EF4-FFF2-40B4-BE49-F238E27FC236}">
                <a16:creationId xmlns:a16="http://schemas.microsoft.com/office/drawing/2014/main" id="{1DF5A2E9-A184-0EC0-60A2-3BB285BF74C8}"/>
              </a:ext>
            </a:extLst>
          </p:cNvPr>
          <p:cNvSpPr>
            <a:spLocks noGrp="1"/>
          </p:cNvSpPr>
          <p:nvPr/>
        </p:nvSpPr>
        <p:spPr>
          <a:xfrm>
            <a:off x="177800" y="1066800"/>
            <a:ext cx="5842000" cy="2451100"/>
          </a:xfrm>
          <a:prstGeom prst="rect">
            <a:avLst/>
          </a:prstGeom>
          <a:solidFill>
            <a:srgbClr val="F0F7FF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9" name="SrcBar0">
            <a:extLst>
              <a:ext uri="{FF2B5EF4-FFF2-40B4-BE49-F238E27FC236}">
                <a16:creationId xmlns:a16="http://schemas.microsoft.com/office/drawing/2014/main" id="{242336CA-CB08-73B1-E3C1-1ED50635233B}"/>
              </a:ext>
            </a:extLst>
          </p:cNvPr>
          <p:cNvSpPr>
            <a:spLocks noGrp="1"/>
          </p:cNvSpPr>
          <p:nvPr/>
        </p:nvSpPr>
        <p:spPr>
          <a:xfrm>
            <a:off x="177800" y="1066800"/>
            <a:ext cx="50800" cy="2451100"/>
          </a:xfrm>
          <a:prstGeom prst="rect">
            <a:avLst/>
          </a:prstGeom>
          <a:solidFill>
            <a:srgbClr val="0B2B65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0" name="SrcTxt0">
            <a:extLst>
              <a:ext uri="{FF2B5EF4-FFF2-40B4-BE49-F238E27FC236}">
                <a16:creationId xmlns:a16="http://schemas.microsoft.com/office/drawing/2014/main" id="{CBE1D1FE-CEFB-7A41-377E-E715AE2925EA}"/>
              </a:ext>
            </a:extLst>
          </p:cNvPr>
          <p:cNvSpPr txBox="1">
            <a:spLocks noGrp="1"/>
          </p:cNvSpPr>
          <p:nvPr/>
        </p:nvSpPr>
        <p:spPr>
          <a:xfrm>
            <a:off x="304800" y="1143000"/>
            <a:ext cx="5638800" cy="2298700"/>
          </a:xfrm>
          <a:prstGeom prst="rect">
            <a:avLst/>
          </a:prstGeom>
          <a:noFill/>
          <a:ln>
            <a:noFill/>
          </a:ln>
        </p:spPr>
        <p:txBody>
          <a:bodyPr wrap="square" lIns="45720" tIns="36576" rIns="45720" bIns="36576"/>
          <a:lstStyle/>
          <a:p>
            <a:pPr marL="0">
              <a:spcBef>
                <a:spcPts val="0"/>
              </a:spcBef>
              <a:spcAft>
                <a:spcPts val="120"/>
              </a:spcAft>
            </a:pPr>
            <a:r>
              <a:rPr lang="en-US" sz="1100" b="1" dirty="0">
                <a:solidFill>
                  <a:srgbClr val="0B2B65"/>
                </a:solidFill>
              </a:rPr>
              <a:t>Financial Results</a:t>
            </a:r>
          </a:p>
          <a:p>
            <a:pPr marL="171450" indent="-171450">
              <a:spcBef>
                <a:spcPts val="60"/>
              </a:spcBef>
            </a:pPr>
            <a:r>
              <a:rPr lang="en-US" sz="900" dirty="0">
                <a:solidFill>
                  <a:srgbClr val="1C2833"/>
                </a:solidFill>
              </a:rPr>
              <a:t>•  BAWAG Group AG - FY2025 Full Year Results Presentation (February 2026)</a:t>
            </a:r>
          </a:p>
          <a:p>
            <a:pPr marL="171450" indent="-171450">
              <a:spcBef>
                <a:spcPts val="60"/>
              </a:spcBef>
            </a:pPr>
            <a:r>
              <a:rPr lang="en-US" sz="900" dirty="0">
                <a:solidFill>
                  <a:srgbClr val="1C2833"/>
                </a:solidFill>
              </a:rPr>
              <a:t>•  BAWAG Group AG - Consolidated Financial Statements 2025</a:t>
            </a:r>
          </a:p>
          <a:p>
            <a:pPr marL="171450" indent="-171450">
              <a:spcBef>
                <a:spcPts val="60"/>
              </a:spcBef>
            </a:pPr>
            <a:r>
              <a:rPr lang="en-US" sz="900" dirty="0">
                <a:solidFill>
                  <a:srgbClr val="1C2833"/>
                </a:solidFill>
              </a:rPr>
              <a:t>•  BAWAG Group AG - Jahresfinanzbericht 2025 (Annual Financial Report)</a:t>
            </a:r>
          </a:p>
        </p:txBody>
      </p:sp>
      <p:sp>
        <p:nvSpPr>
          <p:cNvPr id="11" name="SrcCard1">
            <a:extLst>
              <a:ext uri="{FF2B5EF4-FFF2-40B4-BE49-F238E27FC236}">
                <a16:creationId xmlns:a16="http://schemas.microsoft.com/office/drawing/2014/main" id="{BEDCAE7E-ED6C-3705-4B47-EC7DCF3CB9F5}"/>
              </a:ext>
            </a:extLst>
          </p:cNvPr>
          <p:cNvSpPr>
            <a:spLocks noGrp="1"/>
          </p:cNvSpPr>
          <p:nvPr/>
        </p:nvSpPr>
        <p:spPr>
          <a:xfrm>
            <a:off x="6172200" y="1066800"/>
            <a:ext cx="5842000" cy="2451100"/>
          </a:xfrm>
          <a:prstGeom prst="rect">
            <a:avLst/>
          </a:prstGeom>
          <a:solidFill>
            <a:srgbClr val="F0F7FF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2" name="SrcBar1">
            <a:extLst>
              <a:ext uri="{FF2B5EF4-FFF2-40B4-BE49-F238E27FC236}">
                <a16:creationId xmlns:a16="http://schemas.microsoft.com/office/drawing/2014/main" id="{BAE44C0E-A29B-8FF2-B68D-998C1F432312}"/>
              </a:ext>
            </a:extLst>
          </p:cNvPr>
          <p:cNvSpPr>
            <a:spLocks noGrp="1"/>
          </p:cNvSpPr>
          <p:nvPr/>
        </p:nvSpPr>
        <p:spPr>
          <a:xfrm>
            <a:off x="6172200" y="1066800"/>
            <a:ext cx="50800" cy="2451100"/>
          </a:xfrm>
          <a:prstGeom prst="rect">
            <a:avLst/>
          </a:prstGeom>
          <a:solidFill>
            <a:srgbClr val="1A5187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3" name="SrcTxt1">
            <a:extLst>
              <a:ext uri="{FF2B5EF4-FFF2-40B4-BE49-F238E27FC236}">
                <a16:creationId xmlns:a16="http://schemas.microsoft.com/office/drawing/2014/main" id="{4B1B8739-D30B-01DA-66F5-B001489FF181}"/>
              </a:ext>
            </a:extLst>
          </p:cNvPr>
          <p:cNvSpPr txBox="1">
            <a:spLocks noGrp="1"/>
          </p:cNvSpPr>
          <p:nvPr/>
        </p:nvSpPr>
        <p:spPr>
          <a:xfrm>
            <a:off x="6299200" y="1143000"/>
            <a:ext cx="5638800" cy="2298700"/>
          </a:xfrm>
          <a:prstGeom prst="rect">
            <a:avLst/>
          </a:prstGeom>
          <a:noFill/>
          <a:ln>
            <a:noFill/>
          </a:ln>
        </p:spPr>
        <p:txBody>
          <a:bodyPr wrap="square" lIns="45720" tIns="36576" rIns="45720" bIns="36576"/>
          <a:lstStyle/>
          <a:p>
            <a:pPr marL="0">
              <a:spcBef>
                <a:spcPts val="0"/>
              </a:spcBef>
              <a:spcAft>
                <a:spcPts val="120"/>
              </a:spcAft>
            </a:pPr>
            <a:r>
              <a:rPr lang="en-US" sz="1100" b="1" dirty="0">
                <a:solidFill>
                  <a:srgbClr val="1A5187"/>
                </a:solidFill>
              </a:rPr>
              <a:t>Regulatory &amp; Risk Disclosures</a:t>
            </a:r>
          </a:p>
          <a:p>
            <a:pPr marL="171450" indent="-171450">
              <a:spcBef>
                <a:spcPts val="60"/>
              </a:spcBef>
            </a:pPr>
            <a:r>
              <a:rPr lang="en-US" sz="900" dirty="0">
                <a:solidFill>
                  <a:srgbClr val="1C2833"/>
                </a:solidFill>
              </a:rPr>
              <a:t>•  BAWAG Group AG - Pillar 3 Quantitative Report 2025</a:t>
            </a:r>
          </a:p>
          <a:p>
            <a:pPr marL="171450" indent="-171450">
              <a:spcBef>
                <a:spcPts val="60"/>
              </a:spcBef>
            </a:pPr>
            <a:r>
              <a:rPr lang="en-US" sz="900" dirty="0">
                <a:solidFill>
                  <a:srgbClr val="1C2833"/>
                </a:solidFill>
              </a:rPr>
              <a:t>•  BAWAG Group AG - Pillar 3 Qualitative Report 2025</a:t>
            </a:r>
          </a:p>
          <a:p>
            <a:pPr marL="171450" indent="-171450">
              <a:spcBef>
                <a:spcPts val="60"/>
              </a:spcBef>
            </a:pPr>
            <a:r>
              <a:rPr lang="en-US" sz="900" dirty="0">
                <a:solidFill>
                  <a:srgbClr val="1C2833"/>
                </a:solidFill>
              </a:rPr>
              <a:t>•  BAWAG Group AG - Annual Report 2025</a:t>
            </a:r>
          </a:p>
        </p:txBody>
      </p:sp>
      <p:sp>
        <p:nvSpPr>
          <p:cNvPr id="14" name="SrcCard2">
            <a:extLst>
              <a:ext uri="{FF2B5EF4-FFF2-40B4-BE49-F238E27FC236}">
                <a16:creationId xmlns:a16="http://schemas.microsoft.com/office/drawing/2014/main" id="{1299DC46-B4C6-427D-0CF5-8CC13004D3E1}"/>
              </a:ext>
            </a:extLst>
          </p:cNvPr>
          <p:cNvSpPr>
            <a:spLocks noGrp="1"/>
          </p:cNvSpPr>
          <p:nvPr/>
        </p:nvSpPr>
        <p:spPr>
          <a:xfrm>
            <a:off x="177800" y="3695700"/>
            <a:ext cx="5842000" cy="2451100"/>
          </a:xfrm>
          <a:prstGeom prst="rect">
            <a:avLst/>
          </a:prstGeom>
          <a:solidFill>
            <a:srgbClr val="F0F7FF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5" name="SrcBar2">
            <a:extLst>
              <a:ext uri="{FF2B5EF4-FFF2-40B4-BE49-F238E27FC236}">
                <a16:creationId xmlns:a16="http://schemas.microsoft.com/office/drawing/2014/main" id="{405D829F-00C1-C8CA-0533-11892305C343}"/>
              </a:ext>
            </a:extLst>
          </p:cNvPr>
          <p:cNvSpPr>
            <a:spLocks noGrp="1"/>
          </p:cNvSpPr>
          <p:nvPr/>
        </p:nvSpPr>
        <p:spPr>
          <a:xfrm>
            <a:off x="177800" y="3695700"/>
            <a:ext cx="50800" cy="2451100"/>
          </a:xfrm>
          <a:prstGeom prst="rect">
            <a:avLst/>
          </a:prstGeom>
          <a:solidFill>
            <a:srgbClr val="255C8D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6" name="SrcTxt2">
            <a:extLst>
              <a:ext uri="{FF2B5EF4-FFF2-40B4-BE49-F238E27FC236}">
                <a16:creationId xmlns:a16="http://schemas.microsoft.com/office/drawing/2014/main" id="{49BEFEBF-6336-69ED-BF84-41EDB8405FAC}"/>
              </a:ext>
            </a:extLst>
          </p:cNvPr>
          <p:cNvSpPr txBox="1">
            <a:spLocks noGrp="1"/>
          </p:cNvSpPr>
          <p:nvPr/>
        </p:nvSpPr>
        <p:spPr>
          <a:xfrm>
            <a:off x="304800" y="3771900"/>
            <a:ext cx="5638800" cy="2298700"/>
          </a:xfrm>
          <a:prstGeom prst="rect">
            <a:avLst/>
          </a:prstGeom>
          <a:noFill/>
          <a:ln>
            <a:noFill/>
          </a:ln>
        </p:spPr>
        <p:txBody>
          <a:bodyPr wrap="square" lIns="45720" tIns="36576" rIns="45720" bIns="36576"/>
          <a:lstStyle/>
          <a:p>
            <a:pPr marL="0">
              <a:spcBef>
                <a:spcPts val="0"/>
              </a:spcBef>
              <a:spcAft>
                <a:spcPts val="120"/>
              </a:spcAft>
            </a:pPr>
            <a:r>
              <a:rPr lang="en-US" sz="1100" b="1" dirty="0">
                <a:solidFill>
                  <a:srgbClr val="255C8D"/>
                </a:solidFill>
              </a:rPr>
              <a:t>Regulatory Framework</a:t>
            </a:r>
          </a:p>
          <a:p>
            <a:pPr marL="171450" indent="-171450">
              <a:spcBef>
                <a:spcPts val="60"/>
              </a:spcBef>
            </a:pPr>
            <a:r>
              <a:rPr lang="en-US" sz="900" dirty="0">
                <a:solidFill>
                  <a:srgbClr val="1C2833"/>
                </a:solidFill>
              </a:rPr>
              <a:t>•  EBA - CRR3/CRD6 Implementation Guidelines (2025)</a:t>
            </a:r>
          </a:p>
          <a:p>
            <a:pPr marL="171450" indent="-171450">
              <a:spcBef>
                <a:spcPts val="60"/>
              </a:spcBef>
            </a:pPr>
            <a:r>
              <a:rPr lang="en-US" sz="900" dirty="0">
                <a:solidFill>
                  <a:srgbClr val="1C2833"/>
                </a:solidFill>
              </a:rPr>
              <a:t>•  ECB - SREP Methodology &amp; Supervisory Assessment Framework</a:t>
            </a:r>
          </a:p>
          <a:p>
            <a:pPr marL="171450" indent="-171450">
              <a:spcBef>
                <a:spcPts val="60"/>
              </a:spcBef>
            </a:pPr>
            <a:r>
              <a:rPr lang="en-US" sz="900" dirty="0">
                <a:solidFill>
                  <a:srgbClr val="1C2833"/>
                </a:solidFill>
              </a:rPr>
              <a:t>•  Basel III / Basel IV - Final Framework (BIS, 2017/2023)</a:t>
            </a:r>
          </a:p>
        </p:txBody>
      </p:sp>
      <p:sp>
        <p:nvSpPr>
          <p:cNvPr id="17" name="SrcCard3">
            <a:extLst>
              <a:ext uri="{FF2B5EF4-FFF2-40B4-BE49-F238E27FC236}">
                <a16:creationId xmlns:a16="http://schemas.microsoft.com/office/drawing/2014/main" id="{7C87E32E-22D7-A81C-8DDA-3BE09CFAF6F2}"/>
              </a:ext>
            </a:extLst>
          </p:cNvPr>
          <p:cNvSpPr>
            <a:spLocks noGrp="1"/>
          </p:cNvSpPr>
          <p:nvPr/>
        </p:nvSpPr>
        <p:spPr>
          <a:xfrm>
            <a:off x="6172200" y="3695700"/>
            <a:ext cx="5842000" cy="2451100"/>
          </a:xfrm>
          <a:prstGeom prst="rect">
            <a:avLst/>
          </a:prstGeom>
          <a:solidFill>
            <a:srgbClr val="F0F7FF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8" name="SrcBar3">
            <a:extLst>
              <a:ext uri="{FF2B5EF4-FFF2-40B4-BE49-F238E27FC236}">
                <a16:creationId xmlns:a16="http://schemas.microsoft.com/office/drawing/2014/main" id="{F907506D-F6D0-0F47-4976-542102125BE6}"/>
              </a:ext>
            </a:extLst>
          </p:cNvPr>
          <p:cNvSpPr>
            <a:spLocks noGrp="1"/>
          </p:cNvSpPr>
          <p:nvPr/>
        </p:nvSpPr>
        <p:spPr>
          <a:xfrm>
            <a:off x="6172200" y="3695700"/>
            <a:ext cx="50800" cy="2451100"/>
          </a:xfrm>
          <a:prstGeom prst="rect">
            <a:avLst/>
          </a:prstGeom>
          <a:solidFill>
            <a:srgbClr val="0B2B65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9" name="SrcTxt3">
            <a:extLst>
              <a:ext uri="{FF2B5EF4-FFF2-40B4-BE49-F238E27FC236}">
                <a16:creationId xmlns:a16="http://schemas.microsoft.com/office/drawing/2014/main" id="{0D5E682B-3870-2531-5A23-5F62B70D1C0F}"/>
              </a:ext>
            </a:extLst>
          </p:cNvPr>
          <p:cNvSpPr txBox="1">
            <a:spLocks noGrp="1"/>
          </p:cNvSpPr>
          <p:nvPr/>
        </p:nvSpPr>
        <p:spPr>
          <a:xfrm>
            <a:off x="6299200" y="3771900"/>
            <a:ext cx="5638800" cy="2298700"/>
          </a:xfrm>
          <a:prstGeom prst="rect">
            <a:avLst/>
          </a:prstGeom>
          <a:noFill/>
          <a:ln>
            <a:noFill/>
          </a:ln>
        </p:spPr>
        <p:txBody>
          <a:bodyPr wrap="square" lIns="45720" tIns="36576" rIns="45720" bIns="36576"/>
          <a:lstStyle/>
          <a:p>
            <a:pPr marL="0">
              <a:spcBef>
                <a:spcPts val="0"/>
              </a:spcBef>
              <a:spcAft>
                <a:spcPts val="120"/>
              </a:spcAft>
            </a:pPr>
            <a:r>
              <a:rPr lang="en-US" sz="1100" b="1" dirty="0">
                <a:solidFill>
                  <a:srgbClr val="0B2B65"/>
                </a:solidFill>
              </a:rPr>
              <a:t>Academic &amp; Industry Context</a:t>
            </a:r>
          </a:p>
          <a:p>
            <a:pPr marL="171450" indent="-171450">
              <a:spcBef>
                <a:spcPts val="60"/>
              </a:spcBef>
            </a:pPr>
            <a:r>
              <a:rPr lang="en-US" sz="900" dirty="0">
                <a:solidFill>
                  <a:srgbClr val="1C2833"/>
                </a:solidFill>
              </a:rPr>
              <a:t>•  Task Brief - Advanced Topics in Banking, WU Wien, Spring 2026</a:t>
            </a:r>
          </a:p>
          <a:p>
            <a:pPr marL="171450" indent="-171450">
              <a:spcBef>
                <a:spcPts val="60"/>
              </a:spcBef>
            </a:pPr>
            <a:r>
              <a:rPr lang="en-US" sz="900" dirty="0">
                <a:solidFill>
                  <a:srgbClr val="1C2833"/>
                </a:solidFill>
              </a:rPr>
              <a:t>•  EBA Risk Dashboard Q4 2025 - European Banking Sector Benchmarks</a:t>
            </a:r>
          </a:p>
          <a:p>
            <a:pPr marL="171450" indent="-171450">
              <a:spcBef>
                <a:spcPts val="60"/>
              </a:spcBef>
            </a:pPr>
            <a:r>
              <a:rPr lang="en-US" sz="900" dirty="0">
                <a:solidFill>
                  <a:srgbClr val="1C2833"/>
                </a:solidFill>
              </a:rPr>
              <a:t>•  </a:t>
            </a:r>
            <a:r>
              <a:rPr lang="en-US" sz="900" dirty="0" err="1">
                <a:solidFill>
                  <a:srgbClr val="1C2833"/>
                </a:solidFill>
              </a:rPr>
              <a:t>OeNB</a:t>
            </a:r>
            <a:r>
              <a:rPr lang="en-US" sz="900" dirty="0">
                <a:solidFill>
                  <a:srgbClr val="1C2833"/>
                </a:solidFill>
              </a:rPr>
              <a:t> - Financial Stability Report 2025 (Austrian banking context)</a:t>
            </a:r>
          </a:p>
        </p:txBody>
      </p:sp>
    </p:spTree>
    <p:extLst>
      <p:ext uri="{BB962C8B-B14F-4D97-AF65-F5344CB8AC3E}">
        <p14:creationId xmlns:p14="http://schemas.microsoft.com/office/powerpoint/2010/main" val="4022981150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heme/theme1.xml><?xml version="1.0" encoding="utf-8"?>
<a:theme xmlns:a="http://schemas.openxmlformats.org/drawingml/2006/main" name="Office-téma">
  <a:themeElements>
    <a:clrScheme name="Custom 2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0B2B65"/>
      </a:accent1>
      <a:accent2>
        <a:srgbClr val="9BA7C0"/>
      </a:accent2>
      <a:accent3>
        <a:srgbClr val="D0A616"/>
      </a:accent3>
      <a:accent4>
        <a:srgbClr val="D9D9D9"/>
      </a:accent4>
      <a:accent5>
        <a:srgbClr val="FFFFFF"/>
      </a:accent5>
      <a:accent6>
        <a:srgbClr val="000000"/>
      </a:accent6>
      <a:hlink>
        <a:srgbClr val="0563C1"/>
      </a:hlink>
      <a:folHlink>
        <a:srgbClr val="954F72"/>
      </a:folHlink>
    </a:clrScheme>
    <a:fontScheme name="2. egyéni séma">
      <a:majorFont>
        <a:latin typeface="Century Gothic"/>
        <a:ea typeface=""/>
        <a:cs typeface=""/>
      </a:majorFont>
      <a:minorFont>
        <a:latin typeface="Century Gothic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845F9414-309E-E742-8DCB-08FE7ED32954}">
  <we:reference id="wa200010001" version="1.0.0.1" store="en-US" storeType="OMEX"/>
  <we:alternateReferences>
    <we:reference id="wa200010001" version="1.0.0.1" store="en-US" storeType="OMEX"/>
  </we:alternateReferences>
  <we:properties>
    <we:property name="claude.fileId" value="&quot;815e374a-dee2-4e03-a283-43aeab815517&quot;"/>
  </we:properties>
  <we:bindings/>
  <we:snapshot xmlns:r="http://schemas.openxmlformats.org/officeDocument/2006/relationships"/>
</we:webextension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2358C335827D2F41BD64C90DA3175388" ma:contentTypeVersion="3" ma:contentTypeDescription="Create a new document." ma:contentTypeScope="" ma:versionID="5b9441728789ce5bcb200b0e2f58bd69">
  <xsd:schema xmlns:xsd="http://www.w3.org/2001/XMLSchema" xmlns:xs="http://www.w3.org/2001/XMLSchema" xmlns:p="http://schemas.microsoft.com/office/2006/metadata/properties" xmlns:ns2="75889733-9d59-4e67-9698-4b42cbf465b7" targetNamespace="http://schemas.microsoft.com/office/2006/metadata/properties" ma:root="true" ma:fieldsID="7768e1076991e2a84f49eb83f987ab53" ns2:_="">
    <xsd:import namespace="75889733-9d59-4e67-9698-4b42cbf465b7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5889733-9d59-4e67-9698-4b42cbf465b7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7FEA0AE5-F3BB-4154-92B1-5F70B3E6C28A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0412E953-6F6D-499C-9B19-5C01CCEE4166}">
  <ds:schemaRefs>
    <ds:schemaRef ds:uri="http://schemas.microsoft.com/office/2006/metadata/properties"/>
    <ds:schemaRef ds:uri="http://schemas.microsoft.com/office/2006/documentManagement/types"/>
    <ds:schemaRef ds:uri="http://purl.org/dc/terms/"/>
    <ds:schemaRef ds:uri="http://schemas.openxmlformats.org/package/2006/metadata/core-properties"/>
    <ds:schemaRef ds:uri="http://purl.org/dc/dcmitype/"/>
    <ds:schemaRef ds:uri="75889733-9d59-4e67-9698-4b42cbf465b7"/>
    <ds:schemaRef ds:uri="http://www.w3.org/XML/1998/namespace"/>
    <ds:schemaRef ds:uri="http://schemas.microsoft.com/office/infopath/2007/PartnerControls"/>
    <ds:schemaRef ds:uri="http://purl.org/dc/elements/1.1/"/>
  </ds:schemaRefs>
</ds:datastoreItem>
</file>

<file path=customXml/itemProps3.xml><?xml version="1.0" encoding="utf-8"?>
<ds:datastoreItem xmlns:ds="http://schemas.openxmlformats.org/officeDocument/2006/customXml" ds:itemID="{B5A2D7B7-CD70-4F3C-AC57-4075D1EF8AC8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75889733-9d59-4e67-9698-4b42cbf465b7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Metadata/LabelInfo.xml><?xml version="1.0" encoding="utf-8"?>
<clbl:labelList xmlns:clbl="http://schemas.microsoft.com/office/2020/mipLabelMetadata">
  <clbl:label id="{0504f721-d451-402b-b884-381428559e39}" enabled="0" method="" siteId="{0504f721-d451-402b-b884-381428559e39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875</TotalTime>
  <Words>6061</Words>
  <Application>Microsoft Macintosh PowerPoint</Application>
  <PresentationFormat>Widescreen</PresentationFormat>
  <Paragraphs>628</Paragraphs>
  <Slides>28</Slides>
  <Notes>19</Notes>
  <HiddenSlides>0</HiddenSlides>
  <MMClips>0</MMClips>
  <ScaleCrop>false</ScaleCrop>
  <HeadingPairs>
    <vt:vector size="8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28</vt:i4>
      </vt:variant>
    </vt:vector>
  </HeadingPairs>
  <TitlesOfParts>
    <vt:vector size="33" baseType="lpstr">
      <vt:lpstr>Arial</vt:lpstr>
      <vt:lpstr>Calibri</vt:lpstr>
      <vt:lpstr>Nexa Black</vt:lpstr>
      <vt:lpstr>Office-téma</vt:lpstr>
      <vt:lpstr>think-cell Slide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PowerPoint-bemutató</dc:title>
  <dc:creator>windows</dc:creator>
  <cp:lastModifiedBy>Tallos, Farkas Pal</cp:lastModifiedBy>
  <cp:revision>3</cp:revision>
  <dcterms:created xsi:type="dcterms:W3CDTF">2022-03-14T08:11:17Z</dcterms:created>
  <dcterms:modified xsi:type="dcterms:W3CDTF">2026-04-22T14:35:48Z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0x0101002358C335827D2F41BD64C90DA3175388</vt:lpwstr>
  </property>
  <property fmtid="{D5CDD505-2E9C-101B-9397-08002B2CF9AE}" pid="3" name="MediaServiceImageTags">
    <vt:lpwstr/>
  </property>
</Properties>
</file>